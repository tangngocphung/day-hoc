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vi-VN"/>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Trang bìa">
    <p:bg>
      <p:bgPr>
        <a:solidFill>
          <a:srgbClr val="0E3B2E"/>
        </a:solidFill>
        <a:effectLst/>
      </p:bgPr>
    </p:bg>
    <p:spTree>
      <p:nvGrpSpPr>
        <p:cNvPr id="1" name=""/>
        <p:cNvGrpSpPr/>
        <p:nvPr/>
      </p:nvGrpSpPr>
      <p:grpSpPr>
        <a:xfrm>
          <a:off x="0" y="0"/>
          <a:ext cx="0" cy="0"/>
          <a:chOff x="0" y="0"/>
          <a:chExt cx="0" cy="0"/>
        </a:xfrm>
      </p:grpSpPr>
      <p:sp>
        <p:nvSpPr>
          <p:cNvPr id="2" name="Shape 2"/>
          <p:cNvSpPr/>
          <p:nvPr/>
        </p:nvSpPr>
        <p:spPr>
          <a:xfrm>
            <a:off x="0" y="2286000"/>
            <a:ext cx="12192000" cy="45720"/>
          </a:xfrm>
          <a:prstGeom prst="rect">
            <a:avLst/>
          </a:prstGeom>
          <a:solidFill>
            <a:srgbClr val="D9A441"/>
          </a:solidFill>
          <a:ln/>
        </p:spPr>
        <p:txBody>
          <a:bodyPr/>
          <a:lstStyle/>
          <a:p>
            <a:pPr>
              <a:buNone/>
            </a:pPr>
            <a:endParaRPr lang="vi-VN"/>
          </a:p>
        </p:txBody>
      </p:sp>
      <p:sp>
        <p:nvSpPr>
          <p:cNvPr id="3" name="Text 3"/>
          <p:cNvSpPr/>
          <p:nvPr/>
        </p:nvSpPr>
        <p:spPr>
          <a:xfrm>
            <a:off x="838200" y="1219200"/>
            <a:ext cx="10515600" cy="400000"/>
          </a:xfrm>
          <a:prstGeom prst="rect">
            <a:avLst/>
          </a:prstGeom>
          <a:noFill/>
          <a:ln/>
        </p:spPr>
        <p:txBody>
          <a:bodyPr wrap="square" rtlCol="0" anchor="t">
            <a:normAutofit/>
          </a:bodyPr>
          <a:lstStyle/>
          <a:p>
            <a:pPr algn="ctr" marL="0" indent="0">
              <a:buNone/>
            </a:pPr>
            <a:r>
              <a:rPr lang="vi-VN" sz="1200" b="1" dirty="0">
                <a:solidFill>
                  <a:srgbClr val="D9A441"/>
                </a:solidFill>
                <a:latin typeface="Calibri" pitchFamily="34" charset="0"/>
                <a:ea typeface="Calibri" pitchFamily="34" charset="-122"/>
                <a:cs typeface="Calibri" pitchFamily="34" charset="-120"/>
              </a:rPr>
              <a:t>GIÁO DỤC ĐỊA PHƯƠNG TP. HỒ CHÍ MINH — LỚP 11</a:t>
            </a:r>
          </a:p>
        </p:txBody>
      </p:sp>
      <p:sp>
        <p:nvSpPr>
          <p:cNvPr id="4" name="Text 4"/>
          <p:cNvSpPr/>
          <p:nvPr/>
        </p:nvSpPr>
        <p:spPr>
          <a:xfrm>
            <a:off x="838200" y="1676400"/>
            <a:ext cx="10515600" cy="1200000"/>
          </a:xfrm>
          <a:prstGeom prst="rect">
            <a:avLst/>
          </a:prstGeom>
          <a:noFill/>
          <a:ln/>
        </p:spPr>
        <p:txBody>
          <a:bodyPr wrap="square" rtlCol="0" anchor="t">
            <a:normAutofit/>
          </a:bodyPr>
          <a:lstStyle/>
          <a:p>
            <a:pPr algn="ctr" marL="0" indent="0">
              <a:buNone/>
            </a:pPr>
            <a:r>
              <a:rPr lang="vi-VN" sz="3200" b="1" dirty="0">
                <a:solidFill>
                  <a:srgbClr val="FFFFFF"/>
                </a:solidFill>
                <a:latin typeface="Cambria" pitchFamily="34" charset="0"/>
                <a:ea typeface="Cambria" pitchFamily="34" charset="-122"/>
                <a:cs typeface="Cambria" pitchFamily="34" charset="-120"/>
              </a:rPr>
              <a:t>CHỦ ĐỀ 1: PHÁT TRIỂN DU LỊCH Ở THÀNH PHỐ HỒ CHÍ MINH</a:t>
            </a:r>
          </a:p>
        </p:txBody>
      </p:sp>
      <p:sp>
        <p:nvSpPr>
          <p:cNvPr id="5" name="Text 5"/>
          <p:cNvSpPr/>
          <p:nvPr/>
        </p:nvSpPr>
        <p:spPr>
          <a:xfrm>
            <a:off x="838200" y="2971800"/>
            <a:ext cx="10515600" cy="700000"/>
          </a:xfrm>
          <a:prstGeom prst="rect">
            <a:avLst/>
          </a:prstGeom>
          <a:noFill/>
          <a:ln/>
        </p:spPr>
        <p:txBody>
          <a:bodyPr wrap="square" rtlCol="0" anchor="t">
            <a:normAutofit/>
          </a:bodyPr>
          <a:lstStyle/>
          <a:p>
            <a:pPr algn="ctr" marL="0" indent="0">
              <a:buNone/>
            </a:pPr>
            <a:r>
              <a:rPr lang="vi-VN" sz="1600" i="1" dirty="0">
                <a:solidFill>
                  <a:srgbClr val="F4EFE3"/>
                </a:solidFill>
                <a:latin typeface="Calibri" pitchFamily="34" charset="0"/>
                <a:ea typeface="Calibri" pitchFamily="34" charset="-122"/>
                <a:cs typeface="Calibri" pitchFamily="34" charset="-120"/>
              </a:rPr>
              <a:t>Nội dung 4: Định hướng phát triển du lịch ở Thành phố Hồ Chí Minh</a:t>
            </a:r>
          </a:p>
        </p:txBody>
      </p:sp>
      <p:sp>
        <p:nvSpPr>
          <p:cNvPr id="6" name="Text 6"/>
          <p:cNvSpPr/>
          <p:nvPr/>
        </p:nvSpPr>
        <p:spPr>
          <a:xfrm>
            <a:off x="838200" y="4038600"/>
            <a:ext cx="10515600" cy="400000"/>
          </a:xfrm>
          <a:prstGeom prst="rect">
            <a:avLst/>
          </a:prstGeom>
          <a:noFill/>
          <a:ln/>
        </p:spPr>
        <p:txBody>
          <a:bodyPr wrap="square" rtlCol="0" anchor="t">
            <a:normAutofit/>
          </a:bodyPr>
          <a:lstStyle/>
          <a:p>
            <a:pPr algn="ctr" marL="0" indent="0">
              <a:buNone/>
            </a:pPr>
            <a:r>
              <a:rPr lang="vi-VN" sz="1300" dirty="0">
                <a:solidFill>
                  <a:srgbClr val="D9A441"/>
                </a:solidFill>
                <a:latin typeface="Calibri" pitchFamily="34" charset="0"/>
                <a:ea typeface="Calibri" pitchFamily="34" charset="-122"/>
                <a:cs typeface="Calibri" pitchFamily="34" charset="-120"/>
              </a:rPr>
              <a:t>TIẾT 4 • TUẦN 4 (28/09 – 04/10)</a:t>
            </a:r>
          </a:p>
        </p:txBody>
      </p:sp>
      <p:sp>
        <p:nvSpPr>
          <p:cNvPr id="7" name="Text 7"/>
          <p:cNvSpPr/>
          <p:nvPr/>
        </p:nvSpPr>
        <p:spPr>
          <a:xfrm>
            <a:off x="838200" y="5638800"/>
            <a:ext cx="10515600" cy="400000"/>
          </a:xfrm>
          <a:prstGeom prst="rect">
            <a:avLst/>
          </a:prstGeom>
          <a:noFill/>
          <a:ln/>
        </p:spPr>
        <p:txBody>
          <a:bodyPr wrap="square" rtlCol="0" anchor="t">
            <a:normAutofit/>
          </a:bodyPr>
          <a:lstStyle/>
          <a:p>
            <a:pPr algn="ctr" marL="0" indent="0">
              <a:buNone/>
            </a:pPr>
            <a:r>
              <a:rPr lang="vi-VN" sz="1100" dirty="0">
                <a:solidFill>
                  <a:srgbClr val="F4EFE3"/>
                </a:solidFill>
                <a:latin typeface="Calibri" pitchFamily="34" charset="0"/>
                <a:ea typeface="Calibri" pitchFamily="34" charset="-122"/>
                <a:cs typeface="Calibri" pitchFamily="34" charset="-120"/>
              </a:rPr>
              <a:t>GV: TĂNG NGỌC PHỤNG · THPT NGUYỄN KHUYẾN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Mục tiêu bài học">
    <p:bg>
      <p:bgPr>
        <a:solidFill>
          <a:srgbClr val="FAF8F2"/>
        </a:solidFill>
        <a:effectLst/>
      </p:bgPr>
    </p:bg>
    <p:spTree>
      <p:nvGrpSpPr>
        <p:cNvPr id="1" name=""/>
        <p:cNvGrpSpPr/>
        <p:nvPr/>
      </p:nvGrpSpPr>
      <p:grpSpPr>
        <a:xfrm>
          <a:off x="0" y="0"/>
          <a:ext cx="0" cy="0"/>
          <a:chOff x="0" y="0"/>
          <a:chExt cx="0" cy="0"/>
        </a:xfrm>
      </p:grpSpPr>
      <p:sp>
        <p:nvSpPr>
          <p:cNvPr id="2" name="Shape 2"/>
          <p:cNvSpPr/>
          <p:nvPr/>
        </p:nvSpPr>
        <p:spPr>
          <a:xfrm>
            <a:off x="838200" y="685800"/>
            <a:ext cx="2286000" cy="68580"/>
          </a:xfrm>
          <a:prstGeom prst="rect">
            <a:avLst/>
          </a:prstGeom>
          <a:solidFill>
            <a:srgbClr val="D9A441"/>
          </a:solidFill>
          <a:ln/>
        </p:spPr>
        <p:txBody>
          <a:bodyPr/>
          <a:lstStyle/>
          <a:p>
            <a:pPr>
              <a:buNone/>
            </a:pPr>
            <a:endParaRPr lang="vi-VN"/>
          </a:p>
        </p:txBody>
      </p:sp>
      <p:sp>
        <p:nvSpPr>
          <p:cNvPr id="3" name="Text 3"/>
          <p:cNvSpPr/>
          <p:nvPr/>
        </p:nvSpPr>
        <p:spPr>
          <a:xfrm>
            <a:off x="838200" y="838200"/>
            <a:ext cx="10515600" cy="600000"/>
          </a:xfrm>
          <a:prstGeom prst="rect">
            <a:avLst/>
          </a:prstGeom>
          <a:noFill/>
          <a:ln/>
        </p:spPr>
        <p:txBody>
          <a:bodyPr wrap="square" rtlCol="0" anchor="t">
            <a:normAutofit/>
          </a:bodyPr>
          <a:lstStyle/>
          <a:p>
            <a:pPr algn="l" marL="0" indent="0">
              <a:buNone/>
            </a:pPr>
            <a:r>
              <a:rPr lang="vi-VN" sz="2600" b="1" dirty="0">
                <a:solidFill>
                  <a:srgbClr val="0E3B2E"/>
                </a:solidFill>
                <a:latin typeface="Cambria" pitchFamily="34" charset="0"/>
                <a:ea typeface="Cambria" pitchFamily="34" charset="-122"/>
                <a:cs typeface="Cambria" pitchFamily="34" charset="-120"/>
              </a:rPr>
              <a:t>MỤC TIÊU BÀI HỌC</a:t>
            </a:r>
          </a:p>
        </p:txBody>
      </p:sp>
      <p:sp>
        <p:nvSpPr>
          <p:cNvPr id="4" name="Shape 4"/>
          <p:cNvSpPr/>
          <p:nvPr/>
        </p:nvSpPr>
        <p:spPr>
          <a:xfrm>
            <a:off x="838200" y="1752600"/>
            <a:ext cx="3352800" cy="2400000"/>
          </a:xfrm>
          <a:prstGeom prst="roundRect">
            <a:avLst>
              <a:gd name="adj" fmla="val 6000"/>
            </a:avLst>
          </a:prstGeom>
          <a:solidFill>
            <a:srgbClr val="FFFFFF"/>
          </a:solidFill>
          <a:ln/>
        </p:spPr>
        <p:txBody>
          <a:bodyPr/>
          <a:lstStyle/>
          <a:p>
            <a:pPr>
              <a:buNone/>
            </a:pPr>
            <a:endParaRPr lang="vi-VN"/>
          </a:p>
        </p:txBody>
      </p:sp>
      <p:sp>
        <p:nvSpPr>
          <p:cNvPr id="5" name="Shape 5"/>
          <p:cNvSpPr/>
          <p:nvPr/>
        </p:nvSpPr>
        <p:spPr>
          <a:xfrm>
            <a:off x="838200" y="1752600"/>
            <a:ext cx="3352800" cy="68580"/>
          </a:xfrm>
          <a:prstGeom prst="rect">
            <a:avLst/>
          </a:prstGeom>
          <a:solidFill>
            <a:srgbClr val="1B5E4A"/>
          </a:solidFill>
          <a:ln/>
        </p:spPr>
        <p:txBody>
          <a:bodyPr/>
          <a:lstStyle/>
          <a:p>
            <a:pPr>
              <a:buNone/>
            </a:pPr>
            <a:endParaRPr lang="vi-VN"/>
          </a:p>
        </p:txBody>
      </p:sp>
      <p:sp>
        <p:nvSpPr>
          <p:cNvPr id="6" name="Text 6"/>
          <p:cNvSpPr/>
          <p:nvPr/>
        </p:nvSpPr>
        <p:spPr>
          <a:xfrm>
            <a:off x="1021080" y="1981200"/>
            <a:ext cx="2987040" cy="400000"/>
          </a:xfrm>
          <a:prstGeom prst="rect">
            <a:avLst/>
          </a:prstGeom>
          <a:noFill/>
          <a:ln/>
        </p:spPr>
        <p:txBody>
          <a:bodyPr wrap="square" rtlCol="0" anchor="t">
            <a:normAutofit/>
          </a:bodyPr>
          <a:lstStyle/>
          <a:p>
            <a:pPr algn="l" marL="0" indent="0">
              <a:buNone/>
            </a:pPr>
            <a:r>
              <a:rPr lang="vi-VN" sz="1500" b="1" dirty="0">
                <a:solidFill>
                  <a:srgbClr val="1B5E4A"/>
                </a:solidFill>
                <a:latin typeface="Cambria" pitchFamily="34" charset="0"/>
                <a:ea typeface="Cambria" pitchFamily="34" charset="-122"/>
                <a:cs typeface="Cambria" pitchFamily="34" charset="-120"/>
              </a:rPr>
              <a:t>Nhận biết</a:t>
            </a:r>
          </a:p>
        </p:txBody>
      </p:sp>
      <p:sp>
        <p:nvSpPr>
          <p:cNvPr id="7" name="Text 7"/>
          <p:cNvSpPr/>
          <p:nvPr/>
        </p:nvSpPr>
        <p:spPr>
          <a:xfrm>
            <a:off x="1021080" y="2438400"/>
            <a:ext cx="2987040" cy="1600000"/>
          </a:xfrm>
          <a:prstGeom prst="rect">
            <a:avLst/>
          </a:prstGeom>
          <a:noFill/>
          <a:ln/>
        </p:spPr>
        <p:txBody>
          <a:bodyPr wrap="square" rtlCol="0" anchor="t">
            <a:normAutofit/>
          </a:bodyPr>
          <a:lstStyle/>
          <a:p>
            <a:pPr algn="l" marL="0" indent="0">
              <a:buNone/>
            </a:pPr>
            <a:r>
              <a:rPr lang="vi-VN" sz="1250" dirty="0">
                <a:solidFill>
                  <a:srgbClr val="5B6B62"/>
                </a:solidFill>
                <a:latin typeface="Calibri" pitchFamily="34" charset="0"/>
                <a:ea typeface="Calibri" pitchFamily="34" charset="-122"/>
                <a:cs typeface="Calibri" pitchFamily="34" charset="-120"/>
              </a:rPr>
              <a:t>Nêu được bản đồ du lịch mới của TP.HCM sau khi hợp nhất với Bình Dương và Bà Rịa – Vũng Tàu từ 01/7/2025.</a:t>
            </a:r>
          </a:p>
        </p:txBody>
      </p:sp>
      <p:sp>
        <p:nvSpPr>
          <p:cNvPr id="8" name="Shape 8"/>
          <p:cNvSpPr/>
          <p:nvPr/>
        </p:nvSpPr>
        <p:spPr>
          <a:xfrm>
            <a:off x="4419600" y="1752600"/>
            <a:ext cx="3352800" cy="2400000"/>
          </a:xfrm>
          <a:prstGeom prst="roundRect">
            <a:avLst>
              <a:gd name="adj" fmla="val 6000"/>
            </a:avLst>
          </a:prstGeom>
          <a:solidFill>
            <a:srgbClr val="FFFFFF"/>
          </a:solidFill>
          <a:ln/>
        </p:spPr>
        <p:txBody>
          <a:bodyPr/>
          <a:lstStyle/>
          <a:p>
            <a:pPr>
              <a:buNone/>
            </a:pPr>
            <a:endParaRPr lang="vi-VN"/>
          </a:p>
        </p:txBody>
      </p:sp>
      <p:sp>
        <p:nvSpPr>
          <p:cNvPr id="9" name="Shape 9"/>
          <p:cNvSpPr/>
          <p:nvPr/>
        </p:nvSpPr>
        <p:spPr>
          <a:xfrm>
            <a:off x="4419600" y="1752600"/>
            <a:ext cx="3352800" cy="68580"/>
          </a:xfrm>
          <a:prstGeom prst="rect">
            <a:avLst/>
          </a:prstGeom>
          <a:solidFill>
            <a:srgbClr val="1B5E4A"/>
          </a:solidFill>
          <a:ln/>
        </p:spPr>
        <p:txBody>
          <a:bodyPr/>
          <a:lstStyle/>
          <a:p>
            <a:pPr>
              <a:buNone/>
            </a:pPr>
            <a:endParaRPr lang="vi-VN"/>
          </a:p>
        </p:txBody>
      </p:sp>
      <p:sp>
        <p:nvSpPr>
          <p:cNvPr id="10" name="Text 10"/>
          <p:cNvSpPr/>
          <p:nvPr/>
        </p:nvSpPr>
        <p:spPr>
          <a:xfrm>
            <a:off x="4602480" y="1981200"/>
            <a:ext cx="2987040" cy="400000"/>
          </a:xfrm>
          <a:prstGeom prst="rect">
            <a:avLst/>
          </a:prstGeom>
          <a:noFill/>
          <a:ln/>
        </p:spPr>
        <p:txBody>
          <a:bodyPr wrap="square" rtlCol="0" anchor="t">
            <a:normAutofit/>
          </a:bodyPr>
          <a:lstStyle/>
          <a:p>
            <a:pPr algn="l" marL="0" indent="0">
              <a:buNone/>
            </a:pPr>
            <a:r>
              <a:rPr lang="vi-VN" sz="1500" b="1" dirty="0">
                <a:solidFill>
                  <a:srgbClr val="1B5E4A"/>
                </a:solidFill>
                <a:latin typeface="Cambria" pitchFamily="34" charset="0"/>
                <a:ea typeface="Cambria" pitchFamily="34" charset="-122"/>
                <a:cs typeface="Cambria" pitchFamily="34" charset="-120"/>
              </a:rPr>
              <a:t>Trình bày</a:t>
            </a:r>
          </a:p>
        </p:txBody>
      </p:sp>
      <p:sp>
        <p:nvSpPr>
          <p:cNvPr id="11" name="Text 11"/>
          <p:cNvSpPr/>
          <p:nvPr/>
        </p:nvSpPr>
        <p:spPr>
          <a:xfrm>
            <a:off x="4602480" y="2438400"/>
            <a:ext cx="2987040" cy="1600000"/>
          </a:xfrm>
          <a:prstGeom prst="rect">
            <a:avLst/>
          </a:prstGeom>
          <a:noFill/>
          <a:ln/>
        </p:spPr>
        <p:txBody>
          <a:bodyPr wrap="square" rtlCol="0" anchor="t">
            <a:normAutofit/>
          </a:bodyPr>
          <a:lstStyle/>
          <a:p>
            <a:pPr algn="l" marL="0" indent="0">
              <a:buNone/>
            </a:pPr>
            <a:r>
              <a:rPr lang="vi-VN" sz="1250" dirty="0">
                <a:solidFill>
                  <a:srgbClr val="5B6B62"/>
                </a:solidFill>
                <a:latin typeface="Calibri" pitchFamily="34" charset="0"/>
                <a:ea typeface="Calibri" pitchFamily="34" charset="-122"/>
                <a:cs typeface="Calibri" pitchFamily="34" charset="-120"/>
              </a:rPr>
              <a:t>Trình bày được các định hướng: đa dạng hoá sản phẩm, xanh hoá, du lịch thông minh và liên kết vùng.</a:t>
            </a:r>
          </a:p>
        </p:txBody>
      </p:sp>
      <p:sp>
        <p:nvSpPr>
          <p:cNvPr id="12" name="Shape 12"/>
          <p:cNvSpPr/>
          <p:nvPr/>
        </p:nvSpPr>
        <p:spPr>
          <a:xfrm>
            <a:off x="8001000" y="1752600"/>
            <a:ext cx="3352800" cy="2400000"/>
          </a:xfrm>
          <a:prstGeom prst="roundRect">
            <a:avLst>
              <a:gd name="adj" fmla="val 6000"/>
            </a:avLst>
          </a:prstGeom>
          <a:solidFill>
            <a:srgbClr val="FFFFFF"/>
          </a:solidFill>
          <a:ln/>
        </p:spPr>
        <p:txBody>
          <a:bodyPr/>
          <a:lstStyle/>
          <a:p>
            <a:pPr>
              <a:buNone/>
            </a:pPr>
            <a:endParaRPr lang="vi-VN"/>
          </a:p>
        </p:txBody>
      </p:sp>
      <p:sp>
        <p:nvSpPr>
          <p:cNvPr id="13" name="Shape 13"/>
          <p:cNvSpPr/>
          <p:nvPr/>
        </p:nvSpPr>
        <p:spPr>
          <a:xfrm>
            <a:off x="8001000" y="1752600"/>
            <a:ext cx="3352800" cy="68580"/>
          </a:xfrm>
          <a:prstGeom prst="rect">
            <a:avLst/>
          </a:prstGeom>
          <a:solidFill>
            <a:srgbClr val="1B5E4A"/>
          </a:solidFill>
          <a:ln/>
        </p:spPr>
        <p:txBody>
          <a:bodyPr/>
          <a:lstStyle/>
          <a:p>
            <a:pPr>
              <a:buNone/>
            </a:pPr>
            <a:endParaRPr lang="vi-VN"/>
          </a:p>
        </p:txBody>
      </p:sp>
      <p:sp>
        <p:nvSpPr>
          <p:cNvPr id="14" name="Text 14"/>
          <p:cNvSpPr/>
          <p:nvPr/>
        </p:nvSpPr>
        <p:spPr>
          <a:xfrm>
            <a:off x="8183880" y="1981200"/>
            <a:ext cx="2987040" cy="400000"/>
          </a:xfrm>
          <a:prstGeom prst="rect">
            <a:avLst/>
          </a:prstGeom>
          <a:noFill/>
          <a:ln/>
        </p:spPr>
        <p:txBody>
          <a:bodyPr wrap="square" rtlCol="0" anchor="t">
            <a:normAutofit/>
          </a:bodyPr>
          <a:lstStyle/>
          <a:p>
            <a:pPr algn="l" marL="0" indent="0">
              <a:buNone/>
            </a:pPr>
            <a:r>
              <a:rPr lang="vi-VN" sz="1500" b="1" dirty="0">
                <a:solidFill>
                  <a:srgbClr val="1B5E4A"/>
                </a:solidFill>
                <a:latin typeface="Cambria" pitchFamily="34" charset="0"/>
                <a:ea typeface="Cambria" pitchFamily="34" charset="-122"/>
                <a:cs typeface="Cambria" pitchFamily="34" charset="-120"/>
              </a:rPr>
              <a:t>Vận dụng</a:t>
            </a:r>
          </a:p>
        </p:txBody>
      </p:sp>
      <p:sp>
        <p:nvSpPr>
          <p:cNvPr id="15" name="Text 15"/>
          <p:cNvSpPr/>
          <p:nvPr/>
        </p:nvSpPr>
        <p:spPr>
          <a:xfrm>
            <a:off x="8183880" y="2438400"/>
            <a:ext cx="2987040" cy="1600000"/>
          </a:xfrm>
          <a:prstGeom prst="rect">
            <a:avLst/>
          </a:prstGeom>
          <a:noFill/>
          <a:ln/>
        </p:spPr>
        <p:txBody>
          <a:bodyPr wrap="square" rtlCol="0" anchor="t">
            <a:normAutofit/>
          </a:bodyPr>
          <a:lstStyle/>
          <a:p>
            <a:pPr algn="l" marL="0" indent="0">
              <a:buNone/>
            </a:pPr>
            <a:r>
              <a:rPr lang="vi-VN" sz="1250" dirty="0">
                <a:solidFill>
                  <a:srgbClr val="5B6B62"/>
                </a:solidFill>
                <a:latin typeface="Calibri" pitchFamily="34" charset="0"/>
                <a:ea typeface="Calibri" pitchFamily="34" charset="-122"/>
                <a:cs typeface="Calibri" pitchFamily="34" charset="-120"/>
              </a:rPr>
              <a:t>Đề xuất được một tuyến hoặc điểm du lịch xanh cho Thành phố và nêu vai trò của học sinh.</a:t>
            </a:r>
          </a:p>
        </p:txBody>
      </p:sp>
      <p:sp>
        <p:nvSpPr>
          <p:cNvPr id="16" name="Text 16"/>
          <p:cNvSpPr/>
          <p:nvPr/>
        </p:nvSpPr>
        <p:spPr>
          <a:xfrm>
            <a:off x="838200" y="5715000"/>
            <a:ext cx="10515600" cy="400000"/>
          </a:xfrm>
          <a:prstGeom prst="rect">
            <a:avLst/>
          </a:prstGeom>
          <a:noFill/>
          <a:ln/>
        </p:spPr>
        <p:txBody>
          <a:bodyPr wrap="square" rtlCol="0" anchor="t">
            <a:normAutofit/>
          </a:bodyPr>
          <a:lstStyle/>
          <a:p>
            <a:pPr algn="l" marL="0" indent="0">
              <a:buNone/>
            </a:pPr>
            <a:r>
              <a:rPr lang="vi-VN" sz="1000" i="1" dirty="0">
                <a:solidFill>
                  <a:srgbClr val="5B6B62"/>
                </a:solidFill>
                <a:latin typeface="Calibri" pitchFamily="34" charset="0"/>
                <a:ea typeface="Calibri" pitchFamily="34" charset="-122"/>
                <a:cs typeface="Calibri" pitchFamily="34" charset="-120"/>
              </a:rPr>
              <a:t>GV: TĂNG NGỌC PHỤNG · THPT NGUYỄN KHUYẾN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Bản đồ du lịch mới sau hợp nhất">
    <p:bg>
      <p:bgPr>
        <a:solidFill>
          <a:srgbClr val="FAF8F2"/>
        </a:solidFill>
        <a:effectLst/>
      </p:bgPr>
    </p:bg>
    <p:spTree>
      <p:nvGrpSpPr>
        <p:cNvPr id="1" name=""/>
        <p:cNvGrpSpPr/>
        <p:nvPr/>
      </p:nvGrpSpPr>
      <p:grpSpPr>
        <a:xfrm>
          <a:off x="0" y="0"/>
          <a:ext cx="0" cy="0"/>
          <a:chOff x="0" y="0"/>
          <a:chExt cx="0" cy="0"/>
        </a:xfrm>
      </p:grpSpPr>
      <p:sp>
        <p:nvSpPr>
          <p:cNvPr id="2" name="Shape 2"/>
          <p:cNvSpPr/>
          <p:nvPr/>
        </p:nvSpPr>
        <p:spPr>
          <a:xfrm>
            <a:off x="0" y="0"/>
            <a:ext cx="12192000" cy="1143000"/>
          </a:xfrm>
          <a:prstGeom prst="rect">
            <a:avLst/>
          </a:prstGeom>
          <a:solidFill>
            <a:srgbClr val="0E3B2E"/>
          </a:solidFill>
          <a:ln/>
        </p:spPr>
        <p:txBody>
          <a:bodyPr/>
          <a:lstStyle/>
          <a:p>
            <a:pPr>
              <a:buNone/>
            </a:pPr>
            <a:endParaRPr lang="vi-VN"/>
          </a:p>
        </p:txBody>
      </p:sp>
      <p:sp>
        <p:nvSpPr>
          <p:cNvPr id="3" name="Text 3"/>
          <p:cNvSpPr/>
          <p:nvPr/>
        </p:nvSpPr>
        <p:spPr>
          <a:xfrm>
            <a:off x="838200" y="228600"/>
            <a:ext cx="1000000" cy="500000"/>
          </a:xfrm>
          <a:prstGeom prst="rect">
            <a:avLst/>
          </a:prstGeom>
          <a:noFill/>
          <a:ln/>
        </p:spPr>
        <p:txBody>
          <a:bodyPr wrap="square" rtlCol="0" anchor="t">
            <a:normAutofit/>
          </a:bodyPr>
          <a:lstStyle/>
          <a:p>
            <a:pPr algn="l" marL="0" indent="0">
              <a:buNone/>
            </a:pPr>
            <a:r>
              <a:rPr lang="vi-VN" sz="2400" b="1" dirty="0">
                <a:solidFill>
                  <a:srgbClr val="D9A441"/>
                </a:solidFill>
                <a:latin typeface="Cambria" pitchFamily="34" charset="0"/>
                <a:ea typeface="Cambria" pitchFamily="34" charset="-122"/>
                <a:cs typeface="Cambria" pitchFamily="34" charset="-120"/>
              </a:rPr>
              <a:t>01</a:t>
            </a:r>
          </a:p>
        </p:txBody>
      </p:sp>
      <p:sp>
        <p:nvSpPr>
          <p:cNvPr id="4" name="Text 4"/>
          <p:cNvSpPr/>
          <p:nvPr/>
        </p:nvSpPr>
        <p:spPr>
          <a:xfrm>
            <a:off x="1638300" y="274320"/>
            <a:ext cx="9715500" cy="600000"/>
          </a:xfrm>
          <a:prstGeom prst="rect">
            <a:avLst/>
          </a:prstGeom>
          <a:noFill/>
          <a:ln/>
        </p:spPr>
        <p:txBody>
          <a:bodyPr wrap="square" rtlCol="0" anchor="t">
            <a:normAutofit/>
          </a:bodyPr>
          <a:lstStyle/>
          <a:p>
            <a:pPr algn="l" marL="0" indent="0">
              <a:buNone/>
            </a:pPr>
            <a:r>
              <a:rPr lang="vi-VN" sz="2200" b="1" dirty="0">
                <a:solidFill>
                  <a:srgbClr val="FFFFFF"/>
                </a:solidFill>
                <a:latin typeface="Cambria" pitchFamily="34" charset="0"/>
                <a:ea typeface="Cambria" pitchFamily="34" charset="-122"/>
                <a:cs typeface="Cambria" pitchFamily="34" charset="-120"/>
              </a:rPr>
              <a:t>Bản đồ du lịch mới sau hợp nhất</a:t>
            </a:r>
          </a:p>
        </p:txBody>
      </p:sp>
      <p:sp>
        <p:nvSpPr>
          <p:cNvPr id="5" name="Text 5"/>
          <p:cNvSpPr/>
          <p:nvPr/>
        </p:nvSpPr>
        <p:spPr>
          <a:xfrm>
            <a:off x="838200" y="1524000"/>
            <a:ext cx="10515600" cy="3200000"/>
          </a:xfrm>
          <a:prstGeom prst="rect">
            <a:avLst/>
          </a:prstGeom>
          <a:noFill/>
          <a:ln/>
        </p:spPr>
        <p:txBody>
          <a:bodyPr wrap="square" rtlCol="0" anchor="t">
            <a:normAutofit/>
          </a:bodyPr>
          <a:lstStyle/>
          <a:p>
            <a:pPr algn="l" marL="216000" indent="-216000">
              <a:buFont typeface="Arial" pitchFamily="34" charset="0"/>
              <a:buChar char="•"/>
            </a:pPr>
            <a:r>
              <a:rPr lang="vi-VN" sz="1400" dirty="0">
                <a:solidFill>
                  <a:srgbClr val="1F2A24"/>
                </a:solidFill>
                <a:latin typeface="Calibri" pitchFamily="34" charset="0"/>
                <a:ea typeface="Calibri" pitchFamily="34" charset="-122"/>
                <a:cs typeface="Calibri" pitchFamily="34" charset="-120"/>
              </a:rPr>
              <a:t>Từ 01/7/2025, TP.HCM hợp nhất 3 địa phương; diện tích Thành phố khoảng 6.770 km².</a:t>
            </a:r>
          </a:p>
          <a:p>
            <a:pPr algn="l" marL="216000" indent="-216000">
              <a:spcBef>
                <a:spcPts val="900"/>
              </a:spcBef>
              <a:buFont typeface="Arial" pitchFamily="34" charset="0"/>
              <a:buChar char="•"/>
            </a:pPr>
            <a:r>
              <a:rPr lang="vi-VN" sz="1400" dirty="0">
                <a:solidFill>
                  <a:srgbClr val="1F2A24"/>
                </a:solidFill>
                <a:latin typeface="Calibri" pitchFamily="34" charset="0"/>
                <a:ea typeface="Calibri" pitchFamily="34" charset="-122"/>
                <a:cs typeface="Calibri" pitchFamily="34" charset="-120"/>
              </a:rPr>
              <a:t>Đô thị trung tâm: di sản kiến trúc, bảo tàng, ẩm thực, mua sắm, sự kiện – hội nghị; sông Sài Gòn và kênh rạch.</a:t>
            </a:r>
          </a:p>
          <a:p>
            <a:pPr algn="l" marL="216000" indent="-216000">
              <a:spcBef>
                <a:spcPts val="900"/>
              </a:spcBef>
              <a:buFont typeface="Arial" pitchFamily="34" charset="0"/>
              <a:buChar char="•"/>
            </a:pPr>
            <a:r>
              <a:rPr lang="vi-VN" sz="1400" dirty="0">
                <a:solidFill>
                  <a:srgbClr val="1F2A24"/>
                </a:solidFill>
                <a:latin typeface="Calibri" pitchFamily="34" charset="0"/>
                <a:ea typeface="Calibri" pitchFamily="34" charset="-122"/>
                <a:cs typeface="Calibri" pitchFamily="34" charset="-120"/>
              </a:rPr>
              <a:t>Biển – đảo: bãi biển Vũng Tàu, Long Hải, Hồ Tràm; Côn Đảo với Vườn quốc gia và khu di tích nhà tù Côn Đảo.</a:t>
            </a:r>
          </a:p>
          <a:p>
            <a:pPr algn="l" marL="216000" indent="-216000">
              <a:spcBef>
                <a:spcPts val="900"/>
              </a:spcBef>
              <a:buFont typeface="Arial" pitchFamily="34" charset="0"/>
              <a:buChar char="•"/>
            </a:pPr>
            <a:r>
              <a:rPr lang="vi-VN" sz="1400" dirty="0">
                <a:solidFill>
                  <a:srgbClr val="1F2A24"/>
                </a:solidFill>
                <a:latin typeface="Calibri" pitchFamily="34" charset="0"/>
                <a:ea typeface="Calibri" pitchFamily="34" charset="-122"/>
                <a:cs typeface="Calibri" pitchFamily="34" charset="-120"/>
              </a:rPr>
              <a:t>Vùng Bình Dương (cũ) và ven đô: làng nghề sơn mài, gốm, vườn trái cây Lái Thiêu, khu du lịch Đại Nam, di tích kháng chiến; rừng ngập mặn Cần Giờ, địa đạo Củ Chi.</a:t>
            </a:r>
          </a:p>
        </p:txBody>
      </p:sp>
      <p:sp>
        <p:nvSpPr>
          <p:cNvPr id="6" name="Shape 6"/>
          <p:cNvSpPr/>
          <p:nvPr/>
        </p:nvSpPr>
        <p:spPr>
          <a:xfrm>
            <a:off x="838200" y="4876800"/>
            <a:ext cx="10515600" cy="1000000"/>
          </a:xfrm>
          <a:prstGeom prst="roundRect">
            <a:avLst>
              <a:gd name="adj" fmla="val 4000"/>
            </a:avLst>
          </a:prstGeom>
          <a:solidFill>
            <a:srgbClr val="ECEFE1"/>
          </a:solidFill>
          <a:ln/>
        </p:spPr>
        <p:txBody>
          <a:bodyPr/>
          <a:lstStyle/>
          <a:p>
            <a:pPr>
              <a:buNone/>
            </a:pPr>
            <a:endParaRPr lang="vi-VN"/>
          </a:p>
        </p:txBody>
      </p:sp>
      <p:sp>
        <p:nvSpPr>
          <p:cNvPr id="7" name="Shape 7"/>
          <p:cNvSpPr/>
          <p:nvPr/>
        </p:nvSpPr>
        <p:spPr>
          <a:xfrm>
            <a:off x="838200" y="4876800"/>
            <a:ext cx="45720" cy="1000000"/>
          </a:xfrm>
          <a:prstGeom prst="rect">
            <a:avLst/>
          </a:prstGeom>
          <a:solidFill>
            <a:srgbClr val="D9A441"/>
          </a:solidFill>
          <a:ln/>
        </p:spPr>
        <p:txBody>
          <a:bodyPr/>
          <a:lstStyle/>
          <a:p>
            <a:pPr>
              <a:buNone/>
            </a:pPr>
            <a:endParaRPr lang="vi-VN"/>
          </a:p>
        </p:txBody>
      </p:sp>
      <p:sp>
        <p:nvSpPr>
          <p:cNvPr id="8" name="Text 8"/>
          <p:cNvSpPr/>
          <p:nvPr/>
        </p:nvSpPr>
        <p:spPr>
          <a:xfrm>
            <a:off x="1021080" y="4968240"/>
            <a:ext cx="10149840" cy="300000"/>
          </a:xfrm>
          <a:prstGeom prst="rect">
            <a:avLst/>
          </a:prstGeom>
          <a:noFill/>
          <a:ln/>
        </p:spPr>
        <p:txBody>
          <a:bodyPr wrap="square" rtlCol="0" anchor="t">
            <a:normAutofit/>
          </a:bodyPr>
          <a:lstStyle/>
          <a:p>
            <a:pPr algn="l" marL="0" indent="0">
              <a:buNone/>
            </a:pPr>
            <a:r>
              <a:rPr lang="vi-VN" sz="1000" b="1" dirty="0">
                <a:solidFill>
                  <a:srgbClr val="D9A441"/>
                </a:solidFill>
                <a:latin typeface="Calibri" pitchFamily="34" charset="0"/>
                <a:ea typeface="Calibri" pitchFamily="34" charset="-122"/>
                <a:cs typeface="Calibri" pitchFamily="34" charset="-120"/>
              </a:rPr>
              <a:t>VÍ DỤ</a:t>
            </a:r>
          </a:p>
        </p:txBody>
      </p:sp>
      <p:sp>
        <p:nvSpPr>
          <p:cNvPr id="9" name="Text 9"/>
          <p:cNvSpPr/>
          <p:nvPr/>
        </p:nvSpPr>
        <p:spPr>
          <a:xfrm>
            <a:off x="1021080" y="5257800"/>
            <a:ext cx="10149840" cy="550000"/>
          </a:xfrm>
          <a:prstGeom prst="rect">
            <a:avLst/>
          </a:prstGeom>
          <a:noFill/>
          <a:ln/>
        </p:spPr>
        <p:txBody>
          <a:bodyPr wrap="square" rtlCol="0" anchor="t">
            <a:normAutofit/>
          </a:bodyPr>
          <a:lstStyle/>
          <a:p>
            <a:pPr algn="l" marL="0" indent="0">
              <a:buNone/>
            </a:pPr>
            <a:r>
              <a:rPr lang="vi-VN" sz="1200" i="1" dirty="0">
                <a:solidFill>
                  <a:srgbClr val="5B6B62"/>
                </a:solidFill>
                <a:latin typeface="Calibri" pitchFamily="34" charset="0"/>
                <a:ea typeface="Calibri" pitchFamily="34" charset="-122"/>
                <a:cs typeface="Calibri" pitchFamily="34" charset="-120"/>
              </a:rPr>
              <a:t>Một du khách có thể trong vài ngày đi từ phố đi bộ Nguyễn Huệ, qua địa đạo Củ Chi, ghé làng sơn mài Tương Bình Hiệp rồi ra biển Vũng Tàu — tất cả vẫn trong cùng một thành phố.</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Đa dạng hoá sản phẩm du lịch">
    <p:bg>
      <p:bgPr>
        <a:solidFill>
          <a:srgbClr val="FAF8F2"/>
        </a:solidFill>
        <a:effectLst/>
      </p:bgPr>
    </p:bg>
    <p:spTree>
      <p:nvGrpSpPr>
        <p:cNvPr id="1" name=""/>
        <p:cNvGrpSpPr/>
        <p:nvPr/>
      </p:nvGrpSpPr>
      <p:grpSpPr>
        <a:xfrm>
          <a:off x="0" y="0"/>
          <a:ext cx="0" cy="0"/>
          <a:chOff x="0" y="0"/>
          <a:chExt cx="0" cy="0"/>
        </a:xfrm>
      </p:grpSpPr>
      <p:sp>
        <p:nvSpPr>
          <p:cNvPr id="2" name="Shape 2"/>
          <p:cNvSpPr/>
          <p:nvPr/>
        </p:nvSpPr>
        <p:spPr>
          <a:xfrm>
            <a:off x="0" y="0"/>
            <a:ext cx="12192000" cy="1143000"/>
          </a:xfrm>
          <a:prstGeom prst="rect">
            <a:avLst/>
          </a:prstGeom>
          <a:solidFill>
            <a:srgbClr val="0E3B2E"/>
          </a:solidFill>
          <a:ln/>
        </p:spPr>
        <p:txBody>
          <a:bodyPr/>
          <a:lstStyle/>
          <a:p>
            <a:pPr>
              <a:buNone/>
            </a:pPr>
            <a:endParaRPr lang="vi-VN"/>
          </a:p>
        </p:txBody>
      </p:sp>
      <p:sp>
        <p:nvSpPr>
          <p:cNvPr id="3" name="Text 3"/>
          <p:cNvSpPr/>
          <p:nvPr/>
        </p:nvSpPr>
        <p:spPr>
          <a:xfrm>
            <a:off x="838200" y="228600"/>
            <a:ext cx="1000000" cy="500000"/>
          </a:xfrm>
          <a:prstGeom prst="rect">
            <a:avLst/>
          </a:prstGeom>
          <a:noFill/>
          <a:ln/>
        </p:spPr>
        <p:txBody>
          <a:bodyPr wrap="square" rtlCol="0" anchor="t">
            <a:normAutofit/>
          </a:bodyPr>
          <a:lstStyle/>
          <a:p>
            <a:pPr algn="l" marL="0" indent="0">
              <a:buNone/>
            </a:pPr>
            <a:r>
              <a:rPr lang="vi-VN" sz="2400" b="1" dirty="0">
                <a:solidFill>
                  <a:srgbClr val="D9A441"/>
                </a:solidFill>
                <a:latin typeface="Cambria" pitchFamily="34" charset="0"/>
                <a:ea typeface="Cambria" pitchFamily="34" charset="-122"/>
                <a:cs typeface="Cambria" pitchFamily="34" charset="-120"/>
              </a:rPr>
              <a:t>02</a:t>
            </a:r>
          </a:p>
        </p:txBody>
      </p:sp>
      <p:sp>
        <p:nvSpPr>
          <p:cNvPr id="4" name="Text 4"/>
          <p:cNvSpPr/>
          <p:nvPr/>
        </p:nvSpPr>
        <p:spPr>
          <a:xfrm>
            <a:off x="1638300" y="274320"/>
            <a:ext cx="9715500" cy="600000"/>
          </a:xfrm>
          <a:prstGeom prst="rect">
            <a:avLst/>
          </a:prstGeom>
          <a:noFill/>
          <a:ln/>
        </p:spPr>
        <p:txBody>
          <a:bodyPr wrap="square" rtlCol="0" anchor="t">
            <a:normAutofit/>
          </a:bodyPr>
          <a:lstStyle/>
          <a:p>
            <a:pPr algn="l" marL="0" indent="0">
              <a:buNone/>
            </a:pPr>
            <a:r>
              <a:rPr lang="vi-VN" sz="2200" b="1" dirty="0">
                <a:solidFill>
                  <a:srgbClr val="FFFFFF"/>
                </a:solidFill>
                <a:latin typeface="Cambria" pitchFamily="34" charset="0"/>
                <a:ea typeface="Cambria" pitchFamily="34" charset="-122"/>
                <a:cs typeface="Cambria" pitchFamily="34" charset="-120"/>
              </a:rPr>
              <a:t>Đa dạng hoá sản phẩm du lịch</a:t>
            </a:r>
          </a:p>
        </p:txBody>
      </p:sp>
      <p:sp>
        <p:nvSpPr>
          <p:cNvPr id="5" name="Text 5"/>
          <p:cNvSpPr/>
          <p:nvPr/>
        </p:nvSpPr>
        <p:spPr>
          <a:xfrm>
            <a:off x="838200" y="1524000"/>
            <a:ext cx="10515600" cy="3200000"/>
          </a:xfrm>
          <a:prstGeom prst="rect">
            <a:avLst/>
          </a:prstGeom>
          <a:noFill/>
          <a:ln/>
        </p:spPr>
        <p:txBody>
          <a:bodyPr wrap="square" rtlCol="0" anchor="t">
            <a:normAutofit/>
          </a:bodyPr>
          <a:lstStyle/>
          <a:p>
            <a:pPr algn="l" marL="216000" indent="-216000">
              <a:buFont typeface="Arial" pitchFamily="34" charset="0"/>
              <a:buChar char="•"/>
            </a:pPr>
            <a:r>
              <a:rPr lang="vi-VN" sz="1400" dirty="0">
                <a:solidFill>
                  <a:srgbClr val="1F2A24"/>
                </a:solidFill>
                <a:latin typeface="Calibri" pitchFamily="34" charset="0"/>
                <a:ea typeface="Calibri" pitchFamily="34" charset="-122"/>
                <a:cs typeface="Calibri" pitchFamily="34" charset="-120"/>
              </a:rPr>
              <a:t>Phát triển các sản phẩm thế mạnh: du lịch văn hoá – lịch sử, ẩm thực, mua sắm, du lịch hội nghị – sự kiện (MICE), du lịch đường thuỷ.</a:t>
            </a:r>
          </a:p>
          <a:p>
            <a:pPr algn="l" marL="216000" indent="-216000">
              <a:spcBef>
                <a:spcPts val="900"/>
              </a:spcBef>
              <a:buFont typeface="Arial" pitchFamily="34" charset="0"/>
              <a:buChar char="•"/>
            </a:pPr>
            <a:r>
              <a:rPr lang="vi-VN" sz="1400" dirty="0">
                <a:solidFill>
                  <a:srgbClr val="1F2A24"/>
                </a:solidFill>
                <a:latin typeface="Calibri" pitchFamily="34" charset="0"/>
                <a:ea typeface="Calibri" pitchFamily="34" charset="-122"/>
                <a:cs typeface="Calibri" pitchFamily="34" charset="-120"/>
              </a:rPr>
              <a:t>Bổ sung du lịch biển – đảo, nghỉ dưỡng và du lịch về nguồn, tâm linh tại Côn Đảo, Vũng Tàu.</a:t>
            </a:r>
          </a:p>
          <a:p>
            <a:pPr algn="l" marL="216000" indent="-216000">
              <a:spcBef>
                <a:spcPts val="900"/>
              </a:spcBef>
              <a:buFont typeface="Arial" pitchFamily="34" charset="0"/>
              <a:buChar char="•"/>
            </a:pPr>
            <a:r>
              <a:rPr lang="vi-VN" sz="1400" dirty="0">
                <a:solidFill>
                  <a:srgbClr val="1F2A24"/>
                </a:solidFill>
                <a:latin typeface="Calibri" pitchFamily="34" charset="0"/>
                <a:ea typeface="Calibri" pitchFamily="34" charset="-122"/>
                <a:cs typeface="Calibri" pitchFamily="34" charset="-120"/>
              </a:rPr>
              <a:t>Khai thác du lịch làng nghề, nông nghiệp, sinh thái ở vùng ven và vùng Bình Dương (cũ), tránh sản phẩm trùng lặp giữa các điểm.</a:t>
            </a:r>
          </a:p>
        </p:txBody>
      </p:sp>
    </p:spTree>
  </p:cSld>
  <p:clrMapOvr>
    <a:masterClrMapping/>
  </p:clrMapOvr>
</p:sld>
</file>

<file path=ppt/slides/slide5.xml><?xml version="1.0" encoding="UTF-8" standalone="yes"?>
<p:sld xmlns:a="http://schemas.openxmlformats.org/drawingml/2006/main" xmlns:r="http://schemas.openxmlformats.org/officeDocument/2006/relationships" xmlns:p="http://schemas.openxmlformats.org/presentationml/2006/main"><p:cSld name="Xanh hoá & phát triển bền vững"><p:bg><p:bgPr><a:solidFill><a:srgbClr val="FAF8F2"/></a:solidFill><a:effectLst/></p:bgPr></p:bg><p:spTree><p:nvGrpSpPr><p:cNvPr id="1" name=""/><p:cNvGrpSpPr/><p:nvPr/></p:nvGrpSpPr><p:grpSpPr><a:xfrm><a:off x="0" y="0"/><a:ext cx="0" cy="0"/><a:chOff x="0" y="0"/><a:chExt cx="0" cy="0"/></a:xfrm></p:grpSpPr><p:sp><p:nvSpPr><p:cNvPr id="2" name="Shape 2"/><p:cNvSpPr/><p:nvPr/></p:nvSpPr><p:spPr><a:xfrm><a:off x="0" y="0"/><a:ext cx="12192000" cy="1143000"/></a:xfrm><a:prstGeom prst="rect"><a:avLst/></a:prstGeom><a:solidFill><a:srgbClr val="0E3B2E"/></a:solidFill><a:ln/></p:spPr><p:txBody><a:bodyPr/><a:lstStyle/><a:p><a:pPr><a:buNone/></a:pPr><a:endParaRPr lang="vi-VN"/></a:p></p:txBody></p:sp><p:sp><p:nvSpPr><p:cNvPr id="3" name="Text 3"/><p:cNvSpPr/><p:nvPr/></p:nvSpPr><p:spPr><a:xfrm><a:off x="838200" y="228600"/><a:ext cx="1000000" cy="500000"/></a:xfrm><a:prstGeom prst="rect"><a:avLst/></a:prstGeom><a:noFill/><a:ln/></p:spPr><p:txBody><a:bodyPr wrap="square" rtlCol="0" anchor="t"><a:normAutofit/></a:bodyPr><a:lstStyle/><a:p><a:pPr algn="l" marL="0" indent="0"><a:buNone/></a:pPr><a:r><a:rPr lang="vi-VN" sz="2400" b="1" dirty="0"><a:solidFill><a:srgbClr val="D9A441"/></a:solidFill><a:latin typeface="Cambria" pitchFamily="34" charset="0"/><a:ea typeface="Cambria" pitchFamily="34" charset="-122"/><a:cs typeface="Cambria" pitchFamily="34" charset="-120"/></a:rPr><a:t>03</a:t></a:r></a:p></p:txBody></p:sp><p:sp><p:nvSpPr><p:cNvPr id="4" name="Text 4"/><p:cNvSpPr/><p:nvPr/></p:nvSpPr><p:spPr><a:xfrm><a:off x="1638300" y="274320"/><a:ext cx="9715500" cy="600000"/></a:xfrm><a:prstGeom prst="rect"><a:avLst/></a:prstGeom><a:noFill/><a:ln/></p:spPr><p:txBody><a:bodyPr wrap="square" rtlCol="0" anchor="t"><a:normAutofit/></a:bodyPr><a:lstStyle/><a:p><a:pPr algn="l" marL="0" indent="0"><a:buNone/></a:pPr><a:r><a:rPr lang="vi-VN" sz="2200" b="1" dirty="0"><a:solidFill><a:srgbClr val="FFFFFF"/></a:solidFill><a:latin typeface="Cambria" pitchFamily="34" charset="0"/><a:ea typeface="Cambria" pitchFamily="34" charset="-122"/><a:cs typeface="Cambria" pitchFamily="34" charset="-120"/></a:rPr><a:t>Xanh hoá &amp; phát triển bền vững</a:t></a:r></a:p></p:txBody></p:sp><p:sp><p:nvSpPr><p:cNvPr id="5" name="Text 5"/><p:cNvSpPr/><p:nvPr/></p:nvSpPr><p:spPr><a:xfrm><a:off x="838200" y="1524000"/><a:ext cx="10515600" cy="3200000"/></a:xfrm><a:prstGeom prst="rect"><a:avLst/></a:prstGeom><a:noFill/><a:ln/></p:spPr><p:txBody><a:bodyPr wrap="square" rtlCol="0" anchor="t"><a:normAutofit/></a:bodyPr><a:lstStyle/><a:p><a:pPr algn="l" marL="216000" indent="-216000"><a:buFont typeface="Arial" pitchFamily="34" charset="0"/><a:buChar char="&#8226;"/></a:pPr><a:r><a:rPr lang="vi-VN" sz="1400" dirty="0"><a:solidFill><a:srgbClr val="1F2A24"/></a:solidFill><a:latin typeface="Calibri" pitchFamily="34" charset="0"/><a:ea typeface="Calibri" pitchFamily="34" charset="-122"/><a:cs typeface="Calibri" pitchFamily="34" charset="-120"/></a:rPr><a:t>Ưu tiên du lịch xanh: giảm rác nhựa, tiết kiệm năng lượng tại điểm đến.</a:t></a:r></a:p><a:p><a:pPr algn="l" marL="216000" indent="-216000"><a:spcBef><a:spcPts val="900"/></a:spcBef><a:buFont typeface="Arial" pitchFamily="34" charset="0"/><a:buChar char="&#8226;"/></a:pPr><a:r><a:rPr lang="vi-VN" sz="1400" dirty="0"><a:solidFill><a:srgbClr val="1F2A24"/></a:solidFill><a:latin typeface="Calibri" pitchFamily="34" charset="0"/><a:ea typeface="Calibri" pitchFamily="34" charset="-122"/><a:cs typeface="Calibri" pitchFamily="34" charset="-120"/></a:rPr><a:t>Kiểm soát sức chứa ở nơi nhạy cảm như Côn Đảo, rừng ngập mặn Cần Giờ để không làm tổn hại hệ sinh thái.</a:t></a:r></a:p><a:p><a:pPr algn="l" marL="216000" indent="-216000"><a:spcBef><a:spcPts val="900"/></a:spcBef><a:buFont typeface="Arial" pitchFamily="34" charset="0"/><a:buChar char="&#8226;"/></a:pPr><a:r><a:rPr lang="vi-VN" sz="1400" dirty="0"><a:solidFill><a:srgbClr val="1F2A24"/></a:solidFill><a:latin typeface="Calibri" pitchFamily="34" charset="0"/><a:ea typeface="Calibri" pitchFamily="34" charset="-122"/><a:cs typeface="Calibri" pitchFamily="34" charset="-120"/></a:rPr><a:t>Tôn trọng giá trị thiêng liêng của di tích lịch sử; chia sẻ lợi ích với cộng đồng địa phương.</a:t></a:r></a:p></p:txBody></p:sp><p:sp><p:nvSpPr><p:cNvPr id="6" name="Shape 6"/><p:cNvSpPr/><p:nvPr/></p:nvSpPr><p:spPr><a:xfrm><a:off x="838200" y="4876800"/><a:ext cx="10515600" cy="1000000"/></a:xfrm><a:prstGeom prst="roundRect"><a:avLst><a:gd name="adj" fmla="val 4000"/></a:avLst></a:prstGeom><a:solidFill><a:srgbClr val="ECEFE1"/></a:solidFill><a:ln/></p:spPr><p:txBody><a:bodyPr/><a:lstStyle/><a:p><a:pPr><a:buNone/></a:pPr><a:endParaRPr lang="vi-VN"/></a:p></p:txBody></p:sp><p:sp><p:nvSpPr><p:cNvPr id="7" name="Shape 7"/><p:cNvSpPr/><p:nvPr/></p:nvSpPr><p:spPr><a:xfrm><a:off x="838200" y="4876800"/><a:ext cx="45720" cy="1000000"/></a:xfrm><a:prstGeom prst="rect"><a:avLst/></a:prstGeom><a:solidFill><a:srgbClr val="D9A441"/></a:solidFill><a:ln/></p:spPr><p:txBody><a:bodyPr/><a:lstStyle/><a:p><a:pPr><a:buNone/></a:pPr><a:endParaRPr lang="vi-VN"/></a:p></p:txBody></p:sp><p:sp><p:nvSpPr><p:cNvPr id="8" name="Text 8"/><p:cNvSpPr/><p:nvPr/></p:nvSpPr><p:spPr><a:xfrm><a:off x="1021080" y="4968240"/><a:ext cx="10149840" cy="300000"/></a:xfrm><a:prstGeom prst="rect"><a:avLst/></a:prstGeom><a:noFill/><a:ln/></p:spPr><p:txBody><a:bodyPr wrap="square" rtlCol="0" anchor="t"><a:normAutofit/></a:bodyPr><a:lstStyle/><a:p><a:pPr algn="l" marL="0" indent="0"><a:buNone/></a:pPr><a:r><a:rPr lang="vi-VN" sz="1000" b="1" dirty="0"><a:solidFill><a:srgbClr val="D9A441"/></a:solidFill><a:latin typeface="Calibri" pitchFamily="34" charset="0"/><a:ea typeface="Calibri" pitchFamily="34" charset="-122"/><a:cs typeface="Calibri" pitchFamily="34" charset="-120"/></a:rPr><a:t>VÍ DỤ</a:t></a:r></a:p></p:txBody></p:sp><p:sp><p:nvSpPr><p:cNvPr id="9" name="Text 9"/><p:cNvSpPr/><p:nvPr/></p:nvSpPr><p:spPr><a:xfrm><a:off x="1021080" y="5257800"/><a:ext cx="10149840" cy="550000"/></a:xfrm><a:prstGeom prst="rect"><a:avLst/></a:prstGeom><a:noFill/><a:ln/></p:spPr><p:txBody><a:bodyPr wrap="square" rtlCol="0" anchor="t"><a:normAutofit/></a:bodyPr><a:lstStyle/><a:p><a:pPr algn="l" marL="0" indent="0"><a:buNone/></a:pPr><a:r><a:rPr lang="vi-VN" sz="1200" i="1" dirty="0"><a:solidFill><a:srgbClr val="5B6B62"/></a:solidFill><a:latin typeface="Calibri" pitchFamily="34" charset="0"/><a:ea typeface="Calibri" pitchFamily="34" charset="-122"/><a:cs typeface="Calibri" pitchFamily="34" charset="-120"/></a:rPr><a:t>Ở Côn Đảo, du khách vừa tìm hiểu lịch sử tại khu di tích nhà tù, vừa tham gia hoạt động tìm hiểu bảo tồn biển theo hướng dẫn của Vườn quốc gia — thay vì chỉ “check-in” rồi đi.</a:t></a:r></a:p></p:txBody></p:sp></p:spTree></p:cSld><p:clrMapOvr><a:masterClrMapping/></p:clrMapOvr></p:sld>
</file>

<file path=ppt/slides/slide6.xml><?xml version="1.0" encoding="UTF-8" standalone="yes"?>
<p:sld xmlns:a="http://schemas.openxmlformats.org/drawingml/2006/main" xmlns:r="http://schemas.openxmlformats.org/officeDocument/2006/relationships" xmlns:p="http://schemas.openxmlformats.org/presentationml/2006/main"><p:cSld name="Du lịch thông minh & liên kết vùng"><p:bg><p:bgPr><a:solidFill><a:srgbClr val="FAF8F2"/></a:solidFill><a:effectLst/></p:bgPr></p:bg><p:spTree><p:nvGrpSpPr><p:cNvPr id="1" name=""/><p:cNvGrpSpPr/><p:nvPr/></p:nvGrpSpPr><p:grpSpPr><a:xfrm><a:off x="0" y="0"/><a:ext cx="0" cy="0"/><a:chOff x="0" y="0"/><a:chExt cx="0" cy="0"/></a:xfrm></p:grpSpPr><p:sp><p:nvSpPr><p:cNvPr id="2" name="Shape 2"/><p:cNvSpPr/><p:nvPr/></p:nvSpPr><p:spPr><a:xfrm><a:off x="0" y="0"/><a:ext cx="12192000" cy="1143000"/></a:xfrm><a:prstGeom prst="rect"><a:avLst/></a:prstGeom><a:solidFill><a:srgbClr val="0E3B2E"/></a:solidFill><a:ln/></p:spPr><p:txBody><a:bodyPr/><a:lstStyle/><a:p><a:pPr><a:buNone/></a:pPr><a:endParaRPr lang="vi-VN"/></a:p></p:txBody></p:sp><p:sp><p:nvSpPr><p:cNvPr id="3" name="Text 3"/><p:cNvSpPr/><p:nvPr/></p:nvSpPr><p:spPr><a:xfrm><a:off x="838200" y="228600"/><a:ext cx="1000000" cy="500000"/></a:xfrm><a:prstGeom prst="rect"><a:avLst/></a:prstGeom><a:noFill/><a:ln/></p:spPr><p:txBody><a:bodyPr wrap="square" rtlCol="0" anchor="t"><a:normAutofit/></a:bodyPr><a:lstStyle/><a:p><a:pPr algn="l" marL="0" indent="0"><a:buNone/></a:pPr><a:r><a:rPr lang="vi-VN" sz="2400" b="1" dirty="0"><a:solidFill><a:srgbClr val="D9A441"/></a:solidFill><a:latin typeface="Cambria" pitchFamily="34" charset="0"/><a:ea typeface="Cambria" pitchFamily="34" charset="-122"/><a:cs typeface="Cambria" pitchFamily="34" charset="-120"/></a:rPr><a:t>04</a:t></a:r></a:p></p:txBody></p:sp><p:sp><p:nvSpPr><p:cNvPr id="4" name="Text 4"/><p:cNvSpPr/><p:nvPr/></p:nvSpPr><p:spPr><a:xfrm><a:off x="1638300" y="274320"/><a:ext cx="9715500" cy="600000"/></a:xfrm><a:prstGeom prst="rect"><a:avLst/></a:prstGeom><a:noFill/><a:ln/></p:spPr><p:txBody><a:bodyPr wrap="square" rtlCol="0" anchor="t"><a:normAutofit/></a:bodyPr><a:lstStyle/><a:p><a:pPr algn="l" marL="0" indent="0"><a:buNone/></a:pPr><a:r><a:rPr lang="vi-VN" sz="2200" b="1" dirty="0"><a:solidFill><a:srgbClr val="FFFFFF"/></a:solidFill><a:latin typeface="Cambria" pitchFamily="34" charset="0"/><a:ea typeface="Cambria" pitchFamily="34" charset="-122"/><a:cs typeface="Cambria" pitchFamily="34" charset="-120"/></a:rPr><a:t>Du lịch thông minh &amp; liên kết vùng</a:t></a:r></a:p></p:txBody></p:sp><p:sp><p:nvSpPr><p:cNvPr id="5" name="Text 5"/><p:cNvSpPr/><p:nvPr/></p:nvSpPr><p:spPr><a:xfrm><a:off x="838200" y="1524000"/><a:ext cx="10515600" cy="3200000"/></a:xfrm><a:prstGeom prst="rect"><a:avLst/></a:prstGeom><a:noFill/><a:ln/></p:spPr><p:txBody><a:bodyPr wrap="square" rtlCol="0" anchor="t"><a:normAutofit/></a:bodyPr><a:lstStyle/><a:p><a:pPr algn="l" marL="216000" indent="-216000"><a:buFont typeface="Arial" pitchFamily="34" charset="0"/><a:buChar char="&#8226;"/></a:pPr><a:r><a:rPr lang="vi-VN" sz="1400" dirty="0"><a:solidFill><a:srgbClr val="1F2A24"/></a:solidFill><a:latin typeface="Calibri" pitchFamily="34" charset="0"/><a:ea typeface="Calibri" pitchFamily="34" charset="-122"/><a:cs typeface="Calibri" pitchFamily="34" charset="-120"/></a:rPr><a:t>Chuyển đổi số: bản đồ số, vé điện tử, thuyết minh tự động, dữ liệu dự báo lượng khách, gợi ý lịch trình.</a:t></a:r></a:p><a:p><a:pPr algn="l" marL="216000" indent="-216000"><a:spcBef><a:spcPts val="900"/></a:spcBef><a:buFont typeface="Arial" pitchFamily="34" charset="0"/><a:buChar char="&#8226;"/></a:pPr><a:r><a:rPr lang="vi-VN" sz="1400" dirty="0"><a:solidFill><a:srgbClr val="1F2A24"/></a:solidFill><a:latin typeface="Calibri" pitchFamily="34" charset="0"/><a:ea typeface="Calibri" pitchFamily="34" charset="-122"/><a:cs typeface="Calibri" pitchFamily="34" charset="-120"/></a:rPr><a:t>Giao thông kết nối: metro (tuyến số 1 Bến Thành – Suối Tiên chạy từ 12/2024), buýt đường sông, tàu cao tốc ra biển – đảo.</a:t></a:r></a:p><a:p><a:pPr algn="l" marL="216000" indent="-216000"><a:spcBef><a:spcPts val="900"/></a:spcBef><a:buFont typeface="Arial" pitchFamily="34" charset="0"/><a:buChar char="&#8226;"/></a:pPr><a:r><a:rPr lang="vi-VN" sz="1400" dirty="0"><a:solidFill><a:srgbClr val="1F2A24"/></a:solidFill><a:latin typeface="Calibri" pitchFamily="34" charset="0"/><a:ea typeface="Calibri" pitchFamily="34" charset="-122"/><a:cs typeface="Calibri" pitchFamily="34" charset="-120"/></a:rPr><a:t>Liên kết với các tỉnh Đông Nam Bộ, Đồng bằng sông Cửu Long và cả nước để tạo tuyến du lịch dài ngày.</a:t></a:r></a:p></p:txBody></p:sp></p:spTree></p:cSld><p:clrMapOvr><a:masterClrMapping/></p:clrMapOvr></p:sld>
</file>

<file path=ppt/slides/slide7.xml><?xml version="1.0" encoding="UTF-8" standalone="yes"?>
<p:sld xmlns:a="http://schemas.openxmlformats.org/drawingml/2006/main" xmlns:r="http://schemas.openxmlformats.org/officeDocument/2006/relationships" xmlns:p="http://schemas.openxmlformats.org/presentationml/2006/main"><p:cSld name="Con người, hình ảnh & vai trò của học sinh"><p:bg><p:bgPr><a:solidFill><a:srgbClr val="FAF8F2"/></a:solidFill><a:effectLst/></p:bgPr></p:bg><p:spTree><p:nvGrpSpPr><p:cNvPr id="1" name=""/><p:cNvGrpSpPr/><p:nvPr/></p:nvGrpSpPr><p:grpSpPr><a:xfrm><a:off x="0" y="0"/><a:ext cx="0" cy="0"/><a:chOff x="0" y="0"/><a:chExt cx="0" cy="0"/></a:xfrm></p:grpSpPr><p:sp><p:nvSpPr><p:cNvPr id="2" name="Shape 2"/><p:cNvSpPr/><p:nvPr/></p:nvSpPr><p:spPr><a:xfrm><a:off x="0" y="0"/><a:ext cx="12192000" cy="1143000"/></a:xfrm><a:prstGeom prst="rect"><a:avLst/></a:prstGeom><a:solidFill><a:srgbClr val="0E3B2E"/></a:solidFill><a:ln/></p:spPr><p:txBody><a:bodyPr/><a:lstStyle/><a:p><a:pPr><a:buNone/></a:pPr><a:endParaRPr lang="vi-VN"/></a:p></p:txBody></p:sp><p:sp><p:nvSpPr><p:cNvPr id="3" name="Text 3"/><p:cNvSpPr/><p:nvPr/></p:nvSpPr><p:spPr><a:xfrm><a:off x="838200" y="228600"/><a:ext cx="1000000" cy="500000"/></a:xfrm><a:prstGeom prst="rect"><a:avLst/></a:prstGeom><a:noFill/><a:ln/></p:spPr><p:txBody><a:bodyPr wrap="square" rtlCol="0" anchor="t"><a:normAutofit/></a:bodyPr><a:lstStyle/><a:p><a:pPr algn="l" marL="0" indent="0"><a:buNone/></a:pPr><a:r><a:rPr lang="vi-VN" sz="2400" b="1" dirty="0"><a:solidFill><a:srgbClr val="D9A441"/></a:solidFill><a:latin typeface="Cambria" pitchFamily="34" charset="0"/><a:ea typeface="Cambria" pitchFamily="34" charset="-122"/><a:cs typeface="Cambria" pitchFamily="34" charset="-120"/></a:rPr><a:t>05</a:t></a:r></a:p></p:txBody></p:sp><p:sp><p:nvSpPr><p:cNvPr id="4" name="Text 4"/><p:cNvSpPr/><p:nvPr/></p:nvSpPr><p:spPr><a:xfrm><a:off x="1638300" y="274320"/><a:ext cx="9715500" cy="600000"/></a:xfrm><a:prstGeom prst="rect"><a:avLst/></a:prstGeom><a:noFill/><a:ln/></p:spPr><p:txBody><a:bodyPr wrap="square" rtlCol="0" anchor="t"><a:normAutofit/></a:bodyPr><a:lstStyle/><a:p><a:pPr algn="l" marL="0" indent="0"><a:buNone/></a:pPr><a:r><a:rPr lang="vi-VN" sz="2200" b="1" dirty="0"><a:solidFill><a:srgbClr val="FFFFFF"/></a:solidFill><a:latin typeface="Cambria" pitchFamily="34" charset="0"/><a:ea typeface="Cambria" pitchFamily="34" charset="-122"/><a:cs typeface="Cambria" pitchFamily="34" charset="-120"/></a:rPr><a:t>Con người, hình ảnh &amp; vai trò của học sinh</a:t></a:r></a:p></p:txBody></p:sp><p:sp><p:nvSpPr><p:cNvPr id="5" name="Text 5"/><p:cNvSpPr/><p:nvPr/></p:nvSpPr><p:spPr><a:xfrm><a:off x="838200" y="1524000"/><a:ext cx="10515600" cy="3200000"/></a:xfrm><a:prstGeom prst="rect"><a:avLst/></a:prstGeom><a:noFill/><a:ln/></p:spPr><p:txBody><a:bodyPr wrap="square" rtlCol="0" anchor="t"><a:normAutofit/></a:bodyPr><a:lstStyle/><a:p><a:pPr algn="l" marL="216000" indent="-216000"><a:buFont typeface="Arial" pitchFamily="34" charset="0"/><a:buChar char="&#8226;"/></a:pPr><a:r><a:rPr lang="vi-VN" sz="1400" dirty="0"><a:solidFill><a:srgbClr val="1F2A24"/></a:solidFill><a:latin typeface="Calibri" pitchFamily="34" charset="0"/><a:ea typeface="Calibri" pitchFamily="34" charset="-122"/><a:cs typeface="Calibri" pitchFamily="34" charset="-120"/></a:rPr><a:t>Nâng cao chất lượng nguồn nhân lực: ngoại ngữ, kĩ năng số, văn hoá ứng xử với du khách.</a:t></a:r></a:p><a:p><a:pPr algn="l" marL="216000" indent="-216000"><a:spcBef><a:spcPts val="900"/></a:spcBef><a:buFont typeface="Arial" pitchFamily="34" charset="0"/><a:buChar char="&#8226;"/></a:pPr><a:r><a:rPr lang="vi-VN" sz="1400" dirty="0"><a:solidFill><a:srgbClr val="1F2A24"/></a:solidFill><a:latin typeface="Calibri" pitchFamily="34" charset="0"/><a:ea typeface="Calibri" pitchFamily="34" charset="-122"/><a:cs typeface="Calibri" pitchFamily="34" charset="-120"/></a:rPr><a:t>Quảng bá hình ảnh Thành phố năng động, thân thiện, an toàn trên nền tảng số.</a:t></a:r></a:p><a:p><a:pPr algn="l" marL="216000" indent="-216000"><a:spcBef><a:spcPts val="900"/></a:spcBef><a:buFont typeface="Arial" pitchFamily="34" charset="0"/><a:buChar char="&#8226;"/></a:pPr><a:r><a:rPr lang="vi-VN" sz="1400" dirty="0"><a:solidFill><a:srgbClr val="1F2A24"/></a:solidFill><a:latin typeface="Calibri" pitchFamily="34" charset="0"/><a:ea typeface="Calibri" pitchFamily="34" charset="-122"/><a:cs typeface="Calibri" pitchFamily="34" charset="-120"/></a:rPr><a:t>Học sinh góp phần bằng việc giới thiệu đúng, đẹp về địa phương, giữ gìn vệ sinh, ứng xử văn minh và đề xuất ý tưởng sáng tạo.</a:t></a:r></a:p></p:txBody></p:sp><p:sp><p:nvSpPr><p:cNvPr id="6" name="Shape 6"/><p:cNvSpPr/><p:nvPr/></p:nvSpPr><p:spPr><a:xfrm><a:off x="838200" y="4876800"/><a:ext cx="10515600" cy="1000000"/></a:xfrm><a:prstGeom prst="roundRect"><a:avLst><a:gd name="adj" fmla="val 4000"/></a:avLst></a:prstGeom><a:solidFill><a:srgbClr val="ECEFE1"/></a:solidFill><a:ln/></p:spPr><p:txBody><a:bodyPr/><a:lstStyle/><a:p><a:pPr><a:buNone/></a:pPr><a:endParaRPr lang="vi-VN"/></a:p></p:txBody></p:sp><p:sp><p:nvSpPr><p:cNvPr id="7" name="Shape 7"/><p:cNvSpPr/><p:nvPr/></p:nvSpPr><p:spPr><a:xfrm><a:off x="838200" y="4876800"/><a:ext cx="45720" cy="1000000"/></a:xfrm><a:prstGeom prst="rect"><a:avLst/></a:prstGeom><a:solidFill><a:srgbClr val="D9A441"/></a:solidFill><a:ln/></p:spPr><p:txBody><a:bodyPr/><a:lstStyle/><a:p><a:pPr><a:buNone/></a:pPr><a:endParaRPr lang="vi-VN"/></a:p></p:txBody></p:sp><p:sp><p:nvSpPr><p:cNvPr id="8" name="Text 8"/><p:cNvSpPr/><p:nvPr/></p:nvSpPr><p:spPr><a:xfrm><a:off x="1021080" y="4968240"/><a:ext cx="10149840" cy="300000"/></a:xfrm><a:prstGeom prst="rect"><a:avLst/></a:prstGeom><a:noFill/><a:ln/></p:spPr><p:txBody><a:bodyPr wrap="square" rtlCol="0" anchor="t"><a:normAutofit/></a:bodyPr><a:lstStyle/><a:p><a:pPr algn="l" marL="0" indent="0"><a:buNone/></a:pPr><a:r><a:rPr lang="vi-VN" sz="1000" b="1" dirty="0"><a:solidFill><a:srgbClr val="D9A441"/></a:solidFill><a:latin typeface="Calibri" pitchFamily="34" charset="0"/><a:ea typeface="Calibri" pitchFamily="34" charset="-122"/><a:cs typeface="Calibri" pitchFamily="34" charset="-120"/></a:rPr><a:t>VÍ DỤ</a:t></a:r></a:p></p:txBody></p:sp><p:sp><p:nvSpPr><p:cNvPr id="9" name="Text 9"/><p:cNvSpPr/><p:nvPr/></p:nvSpPr><p:spPr><a:xfrm><a:off x="1021080" y="5257800"/><a:ext cx="10149840" cy="550000"/></a:xfrm><a:prstGeom prst="rect"><a:avLst/></a:prstGeom><a:noFill/><a:ln/></p:spPr><p:txBody><a:bodyPr wrap="square" rtlCol="0" anchor="t"><a:normAutofit/></a:bodyPr><a:lstStyle/><a:p><a:pPr algn="l" marL="0" indent="0"><a:buNone/></a:pPr><a:r><a:rPr lang="vi-VN" sz="1200" i="1" dirty="0"><a:solidFill><a:srgbClr val="5B6B62"/></a:solidFill><a:latin typeface="Calibri" pitchFamily="34" charset="0"/><a:ea typeface="Calibri" pitchFamily="34" charset="-122"/><a:cs typeface="Calibri" pitchFamily="34" charset="-120"/></a:rPr><a:t>Nhóm học sinh có thể thiết kế một tuyến “Một ngày xanh ở TP.HCM” (buýt đường sông – bảo tàng – ẩm thực địa phương) kèm bản đồ số và ghi nguồn tư liệu đầy đủ.</a:t></a:r></a:p></p:txBody></p:sp></p:spTree></p:cSld><p:clrMapOvr><a:masterClrMapping/></p:clrMapOvr></p:sld>
</file>

<file path=ppt/slides/slide8.xml><?xml version="1.0" encoding="utf-8"?>
<p:sld xmlns:a="http://schemas.openxmlformats.org/drawingml/2006/main" xmlns:r="http://schemas.openxmlformats.org/officeDocument/2006/relationships" xmlns:p="http://schemas.openxmlformats.org/presentationml/2006/main">
  <p:cSld name="Ghi nhớ">
    <p:bg>
      <p:bgPr>
        <a:solidFill>
          <a:srgbClr val="FAF8F2"/>
        </a:solidFill>
        <a:effectLst/>
      </p:bgPr>
    </p:bg>
    <p:spTree>
      <p:nvGrpSpPr>
        <p:cNvPr id="1" name=""/>
        <p:cNvGrpSpPr/>
        <p:nvPr/>
      </p:nvGrpSpPr>
      <p:grpSpPr>
        <a:xfrm>
          <a:off x="0" y="0"/>
          <a:ext cx="0" cy="0"/>
          <a:chOff x="0" y="0"/>
          <a:chExt cx="0" cy="0"/>
        </a:xfrm>
      </p:grpSpPr>
      <p:sp>
        <p:nvSpPr>
          <p:cNvPr id="2" name="Shape 2"/>
          <p:cNvSpPr/>
          <p:nvPr/>
        </p:nvSpPr>
        <p:spPr>
          <a:xfrm>
            <a:off x="0" y="0"/>
            <a:ext cx="12192000" cy="1143000"/>
          </a:xfrm>
          <a:prstGeom prst="rect">
            <a:avLst/>
          </a:prstGeom>
          <a:solidFill>
            <a:srgbClr val="1B5E4A"/>
          </a:solidFill>
          <a:ln/>
        </p:spPr>
        <p:txBody>
          <a:bodyPr/>
          <a:lstStyle/>
          <a:p>
            <a:pPr>
              <a:buNone/>
            </a:pPr>
            <a:endParaRPr lang="vi-VN"/>
          </a:p>
        </p:txBody>
      </p:sp>
      <p:sp>
        <p:nvSpPr>
          <p:cNvPr id="3" name="Text 3"/>
          <p:cNvSpPr/>
          <p:nvPr/>
        </p:nvSpPr>
        <p:spPr>
          <a:xfrm>
            <a:off x="838200" y="274320"/>
            <a:ext cx="10515600" cy="600000"/>
          </a:xfrm>
          <a:prstGeom prst="rect">
            <a:avLst/>
          </a:prstGeom>
          <a:noFill/>
          <a:ln/>
        </p:spPr>
        <p:txBody>
          <a:bodyPr wrap="square" rtlCol="0" anchor="t">
            <a:normAutofit/>
          </a:bodyPr>
          <a:lstStyle/>
          <a:p>
            <a:pPr algn="l" marL="0" indent="0">
              <a:buNone/>
            </a:pPr>
            <a:r>
              <a:rPr lang="vi-VN" sz="2400" b="1" dirty="0">
                <a:solidFill>
                  <a:srgbClr val="FFFFFF"/>
                </a:solidFill>
                <a:latin typeface="Cambria" pitchFamily="34" charset="0"/>
                <a:ea typeface="Cambria" pitchFamily="34" charset="-122"/>
                <a:cs typeface="Cambria" pitchFamily="34" charset="-120"/>
              </a:rPr>
              <a:t>GHI NHỚ — CHÉP VÀO VỞ</a:t>
            </a:r>
          </a:p>
        </p:txBody>
      </p:sp>
      <p:sp>
        <p:nvSpPr>
          <p:cNvPr id="4" name="Shape 4"/>
          <p:cNvSpPr/>
          <p:nvPr/>
        </p:nvSpPr>
        <p:spPr>
          <a:xfrm>
            <a:off x="838200" y="1447800"/>
            <a:ext cx="10515600" cy="4267200"/>
          </a:xfrm>
          <a:prstGeom prst="roundRect">
            <a:avLst>
              <a:gd name="adj" fmla="val 3000"/>
            </a:avLst>
          </a:prstGeom>
          <a:solidFill>
            <a:srgbClr val="FFFFFF"/>
          </a:solidFill>
          <a:ln/>
        </p:spPr>
        <p:txBody>
          <a:bodyPr/>
          <a:lstStyle/>
          <a:p>
            <a:pPr>
              <a:buNone/>
            </a:pPr>
            <a:endParaRPr lang="vi-VN"/>
          </a:p>
        </p:txBody>
      </p:sp>
      <p:sp>
        <p:nvSpPr>
          <p:cNvPr id="5" name="Text 5"/>
          <p:cNvSpPr/>
          <p:nvPr/>
        </p:nvSpPr>
        <p:spPr>
          <a:xfrm>
            <a:off x="1112520" y="1676400"/>
            <a:ext cx="9966960" cy="3800000"/>
          </a:xfrm>
          <a:prstGeom prst="rect">
            <a:avLst/>
          </a:prstGeom>
          <a:noFill/>
          <a:ln/>
        </p:spPr>
        <p:txBody>
          <a:bodyPr wrap="square" rtlCol="0" anchor="t">
            <a:normAutofit/>
          </a:bodyPr>
          <a:lstStyle/>
          <a:p>
            <a:pPr algn="l" marL="216000" indent="-216000">
              <a:buFont typeface="Arial" pitchFamily="34" charset="0"/>
              <a:buChar char="•"/>
            </a:pPr>
            <a:r>
              <a:rPr lang="vi-VN" sz="1350" dirty="0">
                <a:solidFill>
                  <a:srgbClr val="1F2A24"/>
                </a:solidFill>
                <a:latin typeface="Calibri" pitchFamily="34" charset="0"/>
                <a:ea typeface="Calibri" pitchFamily="34" charset="-122"/>
                <a:cs typeface="Calibri" pitchFamily="34" charset="-120"/>
              </a:rPr>
              <a:t>Sau 01/7/2025, TP.HCM (hợp nhất với Bình Dương, Bà Rịa – Vũng Tàu) có thêm tài nguyên biển – đảo, làng nghề và sinh thái, tạo điều kiện phát triển du lịch đa dạng.</a:t>
            </a:r>
          </a:p>
          <a:p>
            <a:pPr algn="l" marL="216000" indent="-216000">
              <a:spcBef>
                <a:spcPts val="900"/>
              </a:spcBef>
              <a:buFont typeface="Arial" pitchFamily="34" charset="0"/>
              <a:buChar char="•"/>
            </a:pPr>
            <a:r>
              <a:rPr lang="vi-VN" sz="1350" dirty="0">
                <a:solidFill>
                  <a:srgbClr val="1F2A24"/>
                </a:solidFill>
                <a:latin typeface="Calibri" pitchFamily="34" charset="0"/>
                <a:ea typeface="Calibri" pitchFamily="34" charset="-122"/>
                <a:cs typeface="Calibri" pitchFamily="34" charset="-120"/>
              </a:rPr>
              <a:t>Đa dạng hoá sản phẩm: văn hoá – lịch sử, ẩm thực, hội nghị – sự kiện, đường thuỷ, biển – đảo, làng nghề, sinh thái.</a:t>
            </a:r>
          </a:p>
          <a:p>
            <a:pPr algn="l" marL="216000" indent="-216000">
              <a:spcBef>
                <a:spcPts val="900"/>
              </a:spcBef>
              <a:buFont typeface="Arial" pitchFamily="34" charset="0"/>
              <a:buChar char="•"/>
            </a:pPr>
            <a:r>
              <a:rPr lang="vi-VN" sz="1350" dirty="0">
                <a:solidFill>
                  <a:srgbClr val="1F2A24"/>
                </a:solidFill>
                <a:latin typeface="Calibri" pitchFamily="34" charset="0"/>
                <a:ea typeface="Calibri" pitchFamily="34" charset="-122"/>
                <a:cs typeface="Calibri" pitchFamily="34" charset="-120"/>
              </a:rPr>
              <a:t>Phát triển xanh, bền vững: bảo vệ hệ sinh thái và di tích, kiểm soát sức chứa, chia sẻ lợi ích với cộng đồng.</a:t>
            </a:r>
          </a:p>
          <a:p>
            <a:pPr algn="l" marL="216000" indent="-216000">
              <a:spcBef>
                <a:spcPts val="900"/>
              </a:spcBef>
              <a:buFont typeface="Arial" pitchFamily="34" charset="0"/>
              <a:buChar char="•"/>
            </a:pPr>
            <a:r>
              <a:rPr lang="vi-VN" sz="1350" dirty="0">
                <a:solidFill>
                  <a:srgbClr val="1F2A24"/>
                </a:solidFill>
                <a:latin typeface="Calibri" pitchFamily="34" charset="0"/>
                <a:ea typeface="Calibri" pitchFamily="34" charset="-122"/>
                <a:cs typeface="Calibri" pitchFamily="34" charset="-120"/>
              </a:rPr>
              <a:t>Du lịch thông minh &amp; liên kết vùng: ứng dụng công nghệ số, giao thông kết nối, liên kết với các tỉnh trong vùng và cả nước.</a:t>
            </a:r>
          </a:p>
          <a:p>
            <a:pPr algn="l" marL="216000" indent="-216000">
              <a:spcBef>
                <a:spcPts val="900"/>
              </a:spcBef>
              <a:buFont typeface="Arial" pitchFamily="34" charset="0"/>
              <a:buChar char="•"/>
            </a:pPr>
            <a:r>
              <a:rPr lang="vi-VN" sz="1350" dirty="0">
                <a:solidFill>
                  <a:srgbClr val="1F2A24"/>
                </a:solidFill>
                <a:latin typeface="Calibri" pitchFamily="34" charset="0"/>
                <a:ea typeface="Calibri" pitchFamily="34" charset="-122"/>
                <a:cs typeface="Calibri" pitchFamily="34" charset="-120"/>
              </a:rPr>
              <a:t>Con người là trung tâm: nâng cao nhân lực, quảng bá hình ảnh; học sinh giới thiệu đúng về địa phương và ứng xử văn minh.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Củng cố">
    <p:bg>
      <p:bgPr>
        <a:solidFill>
          <a:srgbClr val="FAF8F2"/>
        </a:solidFill>
        <a:effectLst/>
      </p:bgPr>
    </p:bg>
    <p:spTree>
      <p:nvGrpSpPr>
        <p:cNvPr id="1" name=""/>
        <p:cNvGrpSpPr/>
        <p:nvPr/>
      </p:nvGrpSpPr>
      <p:grpSpPr>
        <a:xfrm>
          <a:off x="0" y="0"/>
          <a:ext cx="0" cy="0"/>
          <a:chOff x="0" y="0"/>
          <a:chExt cx="0" cy="0"/>
        </a:xfrm>
      </p:grpSpPr>
      <p:sp>
        <p:nvSpPr>
          <p:cNvPr id="2" name="Shape 2"/>
          <p:cNvSpPr/>
          <p:nvPr/>
        </p:nvSpPr>
        <p:spPr>
          <a:xfrm>
            <a:off x="0" y="0"/>
            <a:ext cx="12192000" cy="1143000"/>
          </a:xfrm>
          <a:prstGeom prst="rect">
            <a:avLst/>
          </a:prstGeom>
          <a:solidFill>
            <a:srgbClr val="0E3B2E"/>
          </a:solidFill>
          <a:ln/>
        </p:spPr>
        <p:txBody>
          <a:bodyPr/>
          <a:lstStyle/>
          <a:p>
            <a:pPr>
              <a:buNone/>
            </a:pPr>
            <a:endParaRPr lang="vi-VN"/>
          </a:p>
        </p:txBody>
      </p:sp>
      <p:sp>
        <p:nvSpPr>
          <p:cNvPr id="3" name="Text 3"/>
          <p:cNvSpPr/>
          <p:nvPr/>
        </p:nvSpPr>
        <p:spPr>
          <a:xfrm>
            <a:off x="838200" y="274320"/>
            <a:ext cx="10515600" cy="600000"/>
          </a:xfrm>
          <a:prstGeom prst="rect">
            <a:avLst/>
          </a:prstGeom>
          <a:noFill/>
          <a:ln/>
        </p:spPr>
        <p:txBody>
          <a:bodyPr wrap="square" rtlCol="0" anchor="t">
            <a:normAutofit/>
          </a:bodyPr>
          <a:lstStyle/>
          <a:p>
            <a:pPr algn="l" marL="0" indent="0">
              <a:buNone/>
            </a:pPr>
            <a:r>
              <a:rPr lang="vi-VN" sz="2400" b="1" dirty="0">
                <a:solidFill>
                  <a:srgbClr val="D9A441"/>
                </a:solidFill>
                <a:latin typeface="Cambria" pitchFamily="34" charset="0"/>
                <a:ea typeface="Cambria" pitchFamily="34" charset="-122"/>
                <a:cs typeface="Cambria" pitchFamily="34" charset="-120"/>
              </a:rPr>
              <a:t>CỦNG CỐ — HỎI NHANH</a:t>
            </a:r>
          </a:p>
        </p:txBody>
      </p:sp>
      <p:sp>
        <p:nvSpPr>
          <p:cNvPr id="4" name="Shape 4"/>
          <p:cNvSpPr/>
          <p:nvPr/>
        </p:nvSpPr>
        <p:spPr>
          <a:xfrm>
            <a:off x="838200" y="1524000"/>
            <a:ext cx="640080" cy="640080"/>
          </a:xfrm>
          <a:prstGeom prst="roundRect">
            <a:avLst>
              <a:gd name="adj" fmla="val 50000"/>
            </a:avLst>
          </a:prstGeom>
          <a:solidFill>
            <a:srgbClr val="D9A441"/>
          </a:solidFill>
          <a:ln/>
        </p:spPr>
        <p:txBody>
          <a:bodyPr/>
          <a:lstStyle/>
          <a:p>
            <a:pPr>
              <a:buNone/>
            </a:pPr>
            <a:endParaRPr lang="vi-VN"/>
          </a:p>
        </p:txBody>
      </p:sp>
      <p:sp>
        <p:nvSpPr>
          <p:cNvPr id="5" name="Text 5"/>
          <p:cNvSpPr/>
          <p:nvPr/>
        </p:nvSpPr>
        <p:spPr>
          <a:xfrm>
            <a:off x="838200" y="1661160"/>
            <a:ext cx="640080" cy="400000"/>
          </a:xfrm>
          <a:prstGeom prst="rect">
            <a:avLst/>
          </a:prstGeom>
          <a:noFill/>
          <a:ln/>
        </p:spPr>
        <p:txBody>
          <a:bodyPr wrap="square" rtlCol="0" anchor="t">
            <a:normAutofit/>
          </a:bodyPr>
          <a:lstStyle/>
          <a:p>
            <a:pPr algn="ctr" marL="0" indent="0">
              <a:buNone/>
            </a:pPr>
            <a:r>
              <a:rPr lang="vi-VN" sz="1600" b="1" dirty="0">
                <a:solidFill>
                  <a:srgbClr val="0E3B2E"/>
                </a:solidFill>
                <a:latin typeface="Cambria" pitchFamily="34" charset="0"/>
                <a:ea typeface="Cambria" pitchFamily="34" charset="-122"/>
                <a:cs typeface="Cambria" pitchFamily="34" charset="-120"/>
              </a:rPr>
              <a:t>1</a:t>
            </a:r>
          </a:p>
        </p:txBody>
      </p:sp>
      <p:sp>
        <p:nvSpPr>
          <p:cNvPr id="6" name="Text 6"/>
          <p:cNvSpPr/>
          <p:nvPr/>
        </p:nvSpPr>
        <p:spPr>
          <a:xfrm>
            <a:off x="1676400" y="1615440"/>
            <a:ext cx="9677400" cy="640080"/>
          </a:xfrm>
          <a:prstGeom prst="rect">
            <a:avLst/>
          </a:prstGeom>
          <a:noFill/>
          <a:ln/>
        </p:spPr>
        <p:txBody>
          <a:bodyPr wrap="square" rtlCol="0" anchor="ctr">
            <a:normAutofit/>
          </a:bodyPr>
          <a:lstStyle/>
          <a:p>
            <a:pPr algn="l" marL="0" indent="0">
              <a:buNone/>
            </a:pPr>
            <a:r>
              <a:rPr lang="vi-VN" sz="1400" dirty="0">
                <a:solidFill>
                  <a:srgbClr val="1F2A24"/>
                </a:solidFill>
                <a:latin typeface="Calibri" pitchFamily="34" charset="0"/>
                <a:ea typeface="Calibri" pitchFamily="34" charset="-122"/>
                <a:cs typeface="Calibri" pitchFamily="34" charset="-120"/>
              </a:rPr>
              <a:t>Sau hợp nhất, bản đồ du lịch TP.HCM có thêm những vùng nào?</a:t>
            </a:r>
          </a:p>
        </p:txBody>
      </p:sp>
      <p:sp>
        <p:nvSpPr>
          <p:cNvPr id="7" name="Shape 7"/>
          <p:cNvSpPr/>
          <p:nvPr/>
        </p:nvSpPr>
        <p:spPr>
          <a:xfrm>
            <a:off x="838200" y="2374000"/>
            <a:ext cx="640080" cy="640080"/>
          </a:xfrm>
          <a:prstGeom prst="roundRect">
            <a:avLst>
              <a:gd name="adj" fmla="val 50000"/>
            </a:avLst>
          </a:prstGeom>
          <a:solidFill>
            <a:srgbClr val="D9A441"/>
          </a:solidFill>
          <a:ln/>
        </p:spPr>
        <p:txBody>
          <a:bodyPr/>
          <a:lstStyle/>
          <a:p>
            <a:pPr>
              <a:buNone/>
            </a:pPr>
            <a:endParaRPr lang="vi-VN"/>
          </a:p>
        </p:txBody>
      </p:sp>
      <p:sp>
        <p:nvSpPr>
          <p:cNvPr id="8" name="Text 8"/>
          <p:cNvSpPr/>
          <p:nvPr/>
        </p:nvSpPr>
        <p:spPr>
          <a:xfrm>
            <a:off x="838200" y="2511160"/>
            <a:ext cx="640080" cy="400000"/>
          </a:xfrm>
          <a:prstGeom prst="rect">
            <a:avLst/>
          </a:prstGeom>
          <a:noFill/>
          <a:ln/>
        </p:spPr>
        <p:txBody>
          <a:bodyPr wrap="square" rtlCol="0" anchor="t">
            <a:normAutofit/>
          </a:bodyPr>
          <a:lstStyle/>
          <a:p>
            <a:pPr algn="ctr" marL="0" indent="0">
              <a:buNone/>
            </a:pPr>
            <a:r>
              <a:rPr lang="vi-VN" sz="1600" b="1" dirty="0">
                <a:solidFill>
                  <a:srgbClr val="0E3B2E"/>
                </a:solidFill>
                <a:latin typeface="Cambria" pitchFamily="34" charset="0"/>
                <a:ea typeface="Cambria" pitchFamily="34" charset="-122"/>
                <a:cs typeface="Cambria" pitchFamily="34" charset="-120"/>
              </a:rPr>
              <a:t>2</a:t>
            </a:r>
          </a:p>
        </p:txBody>
      </p:sp>
      <p:sp>
        <p:nvSpPr>
          <p:cNvPr id="9" name="Text 9"/>
          <p:cNvSpPr/>
          <p:nvPr/>
        </p:nvSpPr>
        <p:spPr>
          <a:xfrm>
            <a:off x="1676400" y="2465440"/>
            <a:ext cx="9677400" cy="640080"/>
          </a:xfrm>
          <a:prstGeom prst="rect">
            <a:avLst/>
          </a:prstGeom>
          <a:noFill/>
          <a:ln/>
        </p:spPr>
        <p:txBody>
          <a:bodyPr wrap="square" rtlCol="0" anchor="ctr">
            <a:normAutofit/>
          </a:bodyPr>
          <a:lstStyle/>
          <a:p>
            <a:pPr algn="l" marL="0" indent="0">
              <a:buNone/>
            </a:pPr>
            <a:r>
              <a:rPr lang="vi-VN" sz="1400" dirty="0">
                <a:solidFill>
                  <a:srgbClr val="1F2A24"/>
                </a:solidFill>
                <a:latin typeface="Calibri" pitchFamily="34" charset="0"/>
                <a:ea typeface="Calibri" pitchFamily="34" charset="-122"/>
                <a:cs typeface="Calibri" pitchFamily="34" charset="-120"/>
              </a:rPr>
              <a:t>Kể tên 4 sản phẩm du lịch thế mạnh của Thành phố.</a:t>
            </a:r>
          </a:p>
        </p:txBody>
      </p:sp>
      <p:sp>
        <p:nvSpPr>
          <p:cNvPr id="10" name="Shape 10"/>
          <p:cNvSpPr/>
          <p:nvPr/>
        </p:nvSpPr>
        <p:spPr>
          <a:xfrm>
            <a:off x="838200" y="3224000"/>
            <a:ext cx="640080" cy="640080"/>
          </a:xfrm>
          <a:prstGeom prst="roundRect">
            <a:avLst>
              <a:gd name="adj" fmla="val 50000"/>
            </a:avLst>
          </a:prstGeom>
          <a:solidFill>
            <a:srgbClr val="D9A441"/>
          </a:solidFill>
          <a:ln/>
        </p:spPr>
        <p:txBody>
          <a:bodyPr/>
          <a:lstStyle/>
          <a:p>
            <a:pPr>
              <a:buNone/>
            </a:pPr>
            <a:endParaRPr lang="vi-VN"/>
          </a:p>
        </p:txBody>
      </p:sp>
      <p:sp>
        <p:nvSpPr>
          <p:cNvPr id="11" name="Text 11"/>
          <p:cNvSpPr/>
          <p:nvPr/>
        </p:nvSpPr>
        <p:spPr>
          <a:xfrm>
            <a:off x="838200" y="3361160"/>
            <a:ext cx="640080" cy="400000"/>
          </a:xfrm>
          <a:prstGeom prst="rect">
            <a:avLst/>
          </a:prstGeom>
          <a:noFill/>
          <a:ln/>
        </p:spPr>
        <p:txBody>
          <a:bodyPr wrap="square" rtlCol="0" anchor="t">
            <a:normAutofit/>
          </a:bodyPr>
          <a:lstStyle/>
          <a:p>
            <a:pPr algn="ctr" marL="0" indent="0">
              <a:buNone/>
            </a:pPr>
            <a:r>
              <a:rPr lang="vi-VN" sz="1600" b="1" dirty="0">
                <a:solidFill>
                  <a:srgbClr val="0E3B2E"/>
                </a:solidFill>
                <a:latin typeface="Cambria" pitchFamily="34" charset="0"/>
                <a:ea typeface="Cambria" pitchFamily="34" charset="-122"/>
                <a:cs typeface="Cambria" pitchFamily="34" charset="-120"/>
              </a:rPr>
              <a:t>3</a:t>
            </a:r>
          </a:p>
        </p:txBody>
      </p:sp>
      <p:sp>
        <p:nvSpPr>
          <p:cNvPr id="12" name="Text 12"/>
          <p:cNvSpPr/>
          <p:nvPr/>
        </p:nvSpPr>
        <p:spPr>
          <a:xfrm>
            <a:off x="1676400" y="3315440"/>
            <a:ext cx="9677400" cy="640080"/>
          </a:xfrm>
          <a:prstGeom prst="rect">
            <a:avLst/>
          </a:prstGeom>
          <a:noFill/>
          <a:ln/>
        </p:spPr>
        <p:txBody>
          <a:bodyPr wrap="square" rtlCol="0" anchor="ctr">
            <a:normAutofit/>
          </a:bodyPr>
          <a:lstStyle/>
          <a:p>
            <a:pPr algn="l" marL="0" indent="0">
              <a:buNone/>
            </a:pPr>
            <a:r>
              <a:rPr lang="vi-VN" sz="1400" dirty="0">
                <a:solidFill>
                  <a:srgbClr val="1F2A24"/>
                </a:solidFill>
                <a:latin typeface="Calibri" pitchFamily="34" charset="0"/>
                <a:ea typeface="Calibri" pitchFamily="34" charset="-122"/>
                <a:cs typeface="Calibri" pitchFamily="34" charset="-120"/>
              </a:rPr>
              <a:t>Vì sao phải kiểm soát sức chứa ở Côn Đảo và rừng ngập mặn Cần Giờ?</a:t>
            </a:r>
          </a:p>
        </p:txBody>
      </p:sp>
      <p:sp>
        <p:nvSpPr>
          <p:cNvPr id="13" name="Shape 13"/>
          <p:cNvSpPr/>
          <p:nvPr/>
        </p:nvSpPr>
        <p:spPr>
          <a:xfrm>
            <a:off x="838200" y="4074000"/>
            <a:ext cx="640080" cy="640080"/>
          </a:xfrm>
          <a:prstGeom prst="roundRect">
            <a:avLst>
              <a:gd name="adj" fmla="val 50000"/>
            </a:avLst>
          </a:prstGeom>
          <a:solidFill>
            <a:srgbClr val="D9A441"/>
          </a:solidFill>
          <a:ln/>
        </p:spPr>
        <p:txBody>
          <a:bodyPr/>
          <a:lstStyle/>
          <a:p>
            <a:pPr>
              <a:buNone/>
            </a:pPr>
            <a:endParaRPr lang="vi-VN"/>
          </a:p>
        </p:txBody>
      </p:sp>
      <p:sp>
        <p:nvSpPr>
          <p:cNvPr id="14" name="Text 14"/>
          <p:cNvSpPr/>
          <p:nvPr/>
        </p:nvSpPr>
        <p:spPr>
          <a:xfrm>
            <a:off x="838200" y="4211160"/>
            <a:ext cx="640080" cy="400000"/>
          </a:xfrm>
          <a:prstGeom prst="rect">
            <a:avLst/>
          </a:prstGeom>
          <a:noFill/>
          <a:ln/>
        </p:spPr>
        <p:txBody>
          <a:bodyPr wrap="square" rtlCol="0" anchor="t">
            <a:normAutofit/>
          </a:bodyPr>
          <a:lstStyle/>
          <a:p>
            <a:pPr algn="ctr" marL="0" indent="0">
              <a:buNone/>
            </a:pPr>
            <a:r>
              <a:rPr lang="vi-VN" sz="1600" b="1" dirty="0">
                <a:solidFill>
                  <a:srgbClr val="0E3B2E"/>
                </a:solidFill>
                <a:latin typeface="Cambria" pitchFamily="34" charset="0"/>
                <a:ea typeface="Cambria" pitchFamily="34" charset="-122"/>
                <a:cs typeface="Cambria" pitchFamily="34" charset="-120"/>
              </a:rPr>
              <a:t>4</a:t>
            </a:r>
          </a:p>
        </p:txBody>
      </p:sp>
      <p:sp>
        <p:nvSpPr>
          <p:cNvPr id="15" name="Text 15"/>
          <p:cNvSpPr/>
          <p:nvPr/>
        </p:nvSpPr>
        <p:spPr>
          <a:xfrm>
            <a:off x="1676400" y="4165440"/>
            <a:ext cx="9677400" cy="640080"/>
          </a:xfrm>
          <a:prstGeom prst="rect">
            <a:avLst/>
          </a:prstGeom>
          <a:noFill/>
          <a:ln/>
        </p:spPr>
        <p:txBody>
          <a:bodyPr wrap="square" rtlCol="0" anchor="ctr">
            <a:normAutofit/>
          </a:bodyPr>
          <a:lstStyle/>
          <a:p>
            <a:pPr algn="l" marL="0" indent="0">
              <a:buNone/>
            </a:pPr>
            <a:r>
              <a:rPr lang="vi-VN" sz="1400" dirty="0">
                <a:solidFill>
                  <a:srgbClr val="1F2A24"/>
                </a:solidFill>
                <a:latin typeface="Calibri" pitchFamily="34" charset="0"/>
                <a:ea typeface="Calibri" pitchFamily="34" charset="-122"/>
                <a:cs typeface="Calibri" pitchFamily="34" charset="-120"/>
              </a:rPr>
              <a:t>Nêu 2 việc học sinh có thể làm để quảng bá hình ảnh Thành phố.</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Trang kết">
    <p:bg>
      <p:bgPr>
        <a:solidFill>
          <a:srgbClr val="0E3B2E"/>
        </a:solidFill>
        <a:effectLst/>
      </p:bgPr>
    </p:bg>
    <p:spTree>
      <p:nvGrpSpPr>
        <p:cNvPr id="1" name=""/>
        <p:cNvGrpSpPr/>
        <p:nvPr/>
      </p:nvGrpSpPr>
      <p:grpSpPr>
        <a:xfrm>
          <a:off x="0" y="0"/>
          <a:ext cx="0" cy="0"/>
          <a:chOff x="0" y="0"/>
          <a:chExt cx="0" cy="0"/>
        </a:xfrm>
      </p:grpSpPr>
      <p:sp>
        <p:nvSpPr>
          <p:cNvPr id="2" name="Shape 2"/>
          <p:cNvSpPr/>
          <p:nvPr/>
        </p:nvSpPr>
        <p:spPr>
          <a:xfrm>
            <a:off x="4953000" y="2971800"/>
            <a:ext cx="2286000" cy="45720"/>
          </a:xfrm>
          <a:prstGeom prst="rect">
            <a:avLst/>
          </a:prstGeom>
          <a:solidFill>
            <a:srgbClr val="D9A441"/>
          </a:solidFill>
          <a:ln/>
        </p:spPr>
        <p:txBody>
          <a:bodyPr/>
          <a:lstStyle/>
          <a:p>
            <a:pPr>
              <a:buNone/>
            </a:pPr>
            <a:endParaRPr lang="vi-VN"/>
          </a:p>
        </p:txBody>
      </p:sp>
      <p:sp>
        <p:nvSpPr>
          <p:cNvPr id="3" name="Text 3"/>
          <p:cNvSpPr/>
          <p:nvPr/>
        </p:nvSpPr>
        <p:spPr>
          <a:xfrm>
            <a:off x="838200" y="2133600"/>
            <a:ext cx="10515600" cy="800000"/>
          </a:xfrm>
          <a:prstGeom prst="rect">
            <a:avLst/>
          </a:prstGeom>
          <a:noFill/>
          <a:ln/>
        </p:spPr>
        <p:txBody>
          <a:bodyPr wrap="square" rtlCol="0" anchor="t">
            <a:normAutofit/>
          </a:bodyPr>
          <a:lstStyle/>
          <a:p>
            <a:pPr algn="ctr" marL="0" indent="0">
              <a:buNone/>
            </a:pPr>
            <a:r>
              <a:rPr lang="vi-VN" sz="2800" b="1" dirty="0">
                <a:solidFill>
                  <a:srgbClr val="FFFFFF"/>
                </a:solidFill>
                <a:latin typeface="Cambria" pitchFamily="34" charset="0"/>
                <a:ea typeface="Cambria" pitchFamily="34" charset="-122"/>
                <a:cs typeface="Cambria" pitchFamily="34" charset="-120"/>
              </a:rPr>
              <a:t>CẢM ƠN CÁC EM ĐÃ THEO DÕI BÀI HỌC</a:t>
            </a:r>
          </a:p>
        </p:txBody>
      </p:sp>
      <p:sp>
        <p:nvSpPr>
          <p:cNvPr id="4" name="Text 4"/>
          <p:cNvSpPr/>
          <p:nvPr/>
        </p:nvSpPr>
        <p:spPr>
          <a:xfrm>
            <a:off x="838200" y="3352800"/>
            <a:ext cx="10515600" cy="500000"/>
          </a:xfrm>
          <a:prstGeom prst="rect">
            <a:avLst/>
          </a:prstGeom>
          <a:noFill/>
          <a:ln/>
        </p:spPr>
        <p:txBody>
          <a:bodyPr wrap="square" rtlCol="0" anchor="t">
            <a:normAutofit/>
          </a:bodyPr>
          <a:lstStyle/>
          <a:p>
            <a:pPr algn="ctr" marL="0" indent="0">
              <a:buNone/>
            </a:pPr>
            <a:r>
              <a:rPr lang="vi-VN" sz="1500" i="1" dirty="0">
                <a:solidFill>
                  <a:srgbClr val="F4EFE3"/>
                </a:solidFill>
                <a:latin typeface="Calibri" pitchFamily="34" charset="0"/>
                <a:ea typeface="Calibri" pitchFamily="34" charset="-122"/>
                <a:cs typeface="Calibri" pitchFamily="34" charset="-120"/>
              </a:rPr>
              <a:t>CHỦ ĐỀ 1: PHÁT TRIỂN DU LỊCH Ở THÀNH PHỐ HỒ CHÍ MINH</a:t>
            </a:r>
          </a:p>
        </p:txBody>
      </p:sp>
      <p:sp>
        <p:nvSpPr>
          <p:cNvPr id="5" name="Text 5"/>
          <p:cNvSpPr/>
          <p:nvPr/>
        </p:nvSpPr>
        <p:spPr>
          <a:xfrm>
            <a:off x="838200" y="4114800"/>
            <a:ext cx="10515600" cy="400000"/>
          </a:xfrm>
          <a:prstGeom prst="rect">
            <a:avLst/>
          </a:prstGeom>
          <a:noFill/>
          <a:ln/>
        </p:spPr>
        <p:txBody>
          <a:bodyPr wrap="square" rtlCol="0" anchor="t">
            <a:normAutofit/>
          </a:bodyPr>
          <a:lstStyle/>
          <a:p>
            <a:pPr algn="ctr" marL="0" indent="0">
              <a:buNone/>
            </a:pPr>
            <a:r>
              <a:rPr lang="vi-VN" sz="1200" dirty="0">
                <a:solidFill>
                  <a:srgbClr val="D9A441"/>
                </a:solidFill>
                <a:latin typeface="Calibri" pitchFamily="34" charset="0"/>
                <a:ea typeface="Calibri" pitchFamily="34" charset="-122"/>
                <a:cs typeface="Calibri" pitchFamily="34" charset="-120"/>
              </a:rPr>
              <a:t>GV: TĂNG NGỌC PHỤNG · THPT NGUYỄN KHUYẾN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Slides>10</Slides>
</Properties>
</file>

<file path=docProps/core.xml><?xml version="1.0" encoding="utf-8"?>
<cp:coreProperties xmlns:cp="http://schemas.openxmlformats.org/package/2006/metadata/core-properties" xmlns:dc="http://purl.org/dc/elements/1.1/" xmlns:dcterms="http://purl.org/dc/terms/" xmlns:xsi="http://www.w3.org/2001/XMLSchema-instance">
  <dc:title>Nội dung 4: Định hướng phát triển du lịch ở Thành phố Hồ Chí Minh</dc:title>
  <dc:creator>Tăng Ngọc Phụng</dc:creator>
  <cp:lastModifiedBy>Tăng Ngọc Phụng</cp:lastModifiedBy>
  <dcterms:created xsi:type="dcterms:W3CDTF">2026-09-15T21:12:46Z</dcterms:created>
  <dcterms:modified xsi:type="dcterms:W3CDTF">2026-09-15T21:12:46Z</dcterms:modified>
</cp:coreProperties>
</file>