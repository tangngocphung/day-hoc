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Trang bìa">
    <p:bg>
      <p:bgPr>
        <a:solidFill>
          <a:srgbClr val="0E3B2E"/>
        </a:solidFill>
        <a:effectLst/>
      </p:bgPr>
    </p:bg>
    <p:spTree>
      <p:nvGrpSpPr>
        <p:cNvPr id="1" name=""/>
        <p:cNvGrpSpPr/>
        <p:nvPr/>
      </p:nvGrpSpPr>
      <p:grpSpPr>
        <a:xfrm>
          <a:off x="0" y="0"/>
          <a:ext cx="0" cy="0"/>
          <a:chOff x="0" y="0"/>
          <a:chExt cx="0" cy="0"/>
        </a:xfrm>
      </p:grpSpPr>
      <p:sp>
        <p:nvSpPr>
          <p:cNvPr id="2" name="Shape 2"/>
          <p:cNvSpPr/>
          <p:nvPr/>
        </p:nvSpPr>
        <p:spPr>
          <a:xfrm>
            <a:off x="0" y="2286000"/>
            <a:ext cx="12192000" cy="45720"/>
          </a:xfrm>
          <a:prstGeom prst="rect">
            <a:avLst/>
          </a:prstGeom>
          <a:solidFill>
            <a:srgbClr val="D9A441"/>
          </a:solidFill>
          <a:ln/>
        </p:spPr>
        <p:txBody>
          <a:bodyPr/>
          <a:lstStyle/>
          <a:p>
            <a:pPr>
              <a:buNone/>
            </a:pPr>
            <a:endParaRPr lang="vi-VN"/>
          </a:p>
        </p:txBody>
      </p:sp>
      <p:sp>
        <p:nvSpPr>
          <p:cNvPr id="3" name="Text 3"/>
          <p:cNvSpPr/>
          <p:nvPr/>
        </p:nvSpPr>
        <p:spPr>
          <a:xfrm>
            <a:off x="838200" y="1219200"/>
            <a:ext cx="10515600" cy="400000"/>
          </a:xfrm>
          <a:prstGeom prst="rect">
            <a:avLst/>
          </a:prstGeom>
          <a:noFill/>
          <a:ln/>
        </p:spPr>
        <p:txBody>
          <a:bodyPr wrap="square" rtlCol="0" anchor="t">
            <a:normAutofit/>
          </a:bodyPr>
          <a:lstStyle/>
          <a:p>
            <a:pPr algn="ctr" marL="0" indent="0">
              <a:buNone/>
            </a:pPr>
            <a:r>
              <a:rPr lang="vi-VN" sz="1200" b="1" dirty="0">
                <a:solidFill>
                  <a:srgbClr val="D9A441"/>
                </a:solidFill>
                <a:latin typeface="Calibri" pitchFamily="34" charset="0"/>
                <a:ea typeface="Calibri" pitchFamily="34" charset="-122"/>
                <a:cs typeface="Calibri" pitchFamily="34" charset="-120"/>
              </a:rPr>
              <a:t>GIÁO DỤC ĐỊA PHƯƠNG TP. HỒ CHÍ MINH — LỚP 11</a:t>
            </a:r>
          </a:p>
        </p:txBody>
      </p:sp>
      <p:sp>
        <p:nvSpPr>
          <p:cNvPr id="4" name="Text 4"/>
          <p:cNvSpPr/>
          <p:nvPr/>
        </p:nvSpPr>
        <p:spPr>
          <a:xfrm>
            <a:off x="838200" y="1676400"/>
            <a:ext cx="10515600" cy="1200000"/>
          </a:xfrm>
          <a:prstGeom prst="rect">
            <a:avLst/>
          </a:prstGeom>
          <a:noFill/>
          <a:ln/>
        </p:spPr>
        <p:txBody>
          <a:bodyPr wrap="square" rtlCol="0" anchor="t">
            <a:normAutofit/>
          </a:bodyPr>
          <a:lstStyle/>
          <a:p>
            <a:pPr algn="ctr" marL="0" indent="0">
              <a:buNone/>
            </a:pPr>
            <a:r>
              <a:rPr lang="vi-VN" sz="3200" b="1" dirty="0">
                <a:solidFill>
                  <a:srgbClr val="FFFFFF"/>
                </a:solidFill>
                <a:latin typeface="Cambria" pitchFamily="34" charset="0"/>
                <a:ea typeface="Cambria" pitchFamily="34" charset="-122"/>
                <a:cs typeface="Cambria" pitchFamily="34" charset="-120"/>
              </a:rPr>
              <a:t>CHỦ ĐỀ 1: PHÁT TRIỂN DU LỊCH Ở THÀNH PHỐ HỒ CHÍ MINH</a:t>
            </a:r>
          </a:p>
        </p:txBody>
      </p:sp>
      <p:sp>
        <p:nvSpPr>
          <p:cNvPr id="5" name="Text 5"/>
          <p:cNvSpPr/>
          <p:nvPr/>
        </p:nvSpPr>
        <p:spPr>
          <a:xfrm>
            <a:off x="838200" y="2971800"/>
            <a:ext cx="10515600" cy="700000"/>
          </a:xfrm>
          <a:prstGeom prst="rect">
            <a:avLst/>
          </a:prstGeom>
          <a:noFill/>
          <a:ln/>
        </p:spPr>
        <p:txBody>
          <a:bodyPr wrap="square" rtlCol="0" anchor="t">
            <a:normAutofit/>
          </a:bodyPr>
          <a:lstStyle/>
          <a:p>
            <a:pPr algn="ctr" marL="0" indent="0">
              <a:buNone/>
            </a:pPr>
            <a:r>
              <a:rPr lang="vi-VN" sz="1600" i="1" dirty="0">
                <a:solidFill>
                  <a:srgbClr val="F4EFE3"/>
                </a:solidFill>
                <a:latin typeface="Calibri" pitchFamily="34" charset="0"/>
                <a:ea typeface="Calibri" pitchFamily="34" charset="-122"/>
                <a:cs typeface="Calibri" pitchFamily="34" charset="-120"/>
              </a:rPr>
              <a:t>Nội dung 3: Vai trò của du lịch xanh ở Thành phố Hồ Chí Minh</a:t>
            </a:r>
          </a:p>
        </p:txBody>
      </p:sp>
      <p:sp>
        <p:nvSpPr>
          <p:cNvPr id="6" name="Text 6"/>
          <p:cNvSpPr/>
          <p:nvPr/>
        </p:nvSpPr>
        <p:spPr>
          <a:xfrm>
            <a:off x="838200" y="4038600"/>
            <a:ext cx="10515600" cy="400000"/>
          </a:xfrm>
          <a:prstGeom prst="rect">
            <a:avLst/>
          </a:prstGeom>
          <a:noFill/>
          <a:ln/>
        </p:spPr>
        <p:txBody>
          <a:bodyPr wrap="square" rtlCol="0" anchor="t">
            <a:normAutofit/>
          </a:bodyPr>
          <a:lstStyle/>
          <a:p>
            <a:pPr algn="ctr" marL="0" indent="0">
              <a:buNone/>
            </a:pPr>
            <a:r>
              <a:rPr lang="vi-VN" sz="1300" dirty="0">
                <a:solidFill>
                  <a:srgbClr val="D9A441"/>
                </a:solidFill>
                <a:latin typeface="Calibri" pitchFamily="34" charset="0"/>
                <a:ea typeface="Calibri" pitchFamily="34" charset="-122"/>
                <a:cs typeface="Calibri" pitchFamily="34" charset="-120"/>
              </a:rPr>
              <a:t>TIẾT 3 • TUẦN 3 (21/09 – 27/09)</a:t>
            </a:r>
          </a:p>
        </p:txBody>
      </p:sp>
      <p:sp>
        <p:nvSpPr>
          <p:cNvPr id="7" name="Text 7"/>
          <p:cNvSpPr/>
          <p:nvPr/>
        </p:nvSpPr>
        <p:spPr>
          <a:xfrm>
            <a:off x="838200" y="5638800"/>
            <a:ext cx="10515600" cy="400000"/>
          </a:xfrm>
          <a:prstGeom prst="rect">
            <a:avLst/>
          </a:prstGeom>
          <a:noFill/>
          <a:ln/>
        </p:spPr>
        <p:txBody>
          <a:bodyPr wrap="square" rtlCol="0" anchor="t">
            <a:normAutofit/>
          </a:bodyPr>
          <a:lstStyle/>
          <a:p>
            <a:pPr algn="ctr" marL="0" indent="0">
              <a:buNone/>
            </a:pPr>
            <a:r>
              <a:rPr lang="vi-VN" sz="1100" dirty="0">
                <a:solidFill>
                  <a:srgbClr val="F4EFE3"/>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ục tiêu bài học">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838200" y="685800"/>
            <a:ext cx="2286000" cy="68580"/>
          </a:xfrm>
          <a:prstGeom prst="rect">
            <a:avLst/>
          </a:prstGeom>
          <a:solidFill>
            <a:srgbClr val="D9A441"/>
          </a:solidFill>
          <a:ln/>
        </p:spPr>
        <p:txBody>
          <a:bodyPr/>
          <a:lstStyle/>
          <a:p>
            <a:pPr>
              <a:buNone/>
            </a:pPr>
            <a:endParaRPr lang="vi-VN"/>
          </a:p>
        </p:txBody>
      </p:sp>
      <p:sp>
        <p:nvSpPr>
          <p:cNvPr id="3" name="Text 3"/>
          <p:cNvSpPr/>
          <p:nvPr/>
        </p:nvSpPr>
        <p:spPr>
          <a:xfrm>
            <a:off x="838200" y="838200"/>
            <a:ext cx="10515600" cy="600000"/>
          </a:xfrm>
          <a:prstGeom prst="rect">
            <a:avLst/>
          </a:prstGeom>
          <a:noFill/>
          <a:ln/>
        </p:spPr>
        <p:txBody>
          <a:bodyPr wrap="square" rtlCol="0" anchor="t">
            <a:normAutofit/>
          </a:bodyPr>
          <a:lstStyle/>
          <a:p>
            <a:pPr algn="l" marL="0" indent="0">
              <a:buNone/>
            </a:pPr>
            <a:r>
              <a:rPr lang="vi-VN" sz="2600" b="1" dirty="0">
                <a:solidFill>
                  <a:srgbClr val="0E3B2E"/>
                </a:solidFill>
                <a:latin typeface="Cambria" pitchFamily="34" charset="0"/>
                <a:ea typeface="Cambria" pitchFamily="34" charset="-122"/>
                <a:cs typeface="Cambria" pitchFamily="34" charset="-120"/>
              </a:rPr>
              <a:t>MỤC TIÊU BÀI HỌC</a:t>
            </a:r>
          </a:p>
        </p:txBody>
      </p:sp>
      <p:sp>
        <p:nvSpPr>
          <p:cNvPr id="4" name="Shape 4"/>
          <p:cNvSpPr/>
          <p:nvPr/>
        </p:nvSpPr>
        <p:spPr>
          <a:xfrm>
            <a:off x="838200" y="1752600"/>
            <a:ext cx="3352800" cy="2400000"/>
          </a:xfrm>
          <a:prstGeom prst="roundRect">
            <a:avLst>
              <a:gd name="adj" fmla="val 6000"/>
            </a:avLst>
          </a:prstGeom>
          <a:solidFill>
            <a:srgbClr val="FFFFFF"/>
          </a:solidFill>
          <a:ln/>
        </p:spPr>
        <p:txBody>
          <a:bodyPr/>
          <a:lstStyle/>
          <a:p>
            <a:pPr>
              <a:buNone/>
            </a:pPr>
            <a:endParaRPr lang="vi-VN"/>
          </a:p>
        </p:txBody>
      </p:sp>
      <p:sp>
        <p:nvSpPr>
          <p:cNvPr id="5" name="Shape 5"/>
          <p:cNvSpPr/>
          <p:nvPr/>
        </p:nvSpPr>
        <p:spPr>
          <a:xfrm>
            <a:off x="838200" y="1752600"/>
            <a:ext cx="3352800" cy="68580"/>
          </a:xfrm>
          <a:prstGeom prst="rect">
            <a:avLst/>
          </a:prstGeom>
          <a:solidFill>
            <a:srgbClr val="1B5E4A"/>
          </a:solidFill>
          <a:ln/>
        </p:spPr>
        <p:txBody>
          <a:bodyPr/>
          <a:lstStyle/>
          <a:p>
            <a:pPr>
              <a:buNone/>
            </a:pPr>
            <a:endParaRPr lang="vi-VN"/>
          </a:p>
        </p:txBody>
      </p:sp>
      <p:sp>
        <p:nvSpPr>
          <p:cNvPr id="6" name="Text 6"/>
          <p:cNvSpPr/>
          <p:nvPr/>
        </p:nvSpPr>
        <p:spPr>
          <a:xfrm>
            <a:off x="10210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Nhận biết</a:t>
            </a:r>
          </a:p>
        </p:txBody>
      </p:sp>
      <p:sp>
        <p:nvSpPr>
          <p:cNvPr id="7" name="Text 7"/>
          <p:cNvSpPr/>
          <p:nvPr/>
        </p:nvSpPr>
        <p:spPr>
          <a:xfrm>
            <a:off x="10210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Trình bày được khái niệm du lịch xanh và ba trụ cột: môi trường – kinh tế – xã hội, văn hoá.</a:t>
            </a:r>
          </a:p>
        </p:txBody>
      </p:sp>
      <p:sp>
        <p:nvSpPr>
          <p:cNvPr id="8" name="Shape 8"/>
          <p:cNvSpPr/>
          <p:nvPr/>
        </p:nvSpPr>
        <p:spPr>
          <a:xfrm>
            <a:off x="4419600" y="1752600"/>
            <a:ext cx="3352800" cy="2400000"/>
          </a:xfrm>
          <a:prstGeom prst="roundRect">
            <a:avLst>
              <a:gd name="adj" fmla="val 6000"/>
            </a:avLst>
          </a:prstGeom>
          <a:solidFill>
            <a:srgbClr val="FFFFFF"/>
          </a:solidFill>
          <a:ln/>
        </p:spPr>
        <p:txBody>
          <a:bodyPr/>
          <a:lstStyle/>
          <a:p>
            <a:pPr>
              <a:buNone/>
            </a:pPr>
            <a:endParaRPr lang="vi-VN"/>
          </a:p>
        </p:txBody>
      </p:sp>
      <p:sp>
        <p:nvSpPr>
          <p:cNvPr id="9" name="Shape 9"/>
          <p:cNvSpPr/>
          <p:nvPr/>
        </p:nvSpPr>
        <p:spPr>
          <a:xfrm>
            <a:off x="4419600" y="1752600"/>
            <a:ext cx="3352800" cy="68580"/>
          </a:xfrm>
          <a:prstGeom prst="rect">
            <a:avLst/>
          </a:prstGeom>
          <a:solidFill>
            <a:srgbClr val="1B5E4A"/>
          </a:solidFill>
          <a:ln/>
        </p:spPr>
        <p:txBody>
          <a:bodyPr/>
          <a:lstStyle/>
          <a:p>
            <a:pPr>
              <a:buNone/>
            </a:pPr>
            <a:endParaRPr lang="vi-VN"/>
          </a:p>
        </p:txBody>
      </p:sp>
      <p:sp>
        <p:nvSpPr>
          <p:cNvPr id="10" name="Text 10"/>
          <p:cNvSpPr/>
          <p:nvPr/>
        </p:nvSpPr>
        <p:spPr>
          <a:xfrm>
            <a:off x="46024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Phân tích</a:t>
            </a:r>
          </a:p>
        </p:txBody>
      </p:sp>
      <p:sp>
        <p:nvSpPr>
          <p:cNvPr id="11" name="Text 11"/>
          <p:cNvSpPr/>
          <p:nvPr/>
        </p:nvSpPr>
        <p:spPr>
          <a:xfrm>
            <a:off x="46024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So sánh du lịch truyền thống với du lịch xanh; nêu vai trò của du lịch xanh với môi trường và kinh tế – xã hội.</a:t>
            </a:r>
          </a:p>
        </p:txBody>
      </p:sp>
      <p:sp>
        <p:nvSpPr>
          <p:cNvPr id="12" name="Shape 12"/>
          <p:cNvSpPr/>
          <p:nvPr/>
        </p:nvSpPr>
        <p:spPr>
          <a:xfrm>
            <a:off x="8001000" y="1752600"/>
            <a:ext cx="3352800" cy="2400000"/>
          </a:xfrm>
          <a:prstGeom prst="roundRect">
            <a:avLst>
              <a:gd name="adj" fmla="val 6000"/>
            </a:avLst>
          </a:prstGeom>
          <a:solidFill>
            <a:srgbClr val="FFFFFF"/>
          </a:solidFill>
          <a:ln/>
        </p:spPr>
        <p:txBody>
          <a:bodyPr/>
          <a:lstStyle/>
          <a:p>
            <a:pPr>
              <a:buNone/>
            </a:pPr>
            <a:endParaRPr lang="vi-VN"/>
          </a:p>
        </p:txBody>
      </p:sp>
      <p:sp>
        <p:nvSpPr>
          <p:cNvPr id="13" name="Shape 13"/>
          <p:cNvSpPr/>
          <p:nvPr/>
        </p:nvSpPr>
        <p:spPr>
          <a:xfrm>
            <a:off x="8001000" y="1752600"/>
            <a:ext cx="3352800" cy="68580"/>
          </a:xfrm>
          <a:prstGeom prst="rect">
            <a:avLst/>
          </a:prstGeom>
          <a:solidFill>
            <a:srgbClr val="1B5E4A"/>
          </a:solidFill>
          <a:ln/>
        </p:spPr>
        <p:txBody>
          <a:bodyPr/>
          <a:lstStyle/>
          <a:p>
            <a:pPr>
              <a:buNone/>
            </a:pPr>
            <a:endParaRPr lang="vi-VN"/>
          </a:p>
        </p:txBody>
      </p:sp>
      <p:sp>
        <p:nvSpPr>
          <p:cNvPr id="14" name="Text 14"/>
          <p:cNvSpPr/>
          <p:nvPr/>
        </p:nvSpPr>
        <p:spPr>
          <a:xfrm>
            <a:off x="81838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Vận dụng</a:t>
            </a:r>
          </a:p>
        </p:txBody>
      </p:sp>
      <p:sp>
        <p:nvSpPr>
          <p:cNvPr id="15" name="Text 15"/>
          <p:cNvSpPr/>
          <p:nvPr/>
        </p:nvSpPr>
        <p:spPr>
          <a:xfrm>
            <a:off x="81838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Đề xuất được những việc học sinh có thể làm để góp phần phát triển du lịch xanh ở Thành phố.</a:t>
            </a:r>
          </a:p>
        </p:txBody>
      </p:sp>
      <p:sp>
        <p:nvSpPr>
          <p:cNvPr id="16" name="Text 16"/>
          <p:cNvSpPr/>
          <p:nvPr/>
        </p:nvSpPr>
        <p:spPr>
          <a:xfrm>
            <a:off x="838200" y="5715000"/>
            <a:ext cx="10515600" cy="400000"/>
          </a:xfrm>
          <a:prstGeom prst="rect">
            <a:avLst/>
          </a:prstGeom>
          <a:noFill/>
          <a:ln/>
        </p:spPr>
        <p:txBody>
          <a:bodyPr wrap="square" rtlCol="0" anchor="t">
            <a:normAutofit/>
          </a:bodyPr>
          <a:lstStyle/>
          <a:p>
            <a:pPr algn="l" marL="0" indent="0">
              <a:buNone/>
            </a:pPr>
            <a:r>
              <a:rPr lang="vi-VN" sz="1000" i="1" dirty="0">
                <a:solidFill>
                  <a:srgbClr val="5B6B62"/>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u lịch xanh là gì?">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01</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Du lịch xanh là gì?</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Là hình thức du lịch giảm tối đa tác động tiêu cực tới môi trường, tiết kiệm tài nguyên và tôn trọng văn hoá địa phương.</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Gắn với mục tiêu phát triển bền vững: đáp ứng nhu cầu hôm nay mà không làm tổn hại khả năng đáp ứng nhu cầu của thế hệ sau.</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Bao gồm nhiều loại hình: du lịch sinh thái, du lịch nông nghiệp, du lịch cộng đồng, du lịch đường thuỷ ít phát thải…</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Dựa trên ba trụ cột: môi trường – kinh tế – xã hội, văn hoá.</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u lịch truyền thống &amp; du lịch xanh">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02</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Du lịch truyền thống &amp; du lịch xanh</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Truyền thống: chú trọng số lượng khách, doanh thu nhanh; dễ gây rác thải, quá tải điểm đến, tiêu tốn năng lượng.</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Du lịch xanh: chú trọng chất lượng trải nghiệm, bảo tồn tự nhiên, chia sẻ lợi ích với người dân địa phương.</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Hai hình thức không loại trừ nhau — xu hướng là “xanh hoá” dần các sản phẩm du lịch hiện có.</a:t>
            </a:r>
          </a:p>
        </p:txBody>
      </p:sp>
      <p:sp>
        <p:nvSpPr>
          <p:cNvPr id="6" name="Shape 6"/>
          <p:cNvSpPr/>
          <p:nvPr/>
        </p:nvSpPr>
        <p:spPr>
          <a:xfrm>
            <a:off x="838200" y="4876800"/>
            <a:ext cx="10515600" cy="1000000"/>
          </a:xfrm>
          <a:prstGeom prst="roundRect">
            <a:avLst>
              <a:gd name="adj" fmla="val 4000"/>
            </a:avLst>
          </a:prstGeom>
          <a:solidFill>
            <a:srgbClr val="ECEFE1"/>
          </a:solidFill>
          <a:ln/>
        </p:spPr>
        <p:txBody>
          <a:bodyPr/>
          <a:lstStyle/>
          <a:p>
            <a:pPr>
              <a:buNone/>
            </a:pPr>
            <a:endParaRPr lang="vi-VN"/>
          </a:p>
        </p:txBody>
      </p:sp>
      <p:sp>
        <p:nvSpPr>
          <p:cNvPr id="7" name="Shape 7"/>
          <p:cNvSpPr/>
          <p:nvPr/>
        </p:nvSpPr>
        <p:spPr>
          <a:xfrm>
            <a:off x="838200" y="4876800"/>
            <a:ext cx="45720" cy="1000000"/>
          </a:xfrm>
          <a:prstGeom prst="rect">
            <a:avLst/>
          </a:prstGeom>
          <a:solidFill>
            <a:srgbClr val="D9A441"/>
          </a:solidFill>
          <a:ln/>
        </p:spPr>
        <p:txBody>
          <a:bodyPr/>
          <a:lstStyle/>
          <a:p>
            <a:pPr>
              <a:buNone/>
            </a:pPr>
            <a:endParaRPr lang="vi-VN"/>
          </a:p>
        </p:txBody>
      </p:sp>
      <p:sp>
        <p:nvSpPr>
          <p:cNvPr id="8" name="Text 8"/>
          <p:cNvSpPr/>
          <p:nvPr/>
        </p:nvSpPr>
        <p:spPr>
          <a:xfrm>
            <a:off x="1021080" y="4968240"/>
            <a:ext cx="10149840" cy="300000"/>
          </a:xfrm>
          <a:prstGeom prst="rect">
            <a:avLst/>
          </a:prstGeom>
          <a:noFill/>
          <a:ln/>
        </p:spPr>
        <p:txBody>
          <a:bodyPr wrap="square" rtlCol="0" anchor="t">
            <a:normAutofit/>
          </a:bodyPr>
          <a:lstStyle/>
          <a:p>
            <a:pPr algn="l" marL="0" indent="0">
              <a:buNone/>
            </a:pPr>
            <a:r>
              <a:rPr lang="vi-VN" sz="1000" b="1" dirty="0">
                <a:solidFill>
                  <a:srgbClr val="D9A441"/>
                </a:solidFill>
                <a:latin typeface="Calibri" pitchFamily="34" charset="0"/>
                <a:ea typeface="Calibri" pitchFamily="34" charset="-122"/>
                <a:cs typeface="Calibri" pitchFamily="34" charset="-120"/>
              </a:rPr>
              <a:t>VÍ DỤ</a:t>
            </a:r>
          </a:p>
        </p:txBody>
      </p:sp>
      <p:sp>
        <p:nvSpPr>
          <p:cNvPr id="9" name="Text 9"/>
          <p:cNvSpPr/>
          <p:nvPr/>
        </p:nvSpPr>
        <p:spPr>
          <a:xfrm>
            <a:off x="1021080" y="5257800"/>
            <a:ext cx="10149840" cy="550000"/>
          </a:xfrm>
          <a:prstGeom prst="rect">
            <a:avLst/>
          </a:prstGeom>
          <a:noFill/>
          <a:ln/>
        </p:spPr>
        <p:txBody>
          <a:bodyPr wrap="square" rtlCol="0" anchor="t">
            <a:normAutofit/>
          </a:bodyPr>
          <a:lstStyle/>
          <a:p>
            <a:pPr algn="l" marL="0" indent="0">
              <a:buNone/>
            </a:pPr>
            <a:r>
              <a:rPr lang="vi-VN" sz="1200" i="1" dirty="0">
                <a:solidFill>
                  <a:srgbClr val="5B6B62"/>
                </a:solidFill>
                <a:latin typeface="Calibri" pitchFamily="34" charset="0"/>
                <a:ea typeface="Calibri" pitchFamily="34" charset="-122"/>
                <a:cs typeface="Calibri" pitchFamily="34" charset="-120"/>
              </a:rPr>
              <a:t>Một tour tham quan trung tâm bằng xe buýt điện hoặc buýt đường sông trên sông Sài Gòn giúp giảm khí thải so với việc mỗi nhóm khách thuê riêng một xe ô tô.</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Vai trò đối với môi trường">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03</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Vai trò đối với môi trường</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Tạo nguồn lực và động lực để bảo tồn hệ sinh thái như rừng ngập mặn Cần Giờ, Vườn quốc gia Côn Đảo.</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Giảm rác thải nhựa, tiết kiệm nước – điện tại cơ sở lưu trú, nhà hàng, khu du lịch.</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Nâng cao ý thức bảo vệ môi trường của cả du khách và cộng đồng.</a:t>
            </a:r>
          </a:p>
        </p:txBody>
      </p:sp>
      <p:sp>
        <p:nvSpPr>
          <p:cNvPr id="6" name="Shape 6"/>
          <p:cNvSpPr/>
          <p:nvPr/>
        </p:nvSpPr>
        <p:spPr>
          <a:xfrm>
            <a:off x="838200" y="4876800"/>
            <a:ext cx="10515600" cy="1000000"/>
          </a:xfrm>
          <a:prstGeom prst="roundRect">
            <a:avLst>
              <a:gd name="adj" fmla="val 4000"/>
            </a:avLst>
          </a:prstGeom>
          <a:solidFill>
            <a:srgbClr val="ECEFE1"/>
          </a:solidFill>
          <a:ln/>
        </p:spPr>
        <p:txBody>
          <a:bodyPr/>
          <a:lstStyle/>
          <a:p>
            <a:pPr>
              <a:buNone/>
            </a:pPr>
            <a:endParaRPr lang="vi-VN"/>
          </a:p>
        </p:txBody>
      </p:sp>
      <p:sp>
        <p:nvSpPr>
          <p:cNvPr id="7" name="Shape 7"/>
          <p:cNvSpPr/>
          <p:nvPr/>
        </p:nvSpPr>
        <p:spPr>
          <a:xfrm>
            <a:off x="838200" y="4876800"/>
            <a:ext cx="45720" cy="1000000"/>
          </a:xfrm>
          <a:prstGeom prst="rect">
            <a:avLst/>
          </a:prstGeom>
          <a:solidFill>
            <a:srgbClr val="D9A441"/>
          </a:solidFill>
          <a:ln/>
        </p:spPr>
        <p:txBody>
          <a:bodyPr/>
          <a:lstStyle/>
          <a:p>
            <a:pPr>
              <a:buNone/>
            </a:pPr>
            <a:endParaRPr lang="vi-VN"/>
          </a:p>
        </p:txBody>
      </p:sp>
      <p:sp>
        <p:nvSpPr>
          <p:cNvPr id="8" name="Text 8"/>
          <p:cNvSpPr/>
          <p:nvPr/>
        </p:nvSpPr>
        <p:spPr>
          <a:xfrm>
            <a:off x="1021080" y="4968240"/>
            <a:ext cx="10149840" cy="300000"/>
          </a:xfrm>
          <a:prstGeom prst="rect">
            <a:avLst/>
          </a:prstGeom>
          <a:noFill/>
          <a:ln/>
        </p:spPr>
        <p:txBody>
          <a:bodyPr wrap="square" rtlCol="0" anchor="t">
            <a:normAutofit/>
          </a:bodyPr>
          <a:lstStyle/>
          <a:p>
            <a:pPr algn="l" marL="0" indent="0">
              <a:buNone/>
            </a:pPr>
            <a:r>
              <a:rPr lang="vi-VN" sz="1000" b="1" dirty="0">
                <a:solidFill>
                  <a:srgbClr val="D9A441"/>
                </a:solidFill>
                <a:latin typeface="Calibri" pitchFamily="34" charset="0"/>
                <a:ea typeface="Calibri" pitchFamily="34" charset="-122"/>
                <a:cs typeface="Calibri" pitchFamily="34" charset="-120"/>
              </a:rPr>
              <a:t>VÍ DỤ</a:t>
            </a:r>
          </a:p>
        </p:txBody>
      </p:sp>
      <p:sp>
        <p:nvSpPr>
          <p:cNvPr id="9" name="Text 9"/>
          <p:cNvSpPr/>
          <p:nvPr/>
        </p:nvSpPr>
        <p:spPr>
          <a:xfrm>
            <a:off x="1021080" y="5257800"/>
            <a:ext cx="10149840" cy="550000"/>
          </a:xfrm>
          <a:prstGeom prst="rect">
            <a:avLst/>
          </a:prstGeom>
          <a:noFill/>
          <a:ln/>
        </p:spPr>
        <p:txBody>
          <a:bodyPr wrap="square" rtlCol="0" anchor="t">
            <a:normAutofit/>
          </a:bodyPr>
          <a:lstStyle/>
          <a:p>
            <a:pPr algn="l" marL="0" indent="0">
              <a:buNone/>
            </a:pPr>
            <a:r>
              <a:rPr lang="vi-VN" sz="1200" i="1" dirty="0">
                <a:solidFill>
                  <a:srgbClr val="5B6B62"/>
                </a:solidFill>
                <a:latin typeface="Calibri" pitchFamily="34" charset="0"/>
                <a:ea typeface="Calibri" pitchFamily="34" charset="-122"/>
                <a:cs typeface="Calibri" pitchFamily="34" charset="-120"/>
              </a:rPr>
              <a:t>Ở Khu dự trữ sinh quyển Cần Giờ, du khách được hướng dẫn quan sát hệ sinh thái rừng ngập mặn và các loài động vật mà không cho ăn, không xả rác — vừa trải nghiệm vừa góp phần bảo tồn.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Vai trò đối với kinh tế – xã hội">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04</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Vai trò đối với kinh tế – xã hội</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Tạo việc làm và sinh kế cho người dân vùng ven, nông thôn (homestay, hướng dẫn viên địa phương, đặc sản).</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Nâng cao hình ảnh và sức cạnh tranh của Thành phố với nhóm du khách quan tâm đến môi trường.</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Góp phần giữ gìn văn hoá: làng nghề, ẩm thực, lễ hội truyền thống được khai thác có chọn lọc.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Thuận lợi &amp; thách thức ở TP.HCM">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05</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Thuận lợi &amp; thách thức ở TP.HCM</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Thuận lợi: hệ thống sông – kênh rạch, rừng ngập mặn, biển đảo, vùng nông nghiệp ven đô; lượng khách lớn; hạ tầng giao thông công cộng đang mở rộng (metro, buýt điện).</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Thách thức: ô nhiễm không khí – nguồn nước, ùn tắc, rác thải; chi phí đầu tư công nghệ xanh cao; nhận thức của một bộ phận du khách và doanh nghiệp còn hạn chế.</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Cần sự phối hợp giữa chính quyền – doanh nghiệp – cộng đồng – du khách.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Ghi nhớ">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1B5E4A"/>
          </a:solidFill>
          <a:ln/>
        </p:spPr>
        <p:txBody>
          <a:bodyPr/>
          <a:lstStyle/>
          <a:p>
            <a:pPr>
              <a:buNone/>
            </a:pPr>
            <a:endParaRPr lang="vi-VN"/>
          </a:p>
        </p:txBody>
      </p:sp>
      <p:sp>
        <p:nvSpPr>
          <p:cNvPr id="3" name="Text 3"/>
          <p:cNvSpPr/>
          <p:nvPr/>
        </p:nvSpPr>
        <p:spPr>
          <a:xfrm>
            <a:off x="838200" y="274320"/>
            <a:ext cx="10515600" cy="600000"/>
          </a:xfrm>
          <a:prstGeom prst="rect">
            <a:avLst/>
          </a:prstGeom>
          <a:noFill/>
          <a:ln/>
        </p:spPr>
        <p:txBody>
          <a:bodyPr wrap="square" rtlCol="0" anchor="t">
            <a:normAutofit/>
          </a:bodyPr>
          <a:lstStyle/>
          <a:p>
            <a:pPr algn="l" marL="0" indent="0">
              <a:buNone/>
            </a:pPr>
            <a:r>
              <a:rPr lang="vi-VN" sz="2400" b="1" dirty="0">
                <a:solidFill>
                  <a:srgbClr val="FFFFFF"/>
                </a:solidFill>
                <a:latin typeface="Cambria" pitchFamily="34" charset="0"/>
                <a:ea typeface="Cambria" pitchFamily="34" charset="-122"/>
                <a:cs typeface="Cambria" pitchFamily="34" charset="-120"/>
              </a:rPr>
              <a:t>GHI NHỚ — CHÉP VÀO VỞ</a:t>
            </a:r>
          </a:p>
        </p:txBody>
      </p:sp>
      <p:sp>
        <p:nvSpPr>
          <p:cNvPr id="4" name="Shape 4"/>
          <p:cNvSpPr/>
          <p:nvPr/>
        </p:nvSpPr>
        <p:spPr>
          <a:xfrm>
            <a:off x="838200" y="1447800"/>
            <a:ext cx="10515600" cy="4267200"/>
          </a:xfrm>
          <a:prstGeom prst="roundRect">
            <a:avLst>
              <a:gd name="adj" fmla="val 3000"/>
            </a:avLst>
          </a:prstGeom>
          <a:solidFill>
            <a:srgbClr val="FFFFFF"/>
          </a:solidFill>
          <a:ln/>
        </p:spPr>
        <p:txBody>
          <a:bodyPr/>
          <a:lstStyle/>
          <a:p>
            <a:pPr>
              <a:buNone/>
            </a:pPr>
            <a:endParaRPr lang="vi-VN"/>
          </a:p>
        </p:txBody>
      </p:sp>
      <p:sp>
        <p:nvSpPr>
          <p:cNvPr id="5" name="Text 5"/>
          <p:cNvSpPr/>
          <p:nvPr/>
        </p:nvSpPr>
        <p:spPr>
          <a:xfrm>
            <a:off x="1112520" y="1676400"/>
            <a:ext cx="9966960" cy="3800000"/>
          </a:xfrm>
          <a:prstGeom prst="rect">
            <a:avLst/>
          </a:prstGeom>
          <a:noFill/>
          <a:ln/>
        </p:spPr>
        <p:txBody>
          <a:bodyPr wrap="square" rtlCol="0" anchor="t">
            <a:normAutofit/>
          </a:bodyPr>
          <a:lstStyle/>
          <a:p>
            <a:pPr algn="l" marL="216000" indent="-216000">
              <a:buFont typeface="Arial" pitchFamily="34" charset="0"/>
              <a:buChar char="•"/>
            </a:pPr>
            <a:r>
              <a:rPr lang="vi-VN" sz="1350" dirty="0">
                <a:solidFill>
                  <a:srgbClr val="1F2A24"/>
                </a:solidFill>
                <a:latin typeface="Calibri" pitchFamily="34" charset="0"/>
                <a:ea typeface="Calibri" pitchFamily="34" charset="-122"/>
                <a:cs typeface="Calibri" pitchFamily="34" charset="-120"/>
              </a:rPr>
              <a:t>Du lịch xanh là du lịch giảm thiểu tác động tiêu cực tới môi trường, tiết kiệm tài nguyên, tôn trọng văn hoá và mang lại lợi ích cho cộng đồng địa phương.</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Du lịch xanh dựa trên 3 trụ cột: môi trường – kinh tế – xã hội, văn hoá.</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Vai trò: bảo tồn hệ sinh thái (Cần Giờ, Côn Đảo…), tạo sinh kế cho người dân, nâng cao hình ảnh và sức cạnh tranh của Thành phố.</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Thuận lợi: tài nguyên sông nước, rừng ngập mặn, biển đảo, nông nghiệp ven đô; thách thức: ô nhiễm, ùn tắc, rác thải, chi phí đầu tư.</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Mỗi học sinh có thể góp phần bằng các hành động: đi chung hoặc dùng giao thông công cộng, hạn chế nhựa dùng một lần, không xả rác, tôn trọng văn hoá nơi đến.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ủng cố">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74320"/>
            <a:ext cx="10515600" cy="6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CỦNG CỐ — HỎI NHANH</a:t>
            </a:r>
          </a:p>
        </p:txBody>
      </p:sp>
      <p:sp>
        <p:nvSpPr>
          <p:cNvPr id="4" name="Shape 4"/>
          <p:cNvSpPr/>
          <p:nvPr/>
        </p:nvSpPr>
        <p:spPr>
          <a:xfrm>
            <a:off x="838200" y="1524000"/>
            <a:ext cx="640080" cy="640080"/>
          </a:xfrm>
          <a:prstGeom prst="roundRect">
            <a:avLst>
              <a:gd name="adj" fmla="val 50000"/>
            </a:avLst>
          </a:prstGeom>
          <a:solidFill>
            <a:srgbClr val="D9A441"/>
          </a:solidFill>
          <a:ln/>
        </p:spPr>
        <p:txBody>
          <a:bodyPr/>
          <a:lstStyle/>
          <a:p>
            <a:pPr>
              <a:buNone/>
            </a:pPr>
            <a:endParaRPr lang="vi-VN"/>
          </a:p>
        </p:txBody>
      </p:sp>
      <p:sp>
        <p:nvSpPr>
          <p:cNvPr id="5" name="Text 5"/>
          <p:cNvSpPr/>
          <p:nvPr/>
        </p:nvSpPr>
        <p:spPr>
          <a:xfrm>
            <a:off x="838200" y="166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1</a:t>
            </a:r>
          </a:p>
        </p:txBody>
      </p:sp>
      <p:sp>
        <p:nvSpPr>
          <p:cNvPr id="6" name="Text 6"/>
          <p:cNvSpPr/>
          <p:nvPr/>
        </p:nvSpPr>
        <p:spPr>
          <a:xfrm>
            <a:off x="1676400" y="161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Du lịch xanh là gì? Kể tên ba trụ cột của du lịch xanh.</a:t>
            </a:r>
          </a:p>
        </p:txBody>
      </p:sp>
      <p:sp>
        <p:nvSpPr>
          <p:cNvPr id="7" name="Shape 7"/>
          <p:cNvSpPr/>
          <p:nvPr/>
        </p:nvSpPr>
        <p:spPr>
          <a:xfrm>
            <a:off x="838200" y="2374000"/>
            <a:ext cx="640080" cy="640080"/>
          </a:xfrm>
          <a:prstGeom prst="roundRect">
            <a:avLst>
              <a:gd name="adj" fmla="val 50000"/>
            </a:avLst>
          </a:prstGeom>
          <a:solidFill>
            <a:srgbClr val="D9A441"/>
          </a:solidFill>
          <a:ln/>
        </p:spPr>
        <p:txBody>
          <a:bodyPr/>
          <a:lstStyle/>
          <a:p>
            <a:pPr>
              <a:buNone/>
            </a:pPr>
            <a:endParaRPr lang="vi-VN"/>
          </a:p>
        </p:txBody>
      </p:sp>
      <p:sp>
        <p:nvSpPr>
          <p:cNvPr id="8" name="Text 8"/>
          <p:cNvSpPr/>
          <p:nvPr/>
        </p:nvSpPr>
        <p:spPr>
          <a:xfrm>
            <a:off x="838200" y="251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2</a:t>
            </a:r>
          </a:p>
        </p:txBody>
      </p:sp>
      <p:sp>
        <p:nvSpPr>
          <p:cNvPr id="9" name="Text 9"/>
          <p:cNvSpPr/>
          <p:nvPr/>
        </p:nvSpPr>
        <p:spPr>
          <a:xfrm>
            <a:off x="1676400" y="246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Nêu hai điểm khác nhau cơ bản giữa du lịch truyền thống và du lịch xanh.</a:t>
            </a:r>
          </a:p>
        </p:txBody>
      </p:sp>
      <p:sp>
        <p:nvSpPr>
          <p:cNvPr id="10" name="Shape 10"/>
          <p:cNvSpPr/>
          <p:nvPr/>
        </p:nvSpPr>
        <p:spPr>
          <a:xfrm>
            <a:off x="838200" y="3224000"/>
            <a:ext cx="640080" cy="640080"/>
          </a:xfrm>
          <a:prstGeom prst="roundRect">
            <a:avLst>
              <a:gd name="adj" fmla="val 50000"/>
            </a:avLst>
          </a:prstGeom>
          <a:solidFill>
            <a:srgbClr val="D9A441"/>
          </a:solidFill>
          <a:ln/>
        </p:spPr>
        <p:txBody>
          <a:bodyPr/>
          <a:lstStyle/>
          <a:p>
            <a:pPr>
              <a:buNone/>
            </a:pPr>
            <a:endParaRPr lang="vi-VN"/>
          </a:p>
        </p:txBody>
      </p:sp>
      <p:sp>
        <p:nvSpPr>
          <p:cNvPr id="11" name="Text 11"/>
          <p:cNvSpPr/>
          <p:nvPr/>
        </p:nvSpPr>
        <p:spPr>
          <a:xfrm>
            <a:off x="838200" y="336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3</a:t>
            </a:r>
          </a:p>
        </p:txBody>
      </p:sp>
      <p:sp>
        <p:nvSpPr>
          <p:cNvPr id="12" name="Text 12"/>
          <p:cNvSpPr/>
          <p:nvPr/>
        </p:nvSpPr>
        <p:spPr>
          <a:xfrm>
            <a:off x="1676400" y="331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Vì sao phát triển du lịch xanh lại giúp bảo tồn rừng ngập mặn Cần Giờ?</a:t>
            </a:r>
          </a:p>
        </p:txBody>
      </p:sp>
      <p:sp>
        <p:nvSpPr>
          <p:cNvPr id="13" name="Shape 13"/>
          <p:cNvSpPr/>
          <p:nvPr/>
        </p:nvSpPr>
        <p:spPr>
          <a:xfrm>
            <a:off x="838200" y="4074000"/>
            <a:ext cx="640080" cy="640080"/>
          </a:xfrm>
          <a:prstGeom prst="roundRect">
            <a:avLst>
              <a:gd name="adj" fmla="val 50000"/>
            </a:avLst>
          </a:prstGeom>
          <a:solidFill>
            <a:srgbClr val="D9A441"/>
          </a:solidFill>
          <a:ln/>
        </p:spPr>
        <p:txBody>
          <a:bodyPr/>
          <a:lstStyle/>
          <a:p>
            <a:pPr>
              <a:buNone/>
            </a:pPr>
            <a:endParaRPr lang="vi-VN"/>
          </a:p>
        </p:txBody>
      </p:sp>
      <p:sp>
        <p:nvSpPr>
          <p:cNvPr id="14" name="Text 14"/>
          <p:cNvSpPr/>
          <p:nvPr/>
        </p:nvSpPr>
        <p:spPr>
          <a:xfrm>
            <a:off x="838200" y="421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4</a:t>
            </a:r>
          </a:p>
        </p:txBody>
      </p:sp>
      <p:sp>
        <p:nvSpPr>
          <p:cNvPr id="15" name="Text 15"/>
          <p:cNvSpPr/>
          <p:nvPr/>
        </p:nvSpPr>
        <p:spPr>
          <a:xfrm>
            <a:off x="1676400" y="416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Hãy đề xuất 3 việc lớp em có thể làm để chuyến đi trải nghiệm trở nên “xanh” hơn.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rang kết">
    <p:bg>
      <p:bgPr>
        <a:solidFill>
          <a:srgbClr val="0E3B2E"/>
        </a:solidFill>
        <a:effectLst/>
      </p:bgPr>
    </p:bg>
    <p:spTree>
      <p:nvGrpSpPr>
        <p:cNvPr id="1" name=""/>
        <p:cNvGrpSpPr/>
        <p:nvPr/>
      </p:nvGrpSpPr>
      <p:grpSpPr>
        <a:xfrm>
          <a:off x="0" y="0"/>
          <a:ext cx="0" cy="0"/>
          <a:chOff x="0" y="0"/>
          <a:chExt cx="0" cy="0"/>
        </a:xfrm>
      </p:grpSpPr>
      <p:sp>
        <p:nvSpPr>
          <p:cNvPr id="2" name="Shape 2"/>
          <p:cNvSpPr/>
          <p:nvPr/>
        </p:nvSpPr>
        <p:spPr>
          <a:xfrm>
            <a:off x="4953000" y="2971800"/>
            <a:ext cx="2286000" cy="45720"/>
          </a:xfrm>
          <a:prstGeom prst="rect">
            <a:avLst/>
          </a:prstGeom>
          <a:solidFill>
            <a:srgbClr val="D9A441"/>
          </a:solidFill>
          <a:ln/>
        </p:spPr>
        <p:txBody>
          <a:bodyPr/>
          <a:lstStyle/>
          <a:p>
            <a:pPr>
              <a:buNone/>
            </a:pPr>
            <a:endParaRPr lang="vi-VN"/>
          </a:p>
        </p:txBody>
      </p:sp>
      <p:sp>
        <p:nvSpPr>
          <p:cNvPr id="3" name="Text 3"/>
          <p:cNvSpPr/>
          <p:nvPr/>
        </p:nvSpPr>
        <p:spPr>
          <a:xfrm>
            <a:off x="838200" y="2133600"/>
            <a:ext cx="10515600" cy="800000"/>
          </a:xfrm>
          <a:prstGeom prst="rect">
            <a:avLst/>
          </a:prstGeom>
          <a:noFill/>
          <a:ln/>
        </p:spPr>
        <p:txBody>
          <a:bodyPr wrap="square" rtlCol="0" anchor="t">
            <a:normAutofit/>
          </a:bodyPr>
          <a:lstStyle/>
          <a:p>
            <a:pPr algn="ctr" marL="0" indent="0">
              <a:buNone/>
            </a:pPr>
            <a:r>
              <a:rPr lang="vi-VN" sz="2800" b="1" dirty="0">
                <a:solidFill>
                  <a:srgbClr val="FFFFFF"/>
                </a:solidFill>
                <a:latin typeface="Cambria" pitchFamily="34" charset="0"/>
                <a:ea typeface="Cambria" pitchFamily="34" charset="-122"/>
                <a:cs typeface="Cambria" pitchFamily="34" charset="-120"/>
              </a:rPr>
              <a:t>CẢM ƠN CÁC EM ĐÃ THEO DÕI BÀI HỌC</a:t>
            </a:r>
          </a:p>
        </p:txBody>
      </p:sp>
      <p:sp>
        <p:nvSpPr>
          <p:cNvPr id="4" name="Text 4"/>
          <p:cNvSpPr/>
          <p:nvPr/>
        </p:nvSpPr>
        <p:spPr>
          <a:xfrm>
            <a:off x="838200" y="3352800"/>
            <a:ext cx="10515600" cy="500000"/>
          </a:xfrm>
          <a:prstGeom prst="rect">
            <a:avLst/>
          </a:prstGeom>
          <a:noFill/>
          <a:ln/>
        </p:spPr>
        <p:txBody>
          <a:bodyPr wrap="square" rtlCol="0" anchor="t">
            <a:normAutofit/>
          </a:bodyPr>
          <a:lstStyle/>
          <a:p>
            <a:pPr algn="ctr" marL="0" indent="0">
              <a:buNone/>
            </a:pPr>
            <a:r>
              <a:rPr lang="vi-VN" sz="1500" i="1" dirty="0">
                <a:solidFill>
                  <a:srgbClr val="F4EFE3"/>
                </a:solidFill>
                <a:latin typeface="Calibri" pitchFamily="34" charset="0"/>
                <a:ea typeface="Calibri" pitchFamily="34" charset="-122"/>
                <a:cs typeface="Calibri" pitchFamily="34" charset="-120"/>
              </a:rPr>
              <a:t>CHỦ ĐỀ 1: PHÁT TRIỂN DU LỊCH Ở THÀNH PHỐ HỒ CHÍ MINH</a:t>
            </a:r>
          </a:p>
        </p:txBody>
      </p:sp>
      <p:sp>
        <p:nvSpPr>
          <p:cNvPr id="5" name="Text 5"/>
          <p:cNvSpPr/>
          <p:nvPr/>
        </p:nvSpPr>
        <p:spPr>
          <a:xfrm>
            <a:off x="838200" y="4114800"/>
            <a:ext cx="10515600" cy="400000"/>
          </a:xfrm>
          <a:prstGeom prst="rect">
            <a:avLst/>
          </a:prstGeom>
          <a:noFill/>
          <a:ln/>
        </p:spPr>
        <p:txBody>
          <a:bodyPr wrap="square" rtlCol="0" anchor="t">
            <a:normAutofit/>
          </a:bodyPr>
          <a:lstStyle/>
          <a:p>
            <a:pPr algn="ctr" marL="0" indent="0">
              <a:buNone/>
            </a:pPr>
            <a:r>
              <a:rPr lang="vi-VN" sz="1200" dirty="0">
                <a:solidFill>
                  <a:srgbClr val="D9A441"/>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2026-09-07T21:52:41Z</dcterms:created>
  <dcterms:modified xsi:type="dcterms:W3CDTF">2026-09-07T21:52:41Z</dcterms:modified>
</cp:coreProperties>
</file>