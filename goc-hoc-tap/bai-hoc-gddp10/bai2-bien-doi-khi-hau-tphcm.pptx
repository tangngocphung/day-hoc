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bài bằng chính bức ảnh: hỏi nhanh 'em đã từng đi học về trong cơn mưa như thế này chưa?'.</a:t>
            </a:r>
          </a:p>
          <a:p>
            <a:r>
              <a:t>Giới thiệu bốn con số ở chân trang — cả tiết học sẽ đi giải thích bốn con số đó.</a:t>
            </a:r>
          </a:p>
          <a:p>
            <a:r>
              <a:t>Thời lượng dự kiến: 2 phút.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Đọc lướt bốn mục tiêu, nhấn mạnh mục 04: bài học không dừng ở việc biết, mà phải đổi được một thói quen.</a:t>
            </a:r>
          </a:p>
          <a:p>
            <a:r>
              <a:t>Có thể yêu cầu học sinh chép hai mục tiêu 01 và 03 vào vở.</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Trang này để học sinh hình dung toàn bộ tiết học và tự quản lí thời gian khi làm nhóm.</a:t>
            </a:r>
          </a:p>
          <a:p>
            <a:r>
              <a:t>Nhắc trước: phần nhóm chỉ có 12 phút, nên phải phân công ngay từ khi nhận phiếu.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Gọi 3 – 4 học sinh, mỗi em một câu, không nhận xét đúng sai.</a:t>
            </a:r>
          </a:p>
          <a:p>
            <a:r>
              <a:t>Ghi nhanh vài từ khoá của các em lên góc bảng để cuối tiết đối chiếu lại.</a:t>
            </a:r>
          </a:p>
          <a:p>
            <a:r>
              <a:t>Nếu lớp trầm: hỏi cụ thể 'đường nào trước cổng trường hay ngập?'.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ý: 'Trước khi hỏi vì sao, ta phải chắc chắn là thành phố thật sự đang đổi khác.'</a:t>
            </a:r>
          </a:p>
          <a:p>
            <a:r>
              <a:t>Đọc to bốn tên gọi để học sinh ghi vào vở làm khung của phần 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khung của cả phần A — yêu cầu học sinh kẻ bảng 4 dòng vào vở ngay lúc này.</a:t>
            </a:r>
          </a:p>
          <a:p>
            <a:r>
              <a:t>Nhấn câu chốt ở cuối trang: bốn biểu hiện không độc lập với nhau.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'0,8°C nghe rất nhỏ — vì sao vẫn đáng lo?' Dẫn tới ý: cái tăng mạnh là SỐ NGÀY nắng nóng.</a:t>
            </a:r>
          </a:p>
          <a:p>
            <a:r>
              <a:t>Chuyển tiếp sang trang 08 để giải thích cơ chế đảo nhiệt đô thị.</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Liên hệ tại chỗ: sân trường bê tông so với gốc cây trong sân — chênh nhau rất rõ lúc 12 giờ trưa.</a:t>
            </a:r>
          </a:p>
          <a:p>
            <a:r>
              <a:t>Có thể hỏi: nhà em có mái tôn không, buổi tối phòng có nóng lâu không?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Phép quy đổi 85mm/3 giờ ≈ 28mm/giờ là để học sinh dễ so sánh, không phải số liệu quan trắc.</a:t>
            </a:r>
          </a:p>
          <a:p>
            <a:r>
              <a:t>Hỏi: 'Nếu cống chỉ tải được 28mm mỗi giờ mà mưa đổ 80mm trong một giờ thì phần dư đi đâu?'</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là trang quan trọng nhất của phần A — nên dừng lại lâu và cho học sinh nhắc lại chuỗi 5 bước.</a:t>
            </a:r>
          </a:p>
          <a:p>
            <a:r>
              <a:t>Gọi một em kể tên điểm ngập gần nhà, rồi cùng lớp soi xem mắt xích nào đang tác động ở đó.</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Chỉ vào ba cột: khoảng cách 2013 → 2019 là 6 năm, nhưng mức tăng vẫn tiếp tục.</a:t>
            </a:r>
          </a:p>
          <a:p>
            <a:r>
              <a:t>Nhấn: đường kẻ đứt là báo động 3 — cả ba cột đều vượt qua.</a:t>
            </a:r>
          </a:p>
          <a:p>
            <a:r>
              <a:t>Nói rõ trục bắt đầu từ 1,40m để học sinh không hiểu sai độ lớn.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Dùng hai mũi tên để học sinh hình dung: biển nhích lên vài milimét, còn đất tụt xuống vài centimét.</a:t>
            </a:r>
          </a:p>
          <a:p>
            <a:r>
              <a:t>Đây là cầu nối sang phần B: hút nước ngầm là nguyên nhân chủ quan.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lớp: em đã từng thấy cây ngã hay tốc mái sau một cơn dông chưa?</a:t>
            </a:r>
          </a:p>
          <a:p>
            <a:r>
              <a:t>Phần 'an toàn khi gặp dông lốc' là kiến thức sống — nên đọc chậm và nhắc các em dặn lại gia đình.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ý: 'Đã thấy thành phố đổi khác. Bây giờ mới là câu hỏi khó: vì sao?'</a:t>
            </a:r>
          </a:p>
          <a:p>
            <a:r>
              <a:t>Yêu cầu học sinh kẻ đôi trang vở: một bên khách quan, một bên chủ quan.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Nhấn từ khoá 'hạ lưu – địa hình thấp – giáp biển': ba đặc điểm này khiến thành phố hứng đủ ba nguồn nước.</a:t>
            </a:r>
          </a:p>
          <a:p>
            <a:r>
              <a:t>Câu cuối trang là bản lề để chuyển sang nguyên nhân chủ quan.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Hỏi từng thẻ: 'việc này ai làm?' — để học sinh thấy tất cả đều do con người.</a:t>
            </a:r>
          </a:p>
          <a:p>
            <a:r>
              <a:t>Thẻ 04 nối thẳng với trang 12 (đất lún). Thẻ 06 nối với trang 10 (rác làm nghẽn cống).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Yêu cầu học sinh chép nguyên bảng này vào vở — đây là phần dễ ra kiểm tra nhất.</a:t>
            </a:r>
          </a:p>
          <a:p>
            <a:r>
              <a:t>Có thể che cột phải rồi hỏi lớp điền ngược lại để kiểm tra mức hiểu.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ĐÁP ÁN: 01 chủ quan · 02 khách quan · 03 chủ quan · 04 khách quan · 05 chủ quan · 06 khách quan · 07 chủ quan · 08 khách quan.</a:t>
            </a:r>
          </a:p>
          <a:p>
            <a:r>
              <a:t>Bốn thẻ còn lại trên trang web: bê tông hoá (chủ quan), nền đất trẻ tự nén (khách quan), xả rác xuống cống (chủ quan), bức xạ Mặt Trời thay đổi (khách quan).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Phát phiếu học tập trước khi chiếu trang này.</a:t>
            </a:r>
          </a:p>
          <a:p>
            <a:r>
              <a:t>Bấm giờ rõ ràng: 12 phút làm việc, báo mốc còn 3 phút.</a:t>
            </a:r>
          </a:p>
          <a:p>
            <a:r>
              <a:t>Khi nhóm trình bày, yêu cầu các nhóm khác đặt ít nhất một câu hỏi.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Gợi ý trả lời: mưa cực đoan hơn + cống quá tải + trùng đỉnh triều + nền đất lún + bê tông hoá và kênh rạch bị lấp.</a:t>
            </a:r>
          </a:p>
          <a:p>
            <a:r>
              <a:t>Giao về nhà: chụp hoặc mô tả một điểm ngập gần nhà và chỉ ra nguyên nhân chủ quan tại đó.</a:t>
            </a:r>
          </a:p>
          <a:p>
            <a:r>
              <a:t>Tư liệu video: Môi Trường TV (phần A) · ANTV – Thiên tai hay nhân tai (phần B) · UNDP Việt Nam – Tác động của BĐKH với đô thị (mở rộng).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2726"/>
        </a:solidFill>
        <a:effectLst/>
      </p:bgPr>
    </p:bg>
    <p:spTree>
      <p:nvGrpSpPr>
        <p:cNvPr id="1" name=""/>
        <p:cNvGrpSpPr/>
        <p:nvPr/>
      </p:nvGrpSpPr>
      <p:grpSpPr/>
      <p:pic>
        <p:nvPicPr>
          <p:cNvPr id="2" name="Picture 1" descr="image1.png"/>
          <p:cNvPicPr>
            <a:picLocks noChangeAspect="1"/>
          </p:cNvPicPr>
          <p:nvPr/>
        </p:nvPicPr>
        <p:blipFill>
          <a:blip r:embed="rId2"/>
          <a:stretch>
            <a:fillRect/>
          </a:stretch>
        </p:blipFill>
        <p:spPr>
          <a:xfrm>
            <a:off x="0" y="0"/>
            <a:ext cx="12191695" cy="6861474"/>
          </a:xfrm>
          <a:prstGeom prst="rect">
            <a:avLst/>
          </a:prstGeom>
        </p:spPr>
      </p:pic>
      <p:sp>
        <p:nvSpPr>
          <p:cNvPr id="3" name="Rectangle 2"/>
          <p:cNvSpPr/>
          <p:nvPr/>
        </p:nvSpPr>
        <p:spPr>
          <a:xfrm>
            <a:off x="0" y="0"/>
            <a:ext cx="12191695" cy="6858000"/>
          </a:xfrm>
          <a:prstGeom prst="rect">
            <a:avLst/>
          </a:prstGeom>
          <a:solidFill>
            <a:srgbClr val="0B2321">
              <a:alpha val="7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868680" y="804672"/>
            <a:ext cx="8229600" cy="219456"/>
          </a:xfrm>
          <a:prstGeom prst="rect">
            <a:avLst/>
          </a:prstGeom>
          <a:noFill/>
        </p:spPr>
        <p:txBody>
          <a:bodyPr wrap="square" lIns="0" rIns="0" tIns="0" bIns="0" anchor="t">
            <a:spAutoFit/>
          </a:bodyPr>
          <a:lstStyle/>
          <a:p>
            <a:pPr algn="l">
              <a:lnSpc>
                <a:spcPct val="120000"/>
              </a:lnSpc>
              <a:spcBef>
                <a:spcPts val="0"/>
              </a:spcBef>
              <a:spcAft>
                <a:spcPts val="0"/>
              </a:spcAft>
            </a:pPr>
            <a:r>
              <a:rPr sz="1100" b="1" i="0" spc="170">
                <a:solidFill>
                  <a:srgbClr val="E9825B"/>
                </a:solidFill>
                <a:latin typeface="Segoe UI"/>
              </a:rPr>
              <a:t>GIÁO DỤC ĐỊA PHƯƠNG 10  ·  CHỦ ĐỀ 1  ·  NỘI DUNG 2 – 3</a:t>
            </a:r>
          </a:p>
        </p:txBody>
      </p:sp>
      <p:sp>
        <p:nvSpPr>
          <p:cNvPr id="5" name="Rectangle 4"/>
          <p:cNvSpPr/>
          <p:nvPr/>
        </p:nvSpPr>
        <p:spPr>
          <a:xfrm>
            <a:off x="868680" y="1170432"/>
            <a:ext cx="822960" cy="411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68680" y="1481328"/>
            <a:ext cx="10607040" cy="2377440"/>
          </a:xfrm>
          <a:prstGeom prst="rect">
            <a:avLst/>
          </a:prstGeom>
          <a:noFill/>
        </p:spPr>
        <p:txBody>
          <a:bodyPr wrap="square" lIns="0" rIns="0" tIns="0" bIns="0" anchor="t">
            <a:spAutoFit/>
          </a:bodyPr>
          <a:lstStyle/>
          <a:p>
            <a:pPr algn="l">
              <a:lnSpc>
                <a:spcPct val="106000"/>
              </a:lnSpc>
              <a:spcBef>
                <a:spcPts val="0"/>
              </a:spcBef>
              <a:spcAft>
                <a:spcPts val="0"/>
              </a:spcAft>
            </a:pPr>
            <a:r>
              <a:rPr sz="4100" b="1" i="0">
                <a:solidFill>
                  <a:srgbClr val="FFF8EC"/>
                </a:solidFill>
                <a:latin typeface="Segoe UI"/>
              </a:rPr>
              <a:t>BIỂU HIỆN &amp; NGUYÊN NHÂN</a:t>
            </a:r>
          </a:p>
          <a:p>
            <a:pPr algn="l">
              <a:lnSpc>
                <a:spcPct val="106000"/>
              </a:lnSpc>
              <a:spcBef>
                <a:spcPts val="0"/>
              </a:spcBef>
              <a:spcAft>
                <a:spcPts val="0"/>
              </a:spcAft>
            </a:pPr>
            <a:r>
              <a:rPr sz="4100" b="1" i="0">
                <a:solidFill>
                  <a:srgbClr val="FFF8EC"/>
                </a:solidFill>
                <a:latin typeface="Segoe UI"/>
              </a:rPr>
              <a:t>CỦA BIẾN ĐỔI KHÍ HẬU</a:t>
            </a:r>
          </a:p>
          <a:p>
            <a:pPr algn="l">
              <a:lnSpc>
                <a:spcPct val="130000"/>
              </a:lnSpc>
              <a:spcBef>
                <a:spcPts val="800"/>
              </a:spcBef>
              <a:spcAft>
                <a:spcPts val="0"/>
              </a:spcAft>
            </a:pPr>
            <a:r>
              <a:rPr sz="2100" b="1" i="0" spc="80">
                <a:solidFill>
                  <a:srgbClr val="E9825B"/>
                </a:solidFill>
                <a:latin typeface="Segoe UI"/>
              </a:rPr>
              <a:t>Ở THÀNH PHỐ HỒ CHÍ MINH</a:t>
            </a:r>
          </a:p>
        </p:txBody>
      </p:sp>
      <p:sp>
        <p:nvSpPr>
          <p:cNvPr id="7" name="TextBox 6"/>
          <p:cNvSpPr txBox="1"/>
          <p:nvPr/>
        </p:nvSpPr>
        <p:spPr>
          <a:xfrm>
            <a:off x="868680" y="4041648"/>
            <a:ext cx="6949440" cy="822960"/>
          </a:xfrm>
          <a:prstGeom prst="rect">
            <a:avLst/>
          </a:prstGeom>
          <a:noFill/>
        </p:spPr>
        <p:txBody>
          <a:bodyPr wrap="square" lIns="0" rIns="0" tIns="0" bIns="0" anchor="t">
            <a:spAutoFit/>
          </a:bodyPr>
          <a:lstStyle/>
          <a:p>
            <a:pPr algn="l">
              <a:lnSpc>
                <a:spcPct val="142000"/>
              </a:lnSpc>
              <a:spcBef>
                <a:spcPts val="0"/>
              </a:spcBef>
              <a:spcAft>
                <a:spcPts val="0"/>
              </a:spcAft>
            </a:pPr>
            <a:r>
              <a:rPr sz="1350" b="0" i="0">
                <a:solidFill>
                  <a:srgbClr val="D5E4E1"/>
                </a:solidFill>
                <a:latin typeface="Segoe UI"/>
              </a:rPr>
              <a:t>Thành phố đang nóng hơn, mưa dữ dội hơn và ngập sâu hơn — bài học đi tìm những dấu hiệu ấy trên chính con đường em đi học mỗi ngày, rồi truy ngược lại xem điều gì đứng sau chúng.</a:t>
            </a:r>
          </a:p>
        </p:txBody>
      </p:sp>
      <p:sp>
        <p:nvSpPr>
          <p:cNvPr id="8" name="Rounded Rectangle 7"/>
          <p:cNvSpPr/>
          <p:nvPr/>
        </p:nvSpPr>
        <p:spPr>
          <a:xfrm>
            <a:off x="868680" y="4956048"/>
            <a:ext cx="2514600" cy="932688"/>
          </a:xfrm>
          <a:prstGeom prst="roundRect">
            <a:avLst>
              <a:gd name="adj" fmla="val 8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ectangle 8"/>
          <p:cNvSpPr/>
          <p:nvPr/>
        </p:nvSpPr>
        <p:spPr>
          <a:xfrm>
            <a:off x="868680" y="4956048"/>
            <a:ext cx="2514600"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1088136" y="5120640"/>
            <a:ext cx="2148840" cy="365760"/>
          </a:xfrm>
          <a:prstGeom prst="rect">
            <a:avLst/>
          </a:prstGeom>
          <a:noFill/>
        </p:spPr>
        <p:txBody>
          <a:bodyPr wrap="square" lIns="0" rIns="0" tIns="0" bIns="0" anchor="t">
            <a:spAutoFit/>
          </a:bodyPr>
          <a:lstStyle/>
          <a:p>
            <a:pPr algn="l">
              <a:lnSpc>
                <a:spcPct val="120000"/>
              </a:lnSpc>
              <a:spcBef>
                <a:spcPts val="0"/>
              </a:spcBef>
              <a:spcAft>
                <a:spcPts val="0"/>
              </a:spcAft>
            </a:pPr>
            <a:r>
              <a:rPr sz="1900" b="1" i="0">
                <a:solidFill>
                  <a:srgbClr val="FFF8EC"/>
                </a:solidFill>
                <a:latin typeface="Segoe UI"/>
              </a:rPr>
              <a:t>+0,8°C</a:t>
            </a:r>
          </a:p>
        </p:txBody>
      </p:sp>
      <p:sp>
        <p:nvSpPr>
          <p:cNvPr id="11" name="TextBox 10"/>
          <p:cNvSpPr txBox="1"/>
          <p:nvPr/>
        </p:nvSpPr>
        <p:spPr>
          <a:xfrm>
            <a:off x="1088136" y="5504688"/>
            <a:ext cx="2148840" cy="27432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AFC5C2"/>
                </a:solidFill>
                <a:latin typeface="Segoe UI"/>
              </a:rPr>
              <a:t>Nhiệt độ tăng đến 2030</a:t>
            </a:r>
          </a:p>
        </p:txBody>
      </p:sp>
      <p:sp>
        <p:nvSpPr>
          <p:cNvPr id="12" name="Rounded Rectangle 11"/>
          <p:cNvSpPr/>
          <p:nvPr/>
        </p:nvSpPr>
        <p:spPr>
          <a:xfrm>
            <a:off x="3584448" y="4956048"/>
            <a:ext cx="2514600" cy="932688"/>
          </a:xfrm>
          <a:prstGeom prst="roundRect">
            <a:avLst>
              <a:gd name="adj" fmla="val 8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3584448" y="4956048"/>
            <a:ext cx="2514600"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3803904" y="5120640"/>
            <a:ext cx="2148840" cy="365760"/>
          </a:xfrm>
          <a:prstGeom prst="rect">
            <a:avLst/>
          </a:prstGeom>
          <a:noFill/>
        </p:spPr>
        <p:txBody>
          <a:bodyPr wrap="square" lIns="0" rIns="0" tIns="0" bIns="0" anchor="t">
            <a:spAutoFit/>
          </a:bodyPr>
          <a:lstStyle/>
          <a:p>
            <a:pPr algn="l">
              <a:lnSpc>
                <a:spcPct val="120000"/>
              </a:lnSpc>
              <a:spcBef>
                <a:spcPts val="0"/>
              </a:spcBef>
              <a:spcAft>
                <a:spcPts val="0"/>
              </a:spcAft>
            </a:pPr>
            <a:r>
              <a:rPr sz="1900" b="1" i="0">
                <a:solidFill>
                  <a:srgbClr val="FFF8EC"/>
                </a:solidFill>
                <a:latin typeface="Segoe UI"/>
              </a:rPr>
              <a:t>1,78m</a:t>
            </a:r>
          </a:p>
        </p:txBody>
      </p:sp>
      <p:sp>
        <p:nvSpPr>
          <p:cNvPr id="15" name="TextBox 14"/>
          <p:cNvSpPr txBox="1"/>
          <p:nvPr/>
        </p:nvSpPr>
        <p:spPr>
          <a:xfrm>
            <a:off x="3803904" y="5504688"/>
            <a:ext cx="2148840" cy="27432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AFC5C2"/>
                </a:solidFill>
                <a:latin typeface="Segoe UI"/>
              </a:rPr>
              <a:t>Đỉnh triều kỷ lục 11/2025</a:t>
            </a:r>
          </a:p>
        </p:txBody>
      </p:sp>
      <p:sp>
        <p:nvSpPr>
          <p:cNvPr id="16" name="Rounded Rectangle 15"/>
          <p:cNvSpPr/>
          <p:nvPr/>
        </p:nvSpPr>
        <p:spPr>
          <a:xfrm>
            <a:off x="6300216" y="4956048"/>
            <a:ext cx="2514600" cy="932688"/>
          </a:xfrm>
          <a:prstGeom prst="roundRect">
            <a:avLst>
              <a:gd name="adj" fmla="val 8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6300216" y="4956048"/>
            <a:ext cx="2514600"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19672" y="5120640"/>
            <a:ext cx="2148840" cy="365760"/>
          </a:xfrm>
          <a:prstGeom prst="rect">
            <a:avLst/>
          </a:prstGeom>
          <a:noFill/>
        </p:spPr>
        <p:txBody>
          <a:bodyPr wrap="square" lIns="0" rIns="0" tIns="0" bIns="0" anchor="t">
            <a:spAutoFit/>
          </a:bodyPr>
          <a:lstStyle/>
          <a:p>
            <a:pPr algn="l">
              <a:lnSpc>
                <a:spcPct val="120000"/>
              </a:lnSpc>
              <a:spcBef>
                <a:spcPts val="0"/>
              </a:spcBef>
              <a:spcAft>
                <a:spcPts val="0"/>
              </a:spcAft>
            </a:pPr>
            <a:r>
              <a:rPr sz="1900" b="1" i="0">
                <a:solidFill>
                  <a:srgbClr val="FFF8EC"/>
                </a:solidFill>
                <a:latin typeface="Segoe UI"/>
              </a:rPr>
              <a:t>~2cm/năm</a:t>
            </a:r>
          </a:p>
        </p:txBody>
      </p:sp>
      <p:sp>
        <p:nvSpPr>
          <p:cNvPr id="19" name="TextBox 18"/>
          <p:cNvSpPr txBox="1"/>
          <p:nvPr/>
        </p:nvSpPr>
        <p:spPr>
          <a:xfrm>
            <a:off x="6519672" y="5504688"/>
            <a:ext cx="2148840" cy="27432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AFC5C2"/>
                </a:solidFill>
                <a:latin typeface="Segoe UI"/>
              </a:rPr>
              <a:t>Tốc độ lún nền đất</a:t>
            </a:r>
          </a:p>
        </p:txBody>
      </p:sp>
      <p:sp>
        <p:nvSpPr>
          <p:cNvPr id="20" name="Rounded Rectangle 19"/>
          <p:cNvSpPr/>
          <p:nvPr/>
        </p:nvSpPr>
        <p:spPr>
          <a:xfrm>
            <a:off x="9015984" y="4956048"/>
            <a:ext cx="2514600" cy="932688"/>
          </a:xfrm>
          <a:prstGeom prst="roundRect">
            <a:avLst>
              <a:gd name="adj" fmla="val 8000"/>
            </a:avLst>
          </a:prstGeom>
          <a:solidFill>
            <a:srgbClr val="FFFFFF">
              <a:alpha val="1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9015984" y="4956048"/>
            <a:ext cx="2514600"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235440" y="5120640"/>
            <a:ext cx="2148840" cy="365760"/>
          </a:xfrm>
          <a:prstGeom prst="rect">
            <a:avLst/>
          </a:prstGeom>
          <a:noFill/>
        </p:spPr>
        <p:txBody>
          <a:bodyPr wrap="square" lIns="0" rIns="0" tIns="0" bIns="0" anchor="t">
            <a:spAutoFit/>
          </a:bodyPr>
          <a:lstStyle/>
          <a:p>
            <a:pPr algn="l">
              <a:lnSpc>
                <a:spcPct val="120000"/>
              </a:lnSpc>
              <a:spcBef>
                <a:spcPts val="0"/>
              </a:spcBef>
              <a:spcAft>
                <a:spcPts val="0"/>
              </a:spcAft>
            </a:pPr>
            <a:r>
              <a:rPr sz="1900" b="1" i="0">
                <a:solidFill>
                  <a:srgbClr val="FFF8EC"/>
                </a:solidFill>
                <a:latin typeface="Segoe UI"/>
              </a:rPr>
              <a:t>Top 10</a:t>
            </a:r>
          </a:p>
        </p:txBody>
      </p:sp>
      <p:sp>
        <p:nvSpPr>
          <p:cNvPr id="23" name="TextBox 22"/>
          <p:cNvSpPr txBox="1"/>
          <p:nvPr/>
        </p:nvSpPr>
        <p:spPr>
          <a:xfrm>
            <a:off x="9235440" y="5504688"/>
            <a:ext cx="2148840" cy="274320"/>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AFC5C2"/>
                </a:solidFill>
                <a:latin typeface="Segoe UI"/>
              </a:rPr>
              <a:t>Đô thị bị đe doạ nhất</a:t>
            </a:r>
          </a:p>
        </p:txBody>
      </p:sp>
      <p:sp>
        <p:nvSpPr>
          <p:cNvPr id="24" name="TextBox 23"/>
          <p:cNvSpPr txBox="1"/>
          <p:nvPr/>
        </p:nvSpPr>
        <p:spPr>
          <a:xfrm>
            <a:off x="868680" y="6236208"/>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950" b="0" i="0" spc="90">
                <a:solidFill>
                  <a:srgbClr val="9DB3B0"/>
                </a:solidFill>
                <a:latin typeface="Segoe UI"/>
              </a:rPr>
              <a:t>GV: TĂNG NGỌC PHỤNG  ·  THPT NGUYỄN KHUYẾN</a:t>
            </a:r>
          </a:p>
        </p:txBody>
      </p:sp>
      <p:sp>
        <p:nvSpPr>
          <p:cNvPr id="25" name="TextBox 24"/>
          <p:cNvSpPr txBox="1"/>
          <p:nvPr/>
        </p:nvSpPr>
        <p:spPr>
          <a:xfrm>
            <a:off x="6751015" y="6236208"/>
            <a:ext cx="4572000" cy="237744"/>
          </a:xfrm>
          <a:prstGeom prst="rect">
            <a:avLst/>
          </a:prstGeom>
          <a:noFill/>
        </p:spPr>
        <p:txBody>
          <a:bodyPr wrap="square" lIns="0" rIns="0" tIns="0" bIns="0" anchor="t">
            <a:spAutoFit/>
          </a:bodyPr>
          <a:lstStyle/>
          <a:p>
            <a:pPr algn="r">
              <a:lnSpc>
                <a:spcPct val="120000"/>
              </a:lnSpc>
              <a:spcBef>
                <a:spcPts val="0"/>
              </a:spcBef>
              <a:spcAft>
                <a:spcPts val="0"/>
              </a:spcAft>
            </a:pPr>
            <a:r>
              <a:rPr sz="900" b="0" i="0">
                <a:solidFill>
                  <a:srgbClr val="7E9491"/>
                </a:solidFill>
                <a:latin typeface="Segoe UI"/>
              </a:rPr>
              <a:t>Ảnh: mưa lớn trên đường phố Thành phố Hồ Chí Minh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02</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Mục tiêu bài học</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Sau bài học, học sinh có thể làm được bốn việc dưới đây</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27632"/>
            <a:ext cx="5400903" cy="181051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27632"/>
            <a:ext cx="45720" cy="181051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59536" y="1883664"/>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01</a:t>
            </a:r>
          </a:p>
        </p:txBody>
      </p:sp>
      <p:sp>
        <p:nvSpPr>
          <p:cNvPr id="9" name="TextBox 8"/>
          <p:cNvSpPr txBox="1"/>
          <p:nvPr/>
        </p:nvSpPr>
        <p:spPr>
          <a:xfrm>
            <a:off x="859536" y="2157984"/>
            <a:ext cx="4815687" cy="987551"/>
          </a:xfrm>
          <a:prstGeom prst="rect">
            <a:avLst/>
          </a:prstGeom>
          <a:noFill/>
        </p:spPr>
        <p:txBody>
          <a:bodyPr wrap="square" lIns="0" rIns="0" tIns="0" bIns="0" anchor="t">
            <a:spAutoFit/>
          </a:bodyPr>
          <a:lstStyle/>
          <a:p>
            <a:pPr algn="l">
              <a:lnSpc>
                <a:spcPct val="110000"/>
              </a:lnSpc>
              <a:spcBef>
                <a:spcPts val="0"/>
              </a:spcBef>
              <a:spcAft>
                <a:spcPts val="500"/>
              </a:spcAft>
            </a:pPr>
            <a:r>
              <a:rPr sz="1700" b="1" i="0">
                <a:solidFill>
                  <a:srgbClr val="173A3A"/>
                </a:solidFill>
                <a:latin typeface="Segoe UI"/>
              </a:rPr>
              <a:t>Nhận diện</a:t>
            </a:r>
          </a:p>
          <a:p>
            <a:pPr algn="l">
              <a:lnSpc>
                <a:spcPct val="132000"/>
              </a:lnSpc>
              <a:spcBef>
                <a:spcPts val="0"/>
              </a:spcBef>
              <a:spcAft>
                <a:spcPts val="0"/>
              </a:spcAft>
            </a:pPr>
            <a:r>
              <a:rPr sz="1200" b="0" i="0">
                <a:solidFill>
                  <a:srgbClr val="526D6B"/>
                </a:solidFill>
                <a:latin typeface="Segoe UI"/>
              </a:rPr>
              <a:t>Chỉ ra bốn biểu hiện của biến đổi khí hậu ngay tại Thành phố Hồ Chí Minh: nhiệt độ, mưa, triều cường và thiên tai cực đoan.</a:t>
            </a:r>
          </a:p>
        </p:txBody>
      </p:sp>
      <p:sp>
        <p:nvSpPr>
          <p:cNvPr id="10" name="Rounded Rectangle 9"/>
          <p:cNvSpPr/>
          <p:nvPr/>
        </p:nvSpPr>
        <p:spPr>
          <a:xfrm>
            <a:off x="6223863" y="1627632"/>
            <a:ext cx="5400903" cy="181051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23863" y="1627632"/>
            <a:ext cx="45720" cy="181051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6471" y="1883664"/>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02</a:t>
            </a:r>
          </a:p>
        </p:txBody>
      </p:sp>
      <p:sp>
        <p:nvSpPr>
          <p:cNvPr id="13" name="TextBox 12"/>
          <p:cNvSpPr txBox="1"/>
          <p:nvPr/>
        </p:nvSpPr>
        <p:spPr>
          <a:xfrm>
            <a:off x="6516471" y="2157984"/>
            <a:ext cx="4815687" cy="987551"/>
          </a:xfrm>
          <a:prstGeom prst="rect">
            <a:avLst/>
          </a:prstGeom>
          <a:noFill/>
        </p:spPr>
        <p:txBody>
          <a:bodyPr wrap="square" lIns="0" rIns="0" tIns="0" bIns="0" anchor="t">
            <a:spAutoFit/>
          </a:bodyPr>
          <a:lstStyle/>
          <a:p>
            <a:pPr algn="l">
              <a:lnSpc>
                <a:spcPct val="110000"/>
              </a:lnSpc>
              <a:spcBef>
                <a:spcPts val="0"/>
              </a:spcBef>
              <a:spcAft>
                <a:spcPts val="500"/>
              </a:spcAft>
            </a:pPr>
            <a:r>
              <a:rPr sz="1700" b="1" i="0">
                <a:solidFill>
                  <a:srgbClr val="173A3A"/>
                </a:solidFill>
                <a:latin typeface="Segoe UI"/>
              </a:rPr>
              <a:t>Phân tích</a:t>
            </a:r>
          </a:p>
          <a:p>
            <a:pPr algn="l">
              <a:lnSpc>
                <a:spcPct val="132000"/>
              </a:lnSpc>
              <a:spcBef>
                <a:spcPts val="0"/>
              </a:spcBef>
              <a:spcAft>
                <a:spcPts val="0"/>
              </a:spcAft>
            </a:pPr>
            <a:r>
              <a:rPr sz="1200" b="0" i="0">
                <a:solidFill>
                  <a:srgbClr val="526D6B"/>
                </a:solidFill>
                <a:latin typeface="Segoe UI"/>
              </a:rPr>
              <a:t>Giải thích được vì sao mưa lớn gặp đỉnh triều lại gây ngập sâu hơn và lâu rút hơn so với trước đây.</a:t>
            </a:r>
          </a:p>
        </p:txBody>
      </p:sp>
      <p:sp>
        <p:nvSpPr>
          <p:cNvPr id="14" name="Rounded Rectangle 13"/>
          <p:cNvSpPr/>
          <p:nvPr/>
        </p:nvSpPr>
        <p:spPr>
          <a:xfrm>
            <a:off x="566928" y="3657600"/>
            <a:ext cx="5400903" cy="181051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66928" y="3657600"/>
            <a:ext cx="45720" cy="181051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913632"/>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03</a:t>
            </a:r>
          </a:p>
        </p:txBody>
      </p:sp>
      <p:sp>
        <p:nvSpPr>
          <p:cNvPr id="17" name="TextBox 16"/>
          <p:cNvSpPr txBox="1"/>
          <p:nvPr/>
        </p:nvSpPr>
        <p:spPr>
          <a:xfrm>
            <a:off x="859536" y="4187952"/>
            <a:ext cx="4815687" cy="987551"/>
          </a:xfrm>
          <a:prstGeom prst="rect">
            <a:avLst/>
          </a:prstGeom>
          <a:noFill/>
        </p:spPr>
        <p:txBody>
          <a:bodyPr wrap="square" lIns="0" rIns="0" tIns="0" bIns="0" anchor="t">
            <a:spAutoFit/>
          </a:bodyPr>
          <a:lstStyle/>
          <a:p>
            <a:pPr algn="l">
              <a:lnSpc>
                <a:spcPct val="110000"/>
              </a:lnSpc>
              <a:spcBef>
                <a:spcPts val="0"/>
              </a:spcBef>
              <a:spcAft>
                <a:spcPts val="500"/>
              </a:spcAft>
            </a:pPr>
            <a:r>
              <a:rPr sz="1700" b="1" i="0">
                <a:solidFill>
                  <a:srgbClr val="173A3A"/>
                </a:solidFill>
                <a:latin typeface="Segoe UI"/>
              </a:rPr>
              <a:t>Phân biệt</a:t>
            </a:r>
          </a:p>
          <a:p>
            <a:pPr algn="l">
              <a:lnSpc>
                <a:spcPct val="132000"/>
              </a:lnSpc>
              <a:spcBef>
                <a:spcPts val="0"/>
              </a:spcBef>
              <a:spcAft>
                <a:spcPts val="0"/>
              </a:spcAft>
            </a:pPr>
            <a:r>
              <a:rPr sz="1200" b="0" i="0">
                <a:solidFill>
                  <a:srgbClr val="526D6B"/>
                </a:solidFill>
                <a:latin typeface="Segoe UI"/>
              </a:rPr>
              <a:t>Tách được nguyên nhân khách quan (tự nhiên) khỏi nguyên nhân chủ quan (do hoạt động của con người).</a:t>
            </a:r>
          </a:p>
        </p:txBody>
      </p:sp>
      <p:sp>
        <p:nvSpPr>
          <p:cNvPr id="18" name="Rounded Rectangle 17"/>
          <p:cNvSpPr/>
          <p:nvPr/>
        </p:nvSpPr>
        <p:spPr>
          <a:xfrm>
            <a:off x="6223863" y="3657600"/>
            <a:ext cx="5400903" cy="181051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23863" y="3657600"/>
            <a:ext cx="45720" cy="181051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16471" y="3913632"/>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04</a:t>
            </a:r>
          </a:p>
        </p:txBody>
      </p:sp>
      <p:sp>
        <p:nvSpPr>
          <p:cNvPr id="21" name="TextBox 20"/>
          <p:cNvSpPr txBox="1"/>
          <p:nvPr/>
        </p:nvSpPr>
        <p:spPr>
          <a:xfrm>
            <a:off x="6516471" y="4187952"/>
            <a:ext cx="4815687" cy="987551"/>
          </a:xfrm>
          <a:prstGeom prst="rect">
            <a:avLst/>
          </a:prstGeom>
          <a:noFill/>
        </p:spPr>
        <p:txBody>
          <a:bodyPr wrap="square" lIns="0" rIns="0" tIns="0" bIns="0" anchor="t">
            <a:spAutoFit/>
          </a:bodyPr>
          <a:lstStyle/>
          <a:p>
            <a:pPr algn="l">
              <a:lnSpc>
                <a:spcPct val="110000"/>
              </a:lnSpc>
              <a:spcBef>
                <a:spcPts val="0"/>
              </a:spcBef>
              <a:spcAft>
                <a:spcPts val="500"/>
              </a:spcAft>
            </a:pPr>
            <a:r>
              <a:rPr sz="1700" b="1" i="0">
                <a:solidFill>
                  <a:srgbClr val="173A3A"/>
                </a:solidFill>
                <a:latin typeface="Segoe UI"/>
              </a:rPr>
              <a:t>Liên hệ</a:t>
            </a:r>
          </a:p>
          <a:p>
            <a:pPr algn="l">
              <a:lnSpc>
                <a:spcPct val="132000"/>
              </a:lnSpc>
              <a:spcBef>
                <a:spcPts val="0"/>
              </a:spcBef>
              <a:spcAft>
                <a:spcPts val="0"/>
              </a:spcAft>
            </a:pPr>
            <a:r>
              <a:rPr sz="1200" b="0" i="0">
                <a:solidFill>
                  <a:srgbClr val="526D6B"/>
                </a:solidFill>
                <a:latin typeface="Segoe UI"/>
              </a:rPr>
              <a:t>Nêu được những việc bản thân, gia đình và nhà trường có thể thay đổi ngay từ hôm nay.</a:t>
            </a:r>
          </a:p>
        </p:txBody>
      </p:sp>
      <p:sp>
        <p:nvSpPr>
          <p:cNvPr id="22" name="Rounded Rectangle 21"/>
          <p:cNvSpPr/>
          <p:nvPr/>
        </p:nvSpPr>
        <p:spPr>
          <a:xfrm>
            <a:off x="566928" y="5541264"/>
            <a:ext cx="11057839" cy="566928"/>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541264"/>
            <a:ext cx="50292" cy="56692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5541264"/>
            <a:ext cx="10490911" cy="566928"/>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NĂNG LỰC HƯỚNG TỚI  </a:t>
            </a:r>
            <a:r>
              <a:rPr sz="1250" b="0" i="0">
                <a:solidFill>
                  <a:srgbClr val="173A3A"/>
                </a:solidFill>
                <a:latin typeface="Segoe UI"/>
              </a:rPr>
              <a:t>tìm hiểu tự nhiên – xã hội địa phương, tư duy phản biện, và ý thức trách nhiệm của một công dân thành phố.</a:t>
            </a:r>
          </a:p>
        </p:txBody>
      </p:sp>
      <p:sp>
        <p:nvSpPr>
          <p:cNvPr id="25" name="TextBox 24"/>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26" name="TextBox 25"/>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02 / 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03</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Lộ trình tiết học</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Năm chặng — em luôn biết mình đang ở đâu trong bài</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ectangle 5"/>
          <p:cNvSpPr/>
          <p:nvPr/>
        </p:nvSpPr>
        <p:spPr>
          <a:xfrm>
            <a:off x="1024128" y="2084831"/>
            <a:ext cx="10143439" cy="18288"/>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566928" y="1700784"/>
            <a:ext cx="2065263" cy="23957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Oval 7"/>
          <p:cNvSpPr/>
          <p:nvPr/>
        </p:nvSpPr>
        <p:spPr>
          <a:xfrm>
            <a:off x="1334383" y="1828800"/>
            <a:ext cx="530352" cy="530352"/>
          </a:xfrm>
          <a:prstGeom prst="ellipse">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66928" y="1956816"/>
            <a:ext cx="2065263" cy="274320"/>
          </a:xfrm>
          <a:prstGeom prst="rect">
            <a:avLst/>
          </a:prstGeom>
          <a:noFill/>
        </p:spPr>
        <p:txBody>
          <a:bodyPr wrap="square" lIns="0" rIns="0" tIns="0" bIns="0" anchor="t">
            <a:spAutoFit/>
          </a:bodyPr>
          <a:lstStyle/>
          <a:p>
            <a:pPr algn="ctr">
              <a:lnSpc>
                <a:spcPct val="120000"/>
              </a:lnSpc>
              <a:spcBef>
                <a:spcPts val="0"/>
              </a:spcBef>
              <a:spcAft>
                <a:spcPts val="0"/>
              </a:spcAft>
            </a:pPr>
            <a:r>
              <a:rPr sz="1500" b="1" i="0">
                <a:solidFill>
                  <a:srgbClr val="FFF8EC"/>
                </a:solidFill>
                <a:latin typeface="Segoe UI"/>
              </a:rPr>
              <a:t>1</a:t>
            </a:r>
          </a:p>
        </p:txBody>
      </p:sp>
      <p:sp>
        <p:nvSpPr>
          <p:cNvPr id="10" name="Rounded Rectangle 9"/>
          <p:cNvSpPr/>
          <p:nvPr/>
        </p:nvSpPr>
        <p:spPr>
          <a:xfrm>
            <a:off x="1215511" y="2542032"/>
            <a:ext cx="768096" cy="274320"/>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215511" y="2587751"/>
            <a:ext cx="768096"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5'</a:t>
            </a:r>
          </a:p>
        </p:txBody>
      </p:sp>
      <p:sp>
        <p:nvSpPr>
          <p:cNvPr id="12" name="TextBox 11"/>
          <p:cNvSpPr txBox="1"/>
          <p:nvPr/>
        </p:nvSpPr>
        <p:spPr>
          <a:xfrm>
            <a:off x="768096" y="2944368"/>
            <a:ext cx="1662927" cy="1005840"/>
          </a:xfrm>
          <a:prstGeom prst="rect">
            <a:avLst/>
          </a:prstGeom>
          <a:noFill/>
        </p:spPr>
        <p:txBody>
          <a:bodyPr wrap="square" lIns="0" rIns="0" tIns="0" bIns="0" anchor="t">
            <a:spAutoFit/>
          </a:bodyPr>
          <a:lstStyle/>
          <a:p>
            <a:pPr algn="ctr">
              <a:lnSpc>
                <a:spcPct val="115000"/>
              </a:lnSpc>
              <a:spcBef>
                <a:spcPts val="0"/>
              </a:spcBef>
              <a:spcAft>
                <a:spcPts val="600"/>
              </a:spcAft>
            </a:pPr>
            <a:r>
              <a:rPr sz="1150" b="1" i="0" spc="40">
                <a:solidFill>
                  <a:srgbClr val="173A3A"/>
                </a:solidFill>
                <a:latin typeface="Segoe UI"/>
              </a:rPr>
              <a:t>KHỞI ĐỘNG</a:t>
            </a:r>
          </a:p>
          <a:p>
            <a:pPr algn="ctr">
              <a:lnSpc>
                <a:spcPct val="134000"/>
              </a:lnSpc>
              <a:spcBef>
                <a:spcPts val="0"/>
              </a:spcBef>
              <a:spcAft>
                <a:spcPts val="0"/>
              </a:spcAft>
            </a:pPr>
            <a:r>
              <a:rPr sz="1050" b="0" i="0">
                <a:solidFill>
                  <a:srgbClr val="526D6B"/>
                </a:solidFill>
                <a:latin typeface="Segoe UI"/>
              </a:rPr>
              <a:t>Ba câu hỏi về chính con đường em đi học mỗi ngày.</a:t>
            </a:r>
          </a:p>
        </p:txBody>
      </p:sp>
      <p:sp>
        <p:nvSpPr>
          <p:cNvPr id="13" name="Rounded Rectangle 12"/>
          <p:cNvSpPr/>
          <p:nvPr/>
        </p:nvSpPr>
        <p:spPr>
          <a:xfrm>
            <a:off x="2815071" y="1700784"/>
            <a:ext cx="2065263" cy="23957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3582527" y="1828800"/>
            <a:ext cx="530352" cy="530352"/>
          </a:xfrm>
          <a:prstGeom prst="ellipse">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815071" y="1956816"/>
            <a:ext cx="2065263" cy="274320"/>
          </a:xfrm>
          <a:prstGeom prst="rect">
            <a:avLst/>
          </a:prstGeom>
          <a:noFill/>
        </p:spPr>
        <p:txBody>
          <a:bodyPr wrap="square" lIns="0" rIns="0" tIns="0" bIns="0" anchor="t">
            <a:spAutoFit/>
          </a:bodyPr>
          <a:lstStyle/>
          <a:p>
            <a:pPr algn="ctr">
              <a:lnSpc>
                <a:spcPct val="120000"/>
              </a:lnSpc>
              <a:spcBef>
                <a:spcPts val="0"/>
              </a:spcBef>
              <a:spcAft>
                <a:spcPts val="0"/>
              </a:spcAft>
            </a:pPr>
            <a:r>
              <a:rPr sz="1500" b="1" i="0">
                <a:solidFill>
                  <a:srgbClr val="FFF8EC"/>
                </a:solidFill>
                <a:latin typeface="Segoe UI"/>
              </a:rPr>
              <a:t>2</a:t>
            </a:r>
          </a:p>
        </p:txBody>
      </p:sp>
      <p:sp>
        <p:nvSpPr>
          <p:cNvPr id="16" name="Rounded Rectangle 15"/>
          <p:cNvSpPr/>
          <p:nvPr/>
        </p:nvSpPr>
        <p:spPr>
          <a:xfrm>
            <a:off x="3463655" y="2542032"/>
            <a:ext cx="768096" cy="274320"/>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463655" y="2587751"/>
            <a:ext cx="768096"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15'</a:t>
            </a:r>
          </a:p>
        </p:txBody>
      </p:sp>
      <p:sp>
        <p:nvSpPr>
          <p:cNvPr id="18" name="TextBox 17"/>
          <p:cNvSpPr txBox="1"/>
          <p:nvPr/>
        </p:nvSpPr>
        <p:spPr>
          <a:xfrm>
            <a:off x="3016239" y="2944368"/>
            <a:ext cx="1662927" cy="1005840"/>
          </a:xfrm>
          <a:prstGeom prst="rect">
            <a:avLst/>
          </a:prstGeom>
          <a:noFill/>
        </p:spPr>
        <p:txBody>
          <a:bodyPr wrap="square" lIns="0" rIns="0" tIns="0" bIns="0" anchor="t">
            <a:spAutoFit/>
          </a:bodyPr>
          <a:lstStyle/>
          <a:p>
            <a:pPr algn="ctr">
              <a:lnSpc>
                <a:spcPct val="115000"/>
              </a:lnSpc>
              <a:spcBef>
                <a:spcPts val="0"/>
              </a:spcBef>
              <a:spcAft>
                <a:spcPts val="600"/>
              </a:spcAft>
            </a:pPr>
            <a:r>
              <a:rPr sz="1150" b="1" i="0" spc="40">
                <a:solidFill>
                  <a:srgbClr val="173A3A"/>
                </a:solidFill>
                <a:latin typeface="Segoe UI"/>
              </a:rPr>
              <a:t>PHẦN A · BIỂU HIỆN</a:t>
            </a:r>
          </a:p>
          <a:p>
            <a:pPr algn="ctr">
              <a:lnSpc>
                <a:spcPct val="134000"/>
              </a:lnSpc>
              <a:spcBef>
                <a:spcPts val="0"/>
              </a:spcBef>
              <a:spcAft>
                <a:spcPts val="0"/>
              </a:spcAft>
            </a:pPr>
            <a:r>
              <a:rPr sz="1050" b="0" i="0">
                <a:solidFill>
                  <a:srgbClr val="526D6B"/>
                </a:solidFill>
                <a:latin typeface="Segoe UI"/>
              </a:rPr>
              <a:t>Bốn dấu hiệu: nóng hơn, mưa dữ hơn, triều cao hơn, thiên tai nhiều hơn.</a:t>
            </a:r>
          </a:p>
        </p:txBody>
      </p:sp>
      <p:sp>
        <p:nvSpPr>
          <p:cNvPr id="19" name="Rounded Rectangle 18"/>
          <p:cNvSpPr/>
          <p:nvPr/>
        </p:nvSpPr>
        <p:spPr>
          <a:xfrm>
            <a:off x="5063215" y="1700784"/>
            <a:ext cx="2065263" cy="23957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Oval 19"/>
          <p:cNvSpPr/>
          <p:nvPr/>
        </p:nvSpPr>
        <p:spPr>
          <a:xfrm>
            <a:off x="5830671" y="1828800"/>
            <a:ext cx="530352" cy="530352"/>
          </a:xfrm>
          <a:prstGeom prst="ellipse">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5063215" y="1956816"/>
            <a:ext cx="2065263" cy="274320"/>
          </a:xfrm>
          <a:prstGeom prst="rect">
            <a:avLst/>
          </a:prstGeom>
          <a:noFill/>
        </p:spPr>
        <p:txBody>
          <a:bodyPr wrap="square" lIns="0" rIns="0" tIns="0" bIns="0" anchor="t">
            <a:spAutoFit/>
          </a:bodyPr>
          <a:lstStyle/>
          <a:p>
            <a:pPr algn="ctr">
              <a:lnSpc>
                <a:spcPct val="120000"/>
              </a:lnSpc>
              <a:spcBef>
                <a:spcPts val="0"/>
              </a:spcBef>
              <a:spcAft>
                <a:spcPts val="0"/>
              </a:spcAft>
            </a:pPr>
            <a:r>
              <a:rPr sz="1500" b="1" i="0">
                <a:solidFill>
                  <a:srgbClr val="FFF8EC"/>
                </a:solidFill>
                <a:latin typeface="Segoe UI"/>
              </a:rPr>
              <a:t>3</a:t>
            </a:r>
          </a:p>
        </p:txBody>
      </p:sp>
      <p:sp>
        <p:nvSpPr>
          <p:cNvPr id="22" name="Rounded Rectangle 21"/>
          <p:cNvSpPr/>
          <p:nvPr/>
        </p:nvSpPr>
        <p:spPr>
          <a:xfrm>
            <a:off x="5711799" y="2542032"/>
            <a:ext cx="768096" cy="274320"/>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5711799" y="2587751"/>
            <a:ext cx="768096"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12'</a:t>
            </a:r>
          </a:p>
        </p:txBody>
      </p:sp>
      <p:sp>
        <p:nvSpPr>
          <p:cNvPr id="24" name="TextBox 23"/>
          <p:cNvSpPr txBox="1"/>
          <p:nvPr/>
        </p:nvSpPr>
        <p:spPr>
          <a:xfrm>
            <a:off x="5264383" y="2944368"/>
            <a:ext cx="1662927" cy="1005840"/>
          </a:xfrm>
          <a:prstGeom prst="rect">
            <a:avLst/>
          </a:prstGeom>
          <a:noFill/>
        </p:spPr>
        <p:txBody>
          <a:bodyPr wrap="square" lIns="0" rIns="0" tIns="0" bIns="0" anchor="t">
            <a:spAutoFit/>
          </a:bodyPr>
          <a:lstStyle/>
          <a:p>
            <a:pPr algn="ctr">
              <a:lnSpc>
                <a:spcPct val="115000"/>
              </a:lnSpc>
              <a:spcBef>
                <a:spcPts val="0"/>
              </a:spcBef>
              <a:spcAft>
                <a:spcPts val="600"/>
              </a:spcAft>
            </a:pPr>
            <a:r>
              <a:rPr sz="1150" b="1" i="0" spc="40">
                <a:solidFill>
                  <a:srgbClr val="173A3A"/>
                </a:solidFill>
                <a:latin typeface="Segoe UI"/>
              </a:rPr>
              <a:t>PHẦN B · NGUYÊN NHÂN</a:t>
            </a:r>
          </a:p>
          <a:p>
            <a:pPr algn="ctr">
              <a:lnSpc>
                <a:spcPct val="134000"/>
              </a:lnSpc>
              <a:spcBef>
                <a:spcPts val="0"/>
              </a:spcBef>
              <a:spcAft>
                <a:spcPts val="0"/>
              </a:spcAft>
            </a:pPr>
            <a:r>
              <a:rPr sz="1050" b="0" i="0">
                <a:solidFill>
                  <a:srgbClr val="526D6B"/>
                </a:solidFill>
                <a:latin typeface="Segoe UI"/>
              </a:rPr>
              <a:t>Khách quan và chủ quan — đâu mới là gốc rễ của vấn đề.</a:t>
            </a:r>
          </a:p>
        </p:txBody>
      </p:sp>
      <p:sp>
        <p:nvSpPr>
          <p:cNvPr id="25" name="Rounded Rectangle 24"/>
          <p:cNvSpPr/>
          <p:nvPr/>
        </p:nvSpPr>
        <p:spPr>
          <a:xfrm>
            <a:off x="7311359" y="1700784"/>
            <a:ext cx="2065263" cy="23957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078815" y="1828800"/>
            <a:ext cx="530352" cy="530352"/>
          </a:xfrm>
          <a:prstGeom prst="ellipse">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7311359" y="1956816"/>
            <a:ext cx="2065263" cy="274320"/>
          </a:xfrm>
          <a:prstGeom prst="rect">
            <a:avLst/>
          </a:prstGeom>
          <a:noFill/>
        </p:spPr>
        <p:txBody>
          <a:bodyPr wrap="square" lIns="0" rIns="0" tIns="0" bIns="0" anchor="t">
            <a:spAutoFit/>
          </a:bodyPr>
          <a:lstStyle/>
          <a:p>
            <a:pPr algn="ctr">
              <a:lnSpc>
                <a:spcPct val="120000"/>
              </a:lnSpc>
              <a:spcBef>
                <a:spcPts val="0"/>
              </a:spcBef>
              <a:spcAft>
                <a:spcPts val="0"/>
              </a:spcAft>
            </a:pPr>
            <a:r>
              <a:rPr sz="1500" b="1" i="0">
                <a:solidFill>
                  <a:srgbClr val="FFF8EC"/>
                </a:solidFill>
                <a:latin typeface="Segoe UI"/>
              </a:rPr>
              <a:t>4</a:t>
            </a:r>
          </a:p>
        </p:txBody>
      </p:sp>
      <p:sp>
        <p:nvSpPr>
          <p:cNvPr id="28" name="Rounded Rectangle 27"/>
          <p:cNvSpPr/>
          <p:nvPr/>
        </p:nvSpPr>
        <p:spPr>
          <a:xfrm>
            <a:off x="7959943" y="2542032"/>
            <a:ext cx="768096" cy="274320"/>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959943" y="2587751"/>
            <a:ext cx="768096"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12'</a:t>
            </a:r>
          </a:p>
        </p:txBody>
      </p:sp>
      <p:sp>
        <p:nvSpPr>
          <p:cNvPr id="30" name="TextBox 29"/>
          <p:cNvSpPr txBox="1"/>
          <p:nvPr/>
        </p:nvSpPr>
        <p:spPr>
          <a:xfrm>
            <a:off x="7512527" y="2944368"/>
            <a:ext cx="1662927" cy="1005840"/>
          </a:xfrm>
          <a:prstGeom prst="rect">
            <a:avLst/>
          </a:prstGeom>
          <a:noFill/>
        </p:spPr>
        <p:txBody>
          <a:bodyPr wrap="square" lIns="0" rIns="0" tIns="0" bIns="0" anchor="t">
            <a:spAutoFit/>
          </a:bodyPr>
          <a:lstStyle/>
          <a:p>
            <a:pPr algn="ctr">
              <a:lnSpc>
                <a:spcPct val="115000"/>
              </a:lnSpc>
              <a:spcBef>
                <a:spcPts val="0"/>
              </a:spcBef>
              <a:spcAft>
                <a:spcPts val="600"/>
              </a:spcAft>
            </a:pPr>
            <a:r>
              <a:rPr sz="1150" b="1" i="0" spc="40">
                <a:solidFill>
                  <a:srgbClr val="173A3A"/>
                </a:solidFill>
                <a:latin typeface="Segoe UI"/>
              </a:rPr>
              <a:t>HOẠT ĐỘNG NHÓM</a:t>
            </a:r>
          </a:p>
          <a:p>
            <a:pPr algn="ctr">
              <a:lnSpc>
                <a:spcPct val="134000"/>
              </a:lnSpc>
              <a:spcBef>
                <a:spcPts val="0"/>
              </a:spcBef>
              <a:spcAft>
                <a:spcPts val="0"/>
              </a:spcAft>
            </a:pPr>
            <a:r>
              <a:rPr sz="1050" b="0" i="0">
                <a:solidFill>
                  <a:srgbClr val="526D6B"/>
                </a:solidFill>
                <a:latin typeface="Segoe UI"/>
              </a:rPr>
              <a:t>Bốn đội điều tra hoàn thành phiếu, mỗi đội trình bày 2 phút.</a:t>
            </a:r>
          </a:p>
        </p:txBody>
      </p:sp>
      <p:sp>
        <p:nvSpPr>
          <p:cNvPr id="31" name="Rounded Rectangle 30"/>
          <p:cNvSpPr/>
          <p:nvPr/>
        </p:nvSpPr>
        <p:spPr>
          <a:xfrm>
            <a:off x="9559503" y="1700784"/>
            <a:ext cx="2065263" cy="23957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Oval 31"/>
          <p:cNvSpPr/>
          <p:nvPr/>
        </p:nvSpPr>
        <p:spPr>
          <a:xfrm>
            <a:off x="10326959" y="1828800"/>
            <a:ext cx="530352" cy="530352"/>
          </a:xfrm>
          <a:prstGeom prst="ellipse">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559503" y="1956816"/>
            <a:ext cx="2065263" cy="274320"/>
          </a:xfrm>
          <a:prstGeom prst="rect">
            <a:avLst/>
          </a:prstGeom>
          <a:noFill/>
        </p:spPr>
        <p:txBody>
          <a:bodyPr wrap="square" lIns="0" rIns="0" tIns="0" bIns="0" anchor="t">
            <a:spAutoFit/>
          </a:bodyPr>
          <a:lstStyle/>
          <a:p>
            <a:pPr algn="ctr">
              <a:lnSpc>
                <a:spcPct val="120000"/>
              </a:lnSpc>
              <a:spcBef>
                <a:spcPts val="0"/>
              </a:spcBef>
              <a:spcAft>
                <a:spcPts val="0"/>
              </a:spcAft>
            </a:pPr>
            <a:r>
              <a:rPr sz="1500" b="1" i="0">
                <a:solidFill>
                  <a:srgbClr val="FFF8EC"/>
                </a:solidFill>
                <a:latin typeface="Segoe UI"/>
              </a:rPr>
              <a:t>5</a:t>
            </a:r>
          </a:p>
        </p:txBody>
      </p:sp>
      <p:sp>
        <p:nvSpPr>
          <p:cNvPr id="34" name="Rounded Rectangle 33"/>
          <p:cNvSpPr/>
          <p:nvPr/>
        </p:nvSpPr>
        <p:spPr>
          <a:xfrm>
            <a:off x="10208087" y="2542032"/>
            <a:ext cx="768096" cy="274320"/>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10208087" y="2587751"/>
            <a:ext cx="768096"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6'</a:t>
            </a:r>
          </a:p>
        </p:txBody>
      </p:sp>
      <p:sp>
        <p:nvSpPr>
          <p:cNvPr id="36" name="TextBox 35"/>
          <p:cNvSpPr txBox="1"/>
          <p:nvPr/>
        </p:nvSpPr>
        <p:spPr>
          <a:xfrm>
            <a:off x="9760671" y="2944368"/>
            <a:ext cx="1662927" cy="1005840"/>
          </a:xfrm>
          <a:prstGeom prst="rect">
            <a:avLst/>
          </a:prstGeom>
          <a:noFill/>
        </p:spPr>
        <p:txBody>
          <a:bodyPr wrap="square" lIns="0" rIns="0" tIns="0" bIns="0" anchor="t">
            <a:spAutoFit/>
          </a:bodyPr>
          <a:lstStyle/>
          <a:p>
            <a:pPr algn="ctr">
              <a:lnSpc>
                <a:spcPct val="115000"/>
              </a:lnSpc>
              <a:spcBef>
                <a:spcPts val="0"/>
              </a:spcBef>
              <a:spcAft>
                <a:spcPts val="600"/>
              </a:spcAft>
            </a:pPr>
            <a:r>
              <a:rPr sz="1150" b="1" i="0" spc="40">
                <a:solidFill>
                  <a:srgbClr val="173A3A"/>
                </a:solidFill>
                <a:latin typeface="Segoe UI"/>
              </a:rPr>
              <a:t>GHI NHỚ</a:t>
            </a:r>
          </a:p>
          <a:p>
            <a:pPr algn="ctr">
              <a:lnSpc>
                <a:spcPct val="134000"/>
              </a:lnSpc>
              <a:spcBef>
                <a:spcPts val="0"/>
              </a:spcBef>
              <a:spcAft>
                <a:spcPts val="0"/>
              </a:spcAft>
            </a:pPr>
            <a:r>
              <a:rPr sz="1050" b="0" i="0">
                <a:solidFill>
                  <a:srgbClr val="526D6B"/>
                </a:solidFill>
                <a:latin typeface="Segoe UI"/>
              </a:rPr>
              <a:t>Chốt sáu ý chính và một câu kiểm tra nhanh.</a:t>
            </a:r>
          </a:p>
        </p:txBody>
      </p:sp>
      <p:sp>
        <p:nvSpPr>
          <p:cNvPr id="37" name="Rounded Rectangle 36"/>
          <p:cNvSpPr/>
          <p:nvPr/>
        </p:nvSpPr>
        <p:spPr>
          <a:xfrm>
            <a:off x="566928" y="4352544"/>
            <a:ext cx="5400903" cy="1463040"/>
          </a:xfrm>
          <a:prstGeom prst="roundRect">
            <a:avLst>
              <a:gd name="adj" fmla="val 8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877824" y="4590288"/>
            <a:ext cx="4779111"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CHUẨN BỊ CỦA GIÁO VIÊN</a:t>
            </a:r>
          </a:p>
        </p:txBody>
      </p:sp>
      <p:sp>
        <p:nvSpPr>
          <p:cNvPr id="39" name="TextBox 38"/>
          <p:cNvSpPr txBox="1"/>
          <p:nvPr/>
        </p:nvSpPr>
        <p:spPr>
          <a:xfrm>
            <a:off x="877824" y="4919472"/>
            <a:ext cx="4779111" cy="822960"/>
          </a:xfrm>
          <a:prstGeom prst="rect">
            <a:avLst/>
          </a:prstGeom>
          <a:noFill/>
        </p:spPr>
        <p:txBody>
          <a:bodyPr wrap="square" lIns="0" rIns="0" tIns="0" bIns="0" anchor="t">
            <a:spAutoFit/>
          </a:bodyPr>
          <a:lstStyle/>
          <a:p>
            <a:pPr algn="l">
              <a:lnSpc>
                <a:spcPct val="138000"/>
              </a:lnSpc>
              <a:spcBef>
                <a:spcPts val="0"/>
              </a:spcBef>
              <a:spcAft>
                <a:spcPts val="0"/>
              </a:spcAft>
            </a:pPr>
            <a:r>
              <a:rPr sz="1200" b="0" i="0">
                <a:solidFill>
                  <a:srgbClr val="173A3A"/>
                </a:solidFill>
                <a:latin typeface="Segoe UI"/>
              </a:rPr>
              <a:t>Slide bài giảng · phiếu học tập in cho 4 nhóm · ba video tư liệu · bảng phụ và nam châm để dán kết quả nhóm.</a:t>
            </a:r>
          </a:p>
        </p:txBody>
      </p:sp>
      <p:sp>
        <p:nvSpPr>
          <p:cNvPr id="40" name="Rounded Rectangle 39"/>
          <p:cNvSpPr/>
          <p:nvPr/>
        </p:nvSpPr>
        <p:spPr>
          <a:xfrm>
            <a:off x="6223863" y="4352544"/>
            <a:ext cx="5400903" cy="1463040"/>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534759" y="4590288"/>
            <a:ext cx="4779111"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B9573E"/>
                </a:solidFill>
                <a:latin typeface="Segoe UI"/>
              </a:rPr>
              <a:t>CHUẨN BỊ CỦA HỌC SINH</a:t>
            </a:r>
          </a:p>
        </p:txBody>
      </p:sp>
      <p:sp>
        <p:nvSpPr>
          <p:cNvPr id="42" name="TextBox 41"/>
          <p:cNvSpPr txBox="1"/>
          <p:nvPr/>
        </p:nvSpPr>
        <p:spPr>
          <a:xfrm>
            <a:off x="6534759" y="4919472"/>
            <a:ext cx="4779111" cy="822960"/>
          </a:xfrm>
          <a:prstGeom prst="rect">
            <a:avLst/>
          </a:prstGeom>
          <a:noFill/>
        </p:spPr>
        <p:txBody>
          <a:bodyPr wrap="square" lIns="0" rIns="0" tIns="0" bIns="0" anchor="t">
            <a:spAutoFit/>
          </a:bodyPr>
          <a:lstStyle/>
          <a:p>
            <a:pPr algn="l">
              <a:lnSpc>
                <a:spcPct val="138000"/>
              </a:lnSpc>
              <a:spcBef>
                <a:spcPts val="0"/>
              </a:spcBef>
              <a:spcAft>
                <a:spcPts val="0"/>
              </a:spcAft>
            </a:pPr>
            <a:r>
              <a:rPr sz="1200" b="0" i="0">
                <a:solidFill>
                  <a:srgbClr val="173A3A"/>
                </a:solidFill>
                <a:latin typeface="Segoe UI"/>
              </a:rPr>
              <a:t>Vở ghi · một bức ảnh hoặc một câu chuyện có thật về ngập nước, nắng nóng ở nơi em sống · bút màu để làm phiếu nhóm.</a:t>
            </a:r>
          </a:p>
        </p:txBody>
      </p:sp>
      <p:sp>
        <p:nvSpPr>
          <p:cNvPr id="43" name="TextBox 42"/>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44" name="TextBox 43"/>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03 / 20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04</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Khởi động: em có thấy thành phố đổi khác?</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Ba câu hỏi nhỏ — trả lời bằng chính điều em quan sát được, không cần sách vở</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3533546" cy="29443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77824" y="1956816"/>
            <a:ext cx="548640" cy="548640"/>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824" y="2066543"/>
            <a:ext cx="548640" cy="310896"/>
          </a:xfrm>
          <a:prstGeom prst="rect">
            <a:avLst/>
          </a:prstGeom>
          <a:noFill/>
        </p:spPr>
        <p:txBody>
          <a:bodyPr wrap="square" lIns="0" rIns="0" tIns="0" bIns="0" anchor="t">
            <a:spAutoFit/>
          </a:bodyPr>
          <a:lstStyle/>
          <a:p>
            <a:pPr algn="ctr">
              <a:lnSpc>
                <a:spcPct val="120000"/>
              </a:lnSpc>
              <a:spcBef>
                <a:spcPts val="0"/>
              </a:spcBef>
              <a:spcAft>
                <a:spcPts val="0"/>
              </a:spcAft>
            </a:pPr>
            <a:r>
              <a:rPr sz="2000" b="1" i="0">
                <a:solidFill>
                  <a:srgbClr val="E9825B"/>
                </a:solidFill>
                <a:latin typeface="Segoe UI"/>
              </a:rPr>
              <a:t>?</a:t>
            </a:r>
          </a:p>
        </p:txBody>
      </p:sp>
      <p:sp>
        <p:nvSpPr>
          <p:cNvPr id="9" name="TextBox 8"/>
          <p:cNvSpPr txBox="1"/>
          <p:nvPr/>
        </p:nvSpPr>
        <p:spPr>
          <a:xfrm>
            <a:off x="877824" y="2706624"/>
            <a:ext cx="2911754" cy="384048"/>
          </a:xfrm>
          <a:prstGeom prst="rect">
            <a:avLst/>
          </a:prstGeom>
          <a:noFill/>
        </p:spPr>
        <p:txBody>
          <a:bodyPr wrap="square" lIns="0" rIns="0" tIns="0" bIns="0" anchor="t">
            <a:spAutoFit/>
          </a:bodyPr>
          <a:lstStyle/>
          <a:p>
            <a:pPr algn="l">
              <a:lnSpc>
                <a:spcPct val="120000"/>
              </a:lnSpc>
              <a:spcBef>
                <a:spcPts val="0"/>
              </a:spcBef>
              <a:spcAft>
                <a:spcPts val="0"/>
              </a:spcAft>
            </a:pPr>
            <a:r>
              <a:rPr sz="2000" b="1" i="0">
                <a:solidFill>
                  <a:srgbClr val="173A3A"/>
                </a:solidFill>
                <a:latin typeface="Segoe UI"/>
              </a:rPr>
              <a:t>Nóng hơn?</a:t>
            </a:r>
          </a:p>
        </p:txBody>
      </p:sp>
      <p:sp>
        <p:nvSpPr>
          <p:cNvPr id="10" name="TextBox 9"/>
          <p:cNvSpPr txBox="1"/>
          <p:nvPr/>
        </p:nvSpPr>
        <p:spPr>
          <a:xfrm>
            <a:off x="877824" y="3200400"/>
            <a:ext cx="2911754" cy="1051560"/>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526D6B"/>
                </a:solidFill>
                <a:latin typeface="Segoe UI"/>
              </a:rPr>
              <a:t>Mùa nắng năm nay có gay gắt hơn những năm em còn nhỏ không? Buổi trưa tan học, mặt đường và sân trường nóng đến mức nào?</a:t>
            </a:r>
          </a:p>
        </p:txBody>
      </p:sp>
      <p:sp>
        <p:nvSpPr>
          <p:cNvPr id="11" name="Rectangle 10"/>
          <p:cNvSpPr/>
          <p:nvPr/>
        </p:nvSpPr>
        <p:spPr>
          <a:xfrm>
            <a:off x="877824" y="4187952"/>
            <a:ext cx="2911754" cy="13716"/>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7824" y="4297680"/>
            <a:ext cx="2911754" cy="237744"/>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B9573E"/>
                </a:solidFill>
                <a:latin typeface="Segoe UI"/>
              </a:rPr>
              <a:t>Gợi ý: nhớ lại tháng 3 – 5 vừa rồi.</a:t>
            </a:r>
          </a:p>
        </p:txBody>
      </p:sp>
      <p:sp>
        <p:nvSpPr>
          <p:cNvPr id="13" name="Rounded Rectangle 12"/>
          <p:cNvSpPr/>
          <p:nvPr/>
        </p:nvSpPr>
        <p:spPr>
          <a:xfrm>
            <a:off x="4329074" y="1691640"/>
            <a:ext cx="3533546" cy="29443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4639970" y="1956816"/>
            <a:ext cx="548640" cy="548640"/>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639970" y="2066543"/>
            <a:ext cx="548640" cy="310896"/>
          </a:xfrm>
          <a:prstGeom prst="rect">
            <a:avLst/>
          </a:prstGeom>
          <a:noFill/>
        </p:spPr>
        <p:txBody>
          <a:bodyPr wrap="square" lIns="0" rIns="0" tIns="0" bIns="0" anchor="t">
            <a:spAutoFit/>
          </a:bodyPr>
          <a:lstStyle/>
          <a:p>
            <a:pPr algn="ctr">
              <a:lnSpc>
                <a:spcPct val="120000"/>
              </a:lnSpc>
              <a:spcBef>
                <a:spcPts val="0"/>
              </a:spcBef>
              <a:spcAft>
                <a:spcPts val="0"/>
              </a:spcAft>
            </a:pPr>
            <a:r>
              <a:rPr sz="2000" b="1" i="0">
                <a:solidFill>
                  <a:srgbClr val="E9825B"/>
                </a:solidFill>
                <a:latin typeface="Segoe UI"/>
              </a:rPr>
              <a:t>?</a:t>
            </a:r>
          </a:p>
        </p:txBody>
      </p:sp>
      <p:sp>
        <p:nvSpPr>
          <p:cNvPr id="16" name="TextBox 15"/>
          <p:cNvSpPr txBox="1"/>
          <p:nvPr/>
        </p:nvSpPr>
        <p:spPr>
          <a:xfrm>
            <a:off x="4639970" y="2706624"/>
            <a:ext cx="2911754" cy="384048"/>
          </a:xfrm>
          <a:prstGeom prst="rect">
            <a:avLst/>
          </a:prstGeom>
          <a:noFill/>
        </p:spPr>
        <p:txBody>
          <a:bodyPr wrap="square" lIns="0" rIns="0" tIns="0" bIns="0" anchor="t">
            <a:spAutoFit/>
          </a:bodyPr>
          <a:lstStyle/>
          <a:p>
            <a:pPr algn="l">
              <a:lnSpc>
                <a:spcPct val="120000"/>
              </a:lnSpc>
              <a:spcBef>
                <a:spcPts val="0"/>
              </a:spcBef>
              <a:spcAft>
                <a:spcPts val="0"/>
              </a:spcAft>
            </a:pPr>
            <a:r>
              <a:rPr sz="2000" b="1" i="0">
                <a:solidFill>
                  <a:srgbClr val="173A3A"/>
                </a:solidFill>
                <a:latin typeface="Segoe UI"/>
              </a:rPr>
              <a:t>Mưa lạ hơn?</a:t>
            </a:r>
          </a:p>
        </p:txBody>
      </p:sp>
      <p:sp>
        <p:nvSpPr>
          <p:cNvPr id="17" name="TextBox 16"/>
          <p:cNvSpPr txBox="1"/>
          <p:nvPr/>
        </p:nvSpPr>
        <p:spPr>
          <a:xfrm>
            <a:off x="4639970" y="3200400"/>
            <a:ext cx="2911754" cy="1051560"/>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526D6B"/>
                </a:solidFill>
                <a:latin typeface="Segoe UI"/>
              </a:rPr>
              <a:t>Có cơn mưa nào khiến em không kịp về nhà, chỉ sau 30 phút mà con đường quen thuộc đã biến thành sông?</a:t>
            </a:r>
          </a:p>
        </p:txBody>
      </p:sp>
      <p:sp>
        <p:nvSpPr>
          <p:cNvPr id="18" name="Rectangle 17"/>
          <p:cNvSpPr/>
          <p:nvPr/>
        </p:nvSpPr>
        <p:spPr>
          <a:xfrm>
            <a:off x="4639970" y="4187952"/>
            <a:ext cx="2911754" cy="13716"/>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4639970" y="4297680"/>
            <a:ext cx="2911754" cy="237744"/>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B9573E"/>
                </a:solidFill>
                <a:latin typeface="Segoe UI"/>
              </a:rPr>
              <a:t>Gợi ý: cơn mưa gần nhất em còn nhớ.</a:t>
            </a:r>
          </a:p>
        </p:txBody>
      </p:sp>
      <p:sp>
        <p:nvSpPr>
          <p:cNvPr id="20" name="Rounded Rectangle 19"/>
          <p:cNvSpPr/>
          <p:nvPr/>
        </p:nvSpPr>
        <p:spPr>
          <a:xfrm>
            <a:off x="8091220" y="1691640"/>
            <a:ext cx="3533546" cy="29443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Oval 20"/>
          <p:cNvSpPr/>
          <p:nvPr/>
        </p:nvSpPr>
        <p:spPr>
          <a:xfrm>
            <a:off x="8402116" y="1956816"/>
            <a:ext cx="548640" cy="548640"/>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02116" y="2066543"/>
            <a:ext cx="548640" cy="310896"/>
          </a:xfrm>
          <a:prstGeom prst="rect">
            <a:avLst/>
          </a:prstGeom>
          <a:noFill/>
        </p:spPr>
        <p:txBody>
          <a:bodyPr wrap="square" lIns="0" rIns="0" tIns="0" bIns="0" anchor="t">
            <a:spAutoFit/>
          </a:bodyPr>
          <a:lstStyle/>
          <a:p>
            <a:pPr algn="ctr">
              <a:lnSpc>
                <a:spcPct val="120000"/>
              </a:lnSpc>
              <a:spcBef>
                <a:spcPts val="0"/>
              </a:spcBef>
              <a:spcAft>
                <a:spcPts val="0"/>
              </a:spcAft>
            </a:pPr>
            <a:r>
              <a:rPr sz="2000" b="1" i="0">
                <a:solidFill>
                  <a:srgbClr val="E9825B"/>
                </a:solidFill>
                <a:latin typeface="Segoe UI"/>
              </a:rPr>
              <a:t>?</a:t>
            </a:r>
          </a:p>
        </p:txBody>
      </p:sp>
      <p:sp>
        <p:nvSpPr>
          <p:cNvPr id="23" name="TextBox 22"/>
          <p:cNvSpPr txBox="1"/>
          <p:nvPr/>
        </p:nvSpPr>
        <p:spPr>
          <a:xfrm>
            <a:off x="8402116" y="2706624"/>
            <a:ext cx="2911754" cy="384048"/>
          </a:xfrm>
          <a:prstGeom prst="rect">
            <a:avLst/>
          </a:prstGeom>
          <a:noFill/>
        </p:spPr>
        <p:txBody>
          <a:bodyPr wrap="square" lIns="0" rIns="0" tIns="0" bIns="0" anchor="t">
            <a:spAutoFit/>
          </a:bodyPr>
          <a:lstStyle/>
          <a:p>
            <a:pPr algn="l">
              <a:lnSpc>
                <a:spcPct val="120000"/>
              </a:lnSpc>
              <a:spcBef>
                <a:spcPts val="0"/>
              </a:spcBef>
              <a:spcAft>
                <a:spcPts val="0"/>
              </a:spcAft>
            </a:pPr>
            <a:r>
              <a:rPr sz="2000" b="1" i="0">
                <a:solidFill>
                  <a:srgbClr val="173A3A"/>
                </a:solidFill>
                <a:latin typeface="Segoe UI"/>
              </a:rPr>
              <a:t>Ngập sâu hơn?</a:t>
            </a:r>
          </a:p>
        </p:txBody>
      </p:sp>
      <p:sp>
        <p:nvSpPr>
          <p:cNvPr id="24" name="TextBox 23"/>
          <p:cNvSpPr txBox="1"/>
          <p:nvPr/>
        </p:nvSpPr>
        <p:spPr>
          <a:xfrm>
            <a:off x="8402116" y="3200400"/>
            <a:ext cx="2911754" cy="1051560"/>
          </a:xfrm>
          <a:prstGeom prst="rect">
            <a:avLst/>
          </a:prstGeom>
          <a:noFill/>
        </p:spPr>
        <p:txBody>
          <a:bodyPr wrap="square" lIns="0" rIns="0" tIns="0" bIns="0" anchor="t">
            <a:spAutoFit/>
          </a:bodyPr>
          <a:lstStyle/>
          <a:p>
            <a:pPr algn="l">
              <a:lnSpc>
                <a:spcPct val="140000"/>
              </a:lnSpc>
              <a:spcBef>
                <a:spcPts val="0"/>
              </a:spcBef>
              <a:spcAft>
                <a:spcPts val="0"/>
              </a:spcAft>
            </a:pPr>
            <a:r>
              <a:rPr sz="1250" b="0" i="0">
                <a:solidFill>
                  <a:srgbClr val="526D6B"/>
                </a:solidFill>
                <a:latin typeface="Segoe UI"/>
              </a:rPr>
              <a:t>Khu em ở có con đường nào cứ tới rằm hoặc cuối tháng lại ngập, dù trời hôm đó không hề mưa?</a:t>
            </a:r>
          </a:p>
        </p:txBody>
      </p:sp>
      <p:sp>
        <p:nvSpPr>
          <p:cNvPr id="25" name="Rectangle 24"/>
          <p:cNvSpPr/>
          <p:nvPr/>
        </p:nvSpPr>
        <p:spPr>
          <a:xfrm>
            <a:off x="8402116" y="4187952"/>
            <a:ext cx="2911754" cy="13716"/>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02116" y="4297680"/>
            <a:ext cx="2911754" cy="237744"/>
          </a:xfrm>
          <a:prstGeom prst="rect">
            <a:avLst/>
          </a:prstGeom>
          <a:noFill/>
        </p:spPr>
        <p:txBody>
          <a:bodyPr wrap="square" lIns="0" rIns="0" tIns="0" bIns="0" anchor="t">
            <a:spAutoFit/>
          </a:bodyPr>
          <a:lstStyle/>
          <a:p>
            <a:pPr algn="l">
              <a:lnSpc>
                <a:spcPct val="120000"/>
              </a:lnSpc>
              <a:spcBef>
                <a:spcPts val="0"/>
              </a:spcBef>
              <a:spcAft>
                <a:spcPts val="0"/>
              </a:spcAft>
            </a:pPr>
            <a:r>
              <a:rPr sz="1050" b="0" i="1">
                <a:solidFill>
                  <a:srgbClr val="B9573E"/>
                </a:solidFill>
                <a:latin typeface="Segoe UI"/>
              </a:rPr>
              <a:t>Gợi ý: đó là ngập do triều cường.</a:t>
            </a:r>
          </a:p>
        </p:txBody>
      </p:sp>
      <p:sp>
        <p:nvSpPr>
          <p:cNvPr id="27" name="Rounded Rectangle 26"/>
          <p:cNvSpPr/>
          <p:nvPr/>
        </p:nvSpPr>
        <p:spPr>
          <a:xfrm>
            <a:off x="566928" y="4864608"/>
            <a:ext cx="11057839" cy="868680"/>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566928" y="4864608"/>
            <a:ext cx="50292" cy="86868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77824" y="4864608"/>
            <a:ext cx="10490911" cy="868680"/>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DẪN VÀO BÀI  </a:t>
            </a:r>
            <a:r>
              <a:rPr sz="1250" b="0" i="0">
                <a:solidFill>
                  <a:srgbClr val="173A3A"/>
                </a:solidFill>
                <a:latin typeface="Segoe UI"/>
              </a:rPr>
              <a:t>Những thay đổi ấy không hề ngẫu nhiên. Đó chính là biểu hiện của biến đổi khí hậu đang diễn ra ngay tại thành phố mình — và hôm nay chúng ta sẽ gọi tên chúng.</a:t>
            </a:r>
          </a:p>
        </p:txBody>
      </p:sp>
      <p:sp>
        <p:nvSpPr>
          <p:cNvPr id="30" name="TextBox 29"/>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1" name="TextBox 30"/>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04 / 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E2726"/>
        </a:solidFill>
        <a:effectLst/>
      </p:bgPr>
    </p:bg>
    <p:spTree>
      <p:nvGrpSpPr>
        <p:cNvPr id="1" name=""/>
        <p:cNvGrpSpPr/>
        <p:nvPr/>
      </p:nvGrpSpPr>
      <p:grpSpPr/>
      <p:sp>
        <p:nvSpPr>
          <p:cNvPr id="2" name="TextBox 1"/>
          <p:cNvSpPr txBox="1"/>
          <p:nvPr/>
        </p:nvSpPr>
        <p:spPr>
          <a:xfrm>
            <a:off x="566928" y="1417320"/>
            <a:ext cx="5486400" cy="274320"/>
          </a:xfrm>
          <a:prstGeom prst="rect">
            <a:avLst/>
          </a:prstGeom>
          <a:noFill/>
        </p:spPr>
        <p:txBody>
          <a:bodyPr wrap="square" lIns="0" rIns="0" tIns="0" bIns="0" anchor="t">
            <a:spAutoFit/>
          </a:bodyPr>
          <a:lstStyle/>
          <a:p>
            <a:pPr algn="l">
              <a:lnSpc>
                <a:spcPct val="120000"/>
              </a:lnSpc>
              <a:spcBef>
                <a:spcPts val="0"/>
              </a:spcBef>
              <a:spcAft>
                <a:spcPts val="0"/>
              </a:spcAft>
            </a:pPr>
            <a:r>
              <a:rPr sz="1200" b="1" i="0" spc="220">
                <a:solidFill>
                  <a:srgbClr val="E9825B"/>
                </a:solidFill>
                <a:latin typeface="Segoe UI"/>
              </a:rPr>
              <a:t>PHẦN A</a:t>
            </a:r>
          </a:p>
        </p:txBody>
      </p:sp>
      <p:sp>
        <p:nvSpPr>
          <p:cNvPr id="3" name="Rectangle 2"/>
          <p:cNvSpPr/>
          <p:nvPr/>
        </p:nvSpPr>
        <p:spPr>
          <a:xfrm>
            <a:off x="566928" y="1810512"/>
            <a:ext cx="822960" cy="411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66928" y="2121408"/>
            <a:ext cx="8778240" cy="1554480"/>
          </a:xfrm>
          <a:prstGeom prst="rect">
            <a:avLst/>
          </a:prstGeom>
          <a:noFill/>
        </p:spPr>
        <p:txBody>
          <a:bodyPr wrap="square" lIns="0" rIns="0" tIns="0" bIns="0" anchor="t">
            <a:spAutoFit/>
          </a:bodyPr>
          <a:lstStyle/>
          <a:p>
            <a:pPr algn="l">
              <a:lnSpc>
                <a:spcPct val="112000"/>
              </a:lnSpc>
              <a:spcBef>
                <a:spcPts val="0"/>
              </a:spcBef>
              <a:spcAft>
                <a:spcPts val="0"/>
              </a:spcAft>
            </a:pPr>
            <a:r>
              <a:rPr sz="3700" b="1" i="0">
                <a:solidFill>
                  <a:srgbClr val="FFF8EC"/>
                </a:solidFill>
                <a:latin typeface="Segoe UI"/>
              </a:rPr>
              <a:t>Biểu hiện — thành phố</a:t>
            </a:r>
          </a:p>
          <a:p>
            <a:pPr algn="l">
              <a:lnSpc>
                <a:spcPct val="112000"/>
              </a:lnSpc>
              <a:spcBef>
                <a:spcPts val="0"/>
              </a:spcBef>
              <a:spcAft>
                <a:spcPts val="0"/>
              </a:spcAft>
            </a:pPr>
            <a:r>
              <a:rPr sz="3700" b="1" i="0">
                <a:solidFill>
                  <a:srgbClr val="FFF8EC"/>
                </a:solidFill>
                <a:latin typeface="Segoe UI"/>
              </a:rPr>
              <a:t>đang đổi khác thế nào?</a:t>
            </a:r>
          </a:p>
        </p:txBody>
      </p:sp>
      <p:sp>
        <p:nvSpPr>
          <p:cNvPr id="5" name="TextBox 4"/>
          <p:cNvSpPr txBox="1"/>
          <p:nvPr/>
        </p:nvSpPr>
        <p:spPr>
          <a:xfrm>
            <a:off x="566928" y="3822191"/>
            <a:ext cx="7680960" cy="548640"/>
          </a:xfrm>
          <a:prstGeom prst="rect">
            <a:avLst/>
          </a:prstGeom>
          <a:noFill/>
        </p:spPr>
        <p:txBody>
          <a:bodyPr wrap="square" lIns="0" rIns="0" tIns="0" bIns="0" anchor="t">
            <a:spAutoFit/>
          </a:bodyPr>
          <a:lstStyle/>
          <a:p>
            <a:pPr algn="l">
              <a:lnSpc>
                <a:spcPct val="140000"/>
              </a:lnSpc>
              <a:spcBef>
                <a:spcPts val="0"/>
              </a:spcBef>
              <a:spcAft>
                <a:spcPts val="0"/>
              </a:spcAft>
            </a:pPr>
            <a:r>
              <a:rPr sz="1350" b="0" i="0">
                <a:solidFill>
                  <a:srgbClr val="9FB8B5"/>
                </a:solidFill>
                <a:latin typeface="Segoe UI"/>
              </a:rPr>
              <a:t>Bốn dấu hiệu dưới đây đều có thể quan sát được bằng chính trải nghiệm hằng ngày của em.</a:t>
            </a:r>
          </a:p>
        </p:txBody>
      </p:sp>
      <p:sp>
        <p:nvSpPr>
          <p:cNvPr id="6" name="Rounded Rectangle 5"/>
          <p:cNvSpPr/>
          <p:nvPr/>
        </p:nvSpPr>
        <p:spPr>
          <a:xfrm>
            <a:off x="566928" y="4800600"/>
            <a:ext cx="2599867" cy="841248"/>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4800600"/>
            <a:ext cx="41148" cy="8412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4800600"/>
            <a:ext cx="2142667" cy="841248"/>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FFF8EC"/>
                </a:solidFill>
                <a:latin typeface="Segoe UI"/>
              </a:rPr>
              <a:t>01  Nhiệt độ tăng</a:t>
            </a:r>
          </a:p>
        </p:txBody>
      </p:sp>
      <p:sp>
        <p:nvSpPr>
          <p:cNvPr id="9" name="Rounded Rectangle 8"/>
          <p:cNvSpPr/>
          <p:nvPr/>
        </p:nvSpPr>
        <p:spPr>
          <a:xfrm>
            <a:off x="3386251" y="4800600"/>
            <a:ext cx="2599867" cy="841248"/>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3386251" y="4800600"/>
            <a:ext cx="41148" cy="8412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660571" y="4800600"/>
            <a:ext cx="2142667" cy="841248"/>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FFF8EC"/>
                </a:solidFill>
                <a:latin typeface="Segoe UI"/>
              </a:rPr>
              <a:t>02  Mưa cực đoan</a:t>
            </a:r>
          </a:p>
        </p:txBody>
      </p:sp>
      <p:sp>
        <p:nvSpPr>
          <p:cNvPr id="12" name="Rounded Rectangle 11"/>
          <p:cNvSpPr/>
          <p:nvPr/>
        </p:nvSpPr>
        <p:spPr>
          <a:xfrm>
            <a:off x="6205575" y="4800600"/>
            <a:ext cx="2599867" cy="841248"/>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ectangle 12"/>
          <p:cNvSpPr/>
          <p:nvPr/>
        </p:nvSpPr>
        <p:spPr>
          <a:xfrm>
            <a:off x="6205575" y="4800600"/>
            <a:ext cx="41148" cy="8412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6479895" y="4800600"/>
            <a:ext cx="2142667" cy="841248"/>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FFF8EC"/>
                </a:solidFill>
                <a:latin typeface="Segoe UI"/>
              </a:rPr>
              <a:t>03  Nước biển dâng</a:t>
            </a:r>
          </a:p>
        </p:txBody>
      </p:sp>
      <p:sp>
        <p:nvSpPr>
          <p:cNvPr id="15" name="Rounded Rectangle 14"/>
          <p:cNvSpPr/>
          <p:nvPr/>
        </p:nvSpPr>
        <p:spPr>
          <a:xfrm>
            <a:off x="9024899" y="4800600"/>
            <a:ext cx="2599867" cy="841248"/>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ctangle 15"/>
          <p:cNvSpPr/>
          <p:nvPr/>
        </p:nvSpPr>
        <p:spPr>
          <a:xfrm>
            <a:off x="9024899" y="4800600"/>
            <a:ext cx="41148" cy="8412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9299219" y="4800600"/>
            <a:ext cx="2142667" cy="841248"/>
          </a:xfrm>
          <a:prstGeom prst="rect">
            <a:avLst/>
          </a:prstGeom>
          <a:noFill/>
        </p:spPr>
        <p:txBody>
          <a:bodyPr wrap="square" lIns="0" rIns="0" tIns="0" bIns="0" anchor="ctr">
            <a:spAutoFit/>
          </a:bodyPr>
          <a:lstStyle/>
          <a:p>
            <a:pPr algn="l">
              <a:lnSpc>
                <a:spcPct val="120000"/>
              </a:lnSpc>
              <a:spcBef>
                <a:spcPts val="0"/>
              </a:spcBef>
              <a:spcAft>
                <a:spcPts val="0"/>
              </a:spcAft>
            </a:pPr>
            <a:r>
              <a:rPr sz="1300" b="1" i="0">
                <a:solidFill>
                  <a:srgbClr val="FFF8EC"/>
                </a:solidFill>
                <a:latin typeface="Segoe UI"/>
              </a:rPr>
              <a:t>04  Thiên tai cực đoan</a:t>
            </a:r>
          </a:p>
        </p:txBody>
      </p:sp>
      <p:sp>
        <p:nvSpPr>
          <p:cNvPr id="18" name="TextBox 17"/>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6B8785"/>
                </a:solidFill>
                <a:latin typeface="Segoe UI"/>
              </a:rPr>
              <a:t>GIÁO DỤC ĐỊA PHƯƠNG 10 · CHỦ ĐỀ 1 · BIẾN ĐỔI KHÍ HẬU Ở TP. HỒ CHÍ MINH</a:t>
            </a:r>
          </a:p>
        </p:txBody>
      </p:sp>
      <p:sp>
        <p:nvSpPr>
          <p:cNvPr id="19" name="TextBox 18"/>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6B8785"/>
                </a:solidFill>
                <a:latin typeface="Segoe UI"/>
              </a:rPr>
              <a:t>05 / 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06</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Bốn biểu hiện chính</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Toàn bộ phần A gói gọn trong bốn dấu hiệu — mỗi dấu hiệu sẽ được mở ra ở các trang sau</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2599867" cy="32004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91640"/>
            <a:ext cx="45720" cy="32004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59536" y="1947672"/>
            <a:ext cx="2014651"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01</a:t>
            </a:r>
          </a:p>
        </p:txBody>
      </p:sp>
      <p:sp>
        <p:nvSpPr>
          <p:cNvPr id="9" name="TextBox 8"/>
          <p:cNvSpPr txBox="1"/>
          <p:nvPr/>
        </p:nvSpPr>
        <p:spPr>
          <a:xfrm>
            <a:off x="859536" y="2221991"/>
            <a:ext cx="2014651" cy="23774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Nhiệt độ tăng</a:t>
            </a:r>
          </a:p>
          <a:p>
            <a:pPr algn="l">
              <a:lnSpc>
                <a:spcPct val="132000"/>
              </a:lnSpc>
              <a:spcBef>
                <a:spcPts val="0"/>
              </a:spcBef>
              <a:spcAft>
                <a:spcPts val="0"/>
              </a:spcAft>
            </a:pPr>
            <a:r>
              <a:rPr sz="1150" b="0" i="0">
                <a:solidFill>
                  <a:srgbClr val="526D6B"/>
                </a:solidFill>
                <a:latin typeface="Segoe UI"/>
              </a:rPr>
              <a:t>Nắng nóng gay gắt và kéo dài hơn, nội thành hoá thành đảo nhiệt đô thị.</a:t>
            </a:r>
          </a:p>
          <a:p>
            <a:pPr algn="l">
              <a:lnSpc>
                <a:spcPct val="130000"/>
              </a:lnSpc>
              <a:spcBef>
                <a:spcPts val="400"/>
              </a:spcBef>
              <a:spcAft>
                <a:spcPts val="0"/>
              </a:spcAft>
            </a:pPr>
            <a:r>
              <a:rPr sz="1050" b="1" i="0">
                <a:solidFill>
                  <a:srgbClr val="B9573E"/>
                </a:solidFill>
                <a:latin typeface="Segoe UI"/>
              </a:rPr>
              <a:t>·  +0,8°C đến năm 2030</a:t>
            </a:r>
          </a:p>
          <a:p>
            <a:pPr algn="l">
              <a:lnSpc>
                <a:spcPct val="130000"/>
              </a:lnSpc>
              <a:spcBef>
                <a:spcPts val="400"/>
              </a:spcBef>
              <a:spcAft>
                <a:spcPts val="0"/>
              </a:spcAft>
            </a:pPr>
            <a:r>
              <a:rPr sz="1050" b="1" i="0">
                <a:solidFill>
                  <a:srgbClr val="B9573E"/>
                </a:solidFill>
                <a:latin typeface="Segoe UI"/>
              </a:rPr>
              <a:t>·  Nội thành nóng hơn 1 – 3°C</a:t>
            </a:r>
          </a:p>
        </p:txBody>
      </p:sp>
      <p:sp>
        <p:nvSpPr>
          <p:cNvPr id="10" name="Rounded Rectangle 9"/>
          <p:cNvSpPr/>
          <p:nvPr/>
        </p:nvSpPr>
        <p:spPr>
          <a:xfrm>
            <a:off x="3386251" y="1691640"/>
            <a:ext cx="2599867" cy="32004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3386251" y="1691640"/>
            <a:ext cx="45720" cy="32004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78859" y="1947672"/>
            <a:ext cx="2014651"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02</a:t>
            </a:r>
          </a:p>
        </p:txBody>
      </p:sp>
      <p:sp>
        <p:nvSpPr>
          <p:cNvPr id="13" name="TextBox 12"/>
          <p:cNvSpPr txBox="1"/>
          <p:nvPr/>
        </p:nvSpPr>
        <p:spPr>
          <a:xfrm>
            <a:off x="3678859" y="2221991"/>
            <a:ext cx="2014651" cy="23774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Mưa cực đoan</a:t>
            </a:r>
          </a:p>
          <a:p>
            <a:pPr algn="l">
              <a:lnSpc>
                <a:spcPct val="132000"/>
              </a:lnSpc>
              <a:spcBef>
                <a:spcPts val="0"/>
              </a:spcBef>
              <a:spcAft>
                <a:spcPts val="0"/>
              </a:spcAft>
            </a:pPr>
            <a:r>
              <a:rPr sz="1150" b="0" i="0">
                <a:solidFill>
                  <a:srgbClr val="526D6B"/>
                </a:solidFill>
                <a:latin typeface="Segoe UI"/>
              </a:rPr>
              <a:t>Mưa dữ dội dồn vào thời gian rất ngắn, mùa mưa dịch chuyển.</a:t>
            </a:r>
          </a:p>
          <a:p>
            <a:pPr algn="l">
              <a:lnSpc>
                <a:spcPct val="130000"/>
              </a:lnSpc>
              <a:spcBef>
                <a:spcPts val="400"/>
              </a:spcBef>
              <a:spcAft>
                <a:spcPts val="0"/>
              </a:spcAft>
            </a:pPr>
            <a:r>
              <a:rPr sz="1050" b="1" i="0">
                <a:solidFill>
                  <a:srgbClr val="B9573E"/>
                </a:solidFill>
                <a:latin typeface="Segoe UI"/>
              </a:rPr>
              <a:t>·  &gt; 100mm trong 1 – 2 giờ</a:t>
            </a:r>
          </a:p>
          <a:p>
            <a:pPr algn="l">
              <a:lnSpc>
                <a:spcPct val="130000"/>
              </a:lnSpc>
              <a:spcBef>
                <a:spcPts val="400"/>
              </a:spcBef>
              <a:spcAft>
                <a:spcPts val="0"/>
              </a:spcAft>
            </a:pPr>
            <a:r>
              <a:rPr sz="1050" b="1" i="0">
                <a:solidFill>
                  <a:srgbClr val="B9573E"/>
                </a:solidFill>
                <a:latin typeface="Segoe UI"/>
              </a:rPr>
              <a:t>·  Cống chịu được 85mm/3 giờ</a:t>
            </a:r>
          </a:p>
        </p:txBody>
      </p:sp>
      <p:sp>
        <p:nvSpPr>
          <p:cNvPr id="14" name="Rounded Rectangle 13"/>
          <p:cNvSpPr/>
          <p:nvPr/>
        </p:nvSpPr>
        <p:spPr>
          <a:xfrm>
            <a:off x="6205575" y="1691640"/>
            <a:ext cx="2599867" cy="32004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6205575" y="1691640"/>
            <a:ext cx="45720" cy="32004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98183" y="1947672"/>
            <a:ext cx="2014651"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03</a:t>
            </a:r>
          </a:p>
        </p:txBody>
      </p:sp>
      <p:sp>
        <p:nvSpPr>
          <p:cNvPr id="17" name="TextBox 16"/>
          <p:cNvSpPr txBox="1"/>
          <p:nvPr/>
        </p:nvSpPr>
        <p:spPr>
          <a:xfrm>
            <a:off x="6498183" y="2221991"/>
            <a:ext cx="2014651" cy="23774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Nước biển dâng</a:t>
            </a:r>
          </a:p>
          <a:p>
            <a:pPr algn="l">
              <a:lnSpc>
                <a:spcPct val="132000"/>
              </a:lnSpc>
              <a:spcBef>
                <a:spcPts val="0"/>
              </a:spcBef>
              <a:spcAft>
                <a:spcPts val="0"/>
              </a:spcAft>
            </a:pPr>
            <a:r>
              <a:rPr sz="1150" b="0" i="0">
                <a:solidFill>
                  <a:srgbClr val="526D6B"/>
                </a:solidFill>
                <a:latin typeface="Segoe UI"/>
              </a:rPr>
              <a:t>Triều cường liên tục lập kỷ lục, trong khi nền đất lại đang lún.</a:t>
            </a:r>
          </a:p>
          <a:p>
            <a:pPr algn="l">
              <a:lnSpc>
                <a:spcPct val="130000"/>
              </a:lnSpc>
              <a:spcBef>
                <a:spcPts val="400"/>
              </a:spcBef>
              <a:spcAft>
                <a:spcPts val="0"/>
              </a:spcAft>
            </a:pPr>
            <a:r>
              <a:rPr sz="1050" b="1" i="0">
                <a:solidFill>
                  <a:srgbClr val="B9573E"/>
                </a:solidFill>
                <a:latin typeface="Segoe UI"/>
              </a:rPr>
              <a:t>·  Phú An 1,78m (11/2025)</a:t>
            </a:r>
          </a:p>
          <a:p>
            <a:pPr algn="l">
              <a:lnSpc>
                <a:spcPct val="130000"/>
              </a:lnSpc>
              <a:spcBef>
                <a:spcPts val="400"/>
              </a:spcBef>
              <a:spcAft>
                <a:spcPts val="0"/>
              </a:spcAft>
            </a:pPr>
            <a:r>
              <a:rPr sz="1050" b="1" i="0">
                <a:solidFill>
                  <a:srgbClr val="B9573E"/>
                </a:solidFill>
                <a:latin typeface="Segoe UI"/>
              </a:rPr>
              <a:t>·  Đất lún ~2cm mỗi năm</a:t>
            </a:r>
          </a:p>
        </p:txBody>
      </p:sp>
      <p:sp>
        <p:nvSpPr>
          <p:cNvPr id="18" name="Rounded Rectangle 17"/>
          <p:cNvSpPr/>
          <p:nvPr/>
        </p:nvSpPr>
        <p:spPr>
          <a:xfrm>
            <a:off x="9024899" y="1691640"/>
            <a:ext cx="2599867" cy="32004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9024899" y="1691640"/>
            <a:ext cx="45720" cy="32004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317507" y="1947672"/>
            <a:ext cx="2014651"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04</a:t>
            </a:r>
          </a:p>
        </p:txBody>
      </p:sp>
      <p:sp>
        <p:nvSpPr>
          <p:cNvPr id="21" name="TextBox 20"/>
          <p:cNvSpPr txBox="1"/>
          <p:nvPr/>
        </p:nvSpPr>
        <p:spPr>
          <a:xfrm>
            <a:off x="9317507" y="2221991"/>
            <a:ext cx="2014651" cy="23774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Thiên tai cực đoan</a:t>
            </a:r>
          </a:p>
          <a:p>
            <a:pPr algn="l">
              <a:lnSpc>
                <a:spcPct val="132000"/>
              </a:lnSpc>
              <a:spcBef>
                <a:spcPts val="0"/>
              </a:spcBef>
              <a:spcAft>
                <a:spcPts val="0"/>
              </a:spcAft>
            </a:pPr>
            <a:r>
              <a:rPr sz="1150" b="0" i="0">
                <a:solidFill>
                  <a:srgbClr val="526D6B"/>
                </a:solidFill>
                <a:latin typeface="Segoe UI"/>
              </a:rPr>
              <a:t>Dông lốc, xâm nhập mặn, sạt lở bờ sông đều gia tăng.</a:t>
            </a:r>
          </a:p>
          <a:p>
            <a:pPr algn="l">
              <a:lnSpc>
                <a:spcPct val="130000"/>
              </a:lnSpc>
              <a:spcBef>
                <a:spcPts val="400"/>
              </a:spcBef>
              <a:spcAft>
                <a:spcPts val="0"/>
              </a:spcAft>
            </a:pPr>
            <a:r>
              <a:rPr sz="1050" b="1" i="0">
                <a:solidFill>
                  <a:srgbClr val="B9573E"/>
                </a:solidFill>
                <a:latin typeface="Segoe UI"/>
              </a:rPr>
              <a:t>·  Bão dịch xuống phía Nam</a:t>
            </a:r>
          </a:p>
          <a:p>
            <a:pPr algn="l">
              <a:lnSpc>
                <a:spcPct val="130000"/>
              </a:lnSpc>
              <a:spcBef>
                <a:spcPts val="400"/>
              </a:spcBef>
              <a:spcAft>
                <a:spcPts val="0"/>
              </a:spcAft>
            </a:pPr>
            <a:r>
              <a:rPr sz="1050" b="1" i="0">
                <a:solidFill>
                  <a:srgbClr val="B9573E"/>
                </a:solidFill>
                <a:latin typeface="Segoe UI"/>
              </a:rPr>
              <a:t>·  Thêm nhiều điểm sạt lở</a:t>
            </a:r>
          </a:p>
        </p:txBody>
      </p:sp>
      <p:sp>
        <p:nvSpPr>
          <p:cNvPr id="22" name="Rounded Rectangle 21"/>
          <p:cNvSpPr/>
          <p:nvPr/>
        </p:nvSpPr>
        <p:spPr>
          <a:xfrm>
            <a:off x="566928" y="5138928"/>
            <a:ext cx="11057839" cy="749808"/>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138928"/>
            <a:ext cx="50292" cy="74980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5138928"/>
            <a:ext cx="10490911" cy="749808"/>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BỐN DẤU HIỆU GẮN CHẶT NHAU:  </a:t>
            </a:r>
            <a:r>
              <a:rPr sz="1250" b="0" i="0">
                <a:solidFill>
                  <a:srgbClr val="173A3A"/>
                </a:solidFill>
                <a:latin typeface="Segoe UI"/>
              </a:rPr>
              <a:t>nóng lên làm mưa dữ dội hơn, nước biển dâng lại khiến nước mưa khó thoát — nên hậu quả cộng dồn chứ không cộng lại đơn thuần.</a:t>
            </a:r>
          </a:p>
        </p:txBody>
      </p:sp>
      <p:sp>
        <p:nvSpPr>
          <p:cNvPr id="25" name="TextBox 24"/>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26" name="TextBox 25"/>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06 / 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07</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Biểu hiện 1 — Nhiệt độ tăng</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Nền nhiệt chỉ nhích lên từng chút, nhưng số ngày nắng nóng thì tăng rất rõ</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6400800" cy="118872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91640"/>
            <a:ext cx="45720" cy="1188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824" y="1911095"/>
            <a:ext cx="5779008" cy="27432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73A3A"/>
                </a:solidFill>
                <a:latin typeface="Segoe UI"/>
              </a:rPr>
              <a:t>Xu thế tăng rõ rệt</a:t>
            </a:r>
          </a:p>
        </p:txBody>
      </p:sp>
      <p:sp>
        <p:nvSpPr>
          <p:cNvPr id="9" name="TextBox 8"/>
          <p:cNvSpPr txBox="1"/>
          <p:nvPr/>
        </p:nvSpPr>
        <p:spPr>
          <a:xfrm>
            <a:off x="877824" y="2258568"/>
            <a:ext cx="5779008" cy="566928"/>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526D6B"/>
                </a:solidFill>
                <a:latin typeface="Segoe UI"/>
              </a:rPr>
              <a:t>Nhiệt độ trung bình năm của thành phố tăng dần qua từng thập kỉ so với thời kì cơ sở. Mức tăng nghe có vẻ nhỏ, nhưng đủ để đổi hẳn nhịp thời tiết.</a:t>
            </a:r>
          </a:p>
        </p:txBody>
      </p:sp>
      <p:sp>
        <p:nvSpPr>
          <p:cNvPr id="10" name="Rounded Rectangle 9"/>
          <p:cNvSpPr/>
          <p:nvPr/>
        </p:nvSpPr>
        <p:spPr>
          <a:xfrm>
            <a:off x="566928" y="3026664"/>
            <a:ext cx="6400800" cy="118872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3026664"/>
            <a:ext cx="45720" cy="1188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7824" y="3246120"/>
            <a:ext cx="5779008" cy="27432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73A3A"/>
                </a:solidFill>
                <a:latin typeface="Segoe UI"/>
              </a:rPr>
              <a:t>Ngày nắng nóng nhiều thêm</a:t>
            </a:r>
          </a:p>
        </p:txBody>
      </p:sp>
      <p:sp>
        <p:nvSpPr>
          <p:cNvPr id="13" name="TextBox 12"/>
          <p:cNvSpPr txBox="1"/>
          <p:nvPr/>
        </p:nvSpPr>
        <p:spPr>
          <a:xfrm>
            <a:off x="877824" y="3593592"/>
            <a:ext cx="5779008" cy="566928"/>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526D6B"/>
                </a:solidFill>
                <a:latin typeface="Segoe UI"/>
              </a:rPr>
              <a:t>Số ngày có nhiệt độ cao nhất từ 35°C trở lên và số đợt nắng nóng kéo dài đều tăng, tập trung vào các tháng 3 – 5.</a:t>
            </a:r>
          </a:p>
        </p:txBody>
      </p:sp>
      <p:sp>
        <p:nvSpPr>
          <p:cNvPr id="14" name="Rounded Rectangle 13"/>
          <p:cNvSpPr/>
          <p:nvPr/>
        </p:nvSpPr>
        <p:spPr>
          <a:xfrm>
            <a:off x="566928" y="4361688"/>
            <a:ext cx="6400800" cy="1572768"/>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77824" y="4581144"/>
            <a:ext cx="5779008"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B9573E"/>
                </a:solidFill>
                <a:latin typeface="Segoe UI"/>
              </a:rPr>
              <a:t>VÍ DỤ NGAY QUANH EM</a:t>
            </a:r>
          </a:p>
        </p:txBody>
      </p:sp>
      <p:sp>
        <p:nvSpPr>
          <p:cNvPr id="16" name="TextBox 15"/>
          <p:cNvSpPr txBox="1"/>
          <p:nvPr/>
        </p:nvSpPr>
        <p:spPr>
          <a:xfrm>
            <a:off x="877824" y="4910327"/>
            <a:ext cx="5779008" cy="868680"/>
          </a:xfrm>
          <a:prstGeom prst="rect">
            <a:avLst/>
          </a:prstGeom>
          <a:noFill/>
        </p:spPr>
        <p:txBody>
          <a:bodyPr wrap="square" lIns="0" rIns="0" tIns="0" bIns="0" anchor="t">
            <a:spAutoFit/>
          </a:bodyPr>
          <a:lstStyle/>
          <a:p>
            <a:pPr algn="l">
              <a:lnSpc>
                <a:spcPct val="138000"/>
              </a:lnSpc>
              <a:spcBef>
                <a:spcPts val="0"/>
              </a:spcBef>
              <a:spcAft>
                <a:spcPts val="0"/>
              </a:spcAft>
            </a:pPr>
            <a:r>
              <a:rPr sz="1200" b="0" i="0">
                <a:solidFill>
                  <a:srgbClr val="173A3A"/>
                </a:solidFill>
                <a:latin typeface="Segoe UI"/>
              </a:rPr>
              <a:t>Trưa tháng 4, trạm khí tượng báo 36°C nhưng nhiệt độ ngay trên mặt đường nhựa khu trung tâm còn cao hơn nhiều. Đó là dấu hiệu của đảo nhiệt đô thị, chứ không đơn thuần là “hôm nay trời nóng”.</a:t>
            </a:r>
          </a:p>
        </p:txBody>
      </p:sp>
      <p:sp>
        <p:nvSpPr>
          <p:cNvPr id="17" name="Rounded Rectangle 16"/>
          <p:cNvSpPr/>
          <p:nvPr/>
        </p:nvSpPr>
        <p:spPr>
          <a:xfrm>
            <a:off x="7269480" y="1691640"/>
            <a:ext cx="4355287" cy="252374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80376" y="1938528"/>
            <a:ext cx="373349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30">
                <a:solidFill>
                  <a:srgbClr val="2F7F7A"/>
                </a:solidFill>
                <a:latin typeface="Segoe UI"/>
              </a:rPr>
              <a:t>KỊCH BẢN BIẾN ĐỔI KHÍ HẬU CHO TP.HCM</a:t>
            </a:r>
          </a:p>
        </p:txBody>
      </p:sp>
      <p:sp>
        <p:nvSpPr>
          <p:cNvPr id="19" name="TextBox 18"/>
          <p:cNvSpPr txBox="1"/>
          <p:nvPr/>
        </p:nvSpPr>
        <p:spPr>
          <a:xfrm>
            <a:off x="7580376" y="2377440"/>
            <a:ext cx="2314767" cy="237744"/>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173A3A"/>
                </a:solidFill>
                <a:latin typeface="Segoe UI"/>
              </a:rPr>
              <a:t>Đến năm 2030</a:t>
            </a:r>
          </a:p>
        </p:txBody>
      </p:sp>
      <p:sp>
        <p:nvSpPr>
          <p:cNvPr id="20" name="TextBox 19"/>
          <p:cNvSpPr txBox="1"/>
          <p:nvPr/>
        </p:nvSpPr>
        <p:spPr>
          <a:xfrm>
            <a:off x="9895143" y="2377440"/>
            <a:ext cx="1418728" cy="237744"/>
          </a:xfrm>
          <a:prstGeom prst="rect">
            <a:avLst/>
          </a:prstGeom>
          <a:noFill/>
        </p:spPr>
        <p:txBody>
          <a:bodyPr wrap="square" lIns="0" rIns="0" tIns="0" bIns="0" anchor="t">
            <a:spAutoFit/>
          </a:bodyPr>
          <a:lstStyle/>
          <a:p>
            <a:pPr algn="r">
              <a:lnSpc>
                <a:spcPct val="120000"/>
              </a:lnSpc>
              <a:spcBef>
                <a:spcPts val="0"/>
              </a:spcBef>
              <a:spcAft>
                <a:spcPts val="0"/>
              </a:spcAft>
            </a:pPr>
            <a:r>
              <a:rPr sz="1250" b="1" i="0">
                <a:solidFill>
                  <a:srgbClr val="E9825B"/>
                </a:solidFill>
                <a:latin typeface="Segoe UI"/>
              </a:rPr>
              <a:t>+0,8°C</a:t>
            </a:r>
          </a:p>
        </p:txBody>
      </p:sp>
      <p:sp>
        <p:nvSpPr>
          <p:cNvPr id="21" name="Rounded Rectangle 20"/>
          <p:cNvSpPr/>
          <p:nvPr/>
        </p:nvSpPr>
        <p:spPr>
          <a:xfrm>
            <a:off x="7580376" y="2688336"/>
            <a:ext cx="3733495" cy="155448"/>
          </a:xfrm>
          <a:prstGeom prst="roundRect">
            <a:avLst>
              <a:gd name="adj" fmla="val 50000"/>
            </a:avLst>
          </a:prstGeom>
          <a:solidFill>
            <a:srgbClr val="DD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7580376" y="2688336"/>
            <a:ext cx="2314767" cy="155448"/>
          </a:xfrm>
          <a:prstGeom prst="roundRect">
            <a:avLst>
              <a:gd name="adj" fmla="val 50000"/>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7580376" y="2898648"/>
            <a:ext cx="3733495" cy="219456"/>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8AA3A1"/>
                </a:solidFill>
                <a:latin typeface="Segoe UI"/>
              </a:rPr>
              <a:t>so với thời kì cơ sở</a:t>
            </a:r>
          </a:p>
        </p:txBody>
      </p:sp>
      <p:sp>
        <p:nvSpPr>
          <p:cNvPr id="24" name="TextBox 23"/>
          <p:cNvSpPr txBox="1"/>
          <p:nvPr/>
        </p:nvSpPr>
        <p:spPr>
          <a:xfrm>
            <a:off x="7580376" y="3273552"/>
            <a:ext cx="2314767" cy="237744"/>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173A3A"/>
                </a:solidFill>
                <a:latin typeface="Segoe UI"/>
              </a:rPr>
              <a:t>Đến năm 2050</a:t>
            </a:r>
          </a:p>
        </p:txBody>
      </p:sp>
      <p:sp>
        <p:nvSpPr>
          <p:cNvPr id="25" name="TextBox 24"/>
          <p:cNvSpPr txBox="1"/>
          <p:nvPr/>
        </p:nvSpPr>
        <p:spPr>
          <a:xfrm>
            <a:off x="9895143" y="3273552"/>
            <a:ext cx="1418728" cy="237744"/>
          </a:xfrm>
          <a:prstGeom prst="rect">
            <a:avLst/>
          </a:prstGeom>
          <a:noFill/>
        </p:spPr>
        <p:txBody>
          <a:bodyPr wrap="square" lIns="0" rIns="0" tIns="0" bIns="0" anchor="t">
            <a:spAutoFit/>
          </a:bodyPr>
          <a:lstStyle/>
          <a:p>
            <a:pPr algn="r">
              <a:lnSpc>
                <a:spcPct val="120000"/>
              </a:lnSpc>
              <a:spcBef>
                <a:spcPts val="0"/>
              </a:spcBef>
              <a:spcAft>
                <a:spcPts val="0"/>
              </a:spcAft>
            </a:pPr>
            <a:r>
              <a:rPr sz="1250" b="1" i="0">
                <a:solidFill>
                  <a:srgbClr val="B9573E"/>
                </a:solidFill>
                <a:latin typeface="Segoe UI"/>
              </a:rPr>
              <a:t>+1,2 – 1,3°C</a:t>
            </a:r>
          </a:p>
        </p:txBody>
      </p:sp>
      <p:sp>
        <p:nvSpPr>
          <p:cNvPr id="26" name="Rounded Rectangle 25"/>
          <p:cNvSpPr/>
          <p:nvPr/>
        </p:nvSpPr>
        <p:spPr>
          <a:xfrm>
            <a:off x="7580376" y="3584448"/>
            <a:ext cx="3733495" cy="155448"/>
          </a:xfrm>
          <a:prstGeom prst="roundRect">
            <a:avLst>
              <a:gd name="adj" fmla="val 50000"/>
            </a:avLst>
          </a:prstGeom>
          <a:solidFill>
            <a:srgbClr val="DD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ounded Rectangle 26"/>
          <p:cNvSpPr/>
          <p:nvPr/>
        </p:nvSpPr>
        <p:spPr>
          <a:xfrm>
            <a:off x="7580376" y="3584448"/>
            <a:ext cx="3733495" cy="155448"/>
          </a:xfrm>
          <a:prstGeom prst="roundRect">
            <a:avLst>
              <a:gd name="adj" fmla="val 50000"/>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7580376" y="3794760"/>
            <a:ext cx="3733495" cy="219456"/>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8AA3A1"/>
                </a:solidFill>
                <a:latin typeface="Segoe UI"/>
              </a:rPr>
              <a:t>mức tăng gần gấp rưỡi</a:t>
            </a:r>
          </a:p>
        </p:txBody>
      </p:sp>
      <p:sp>
        <p:nvSpPr>
          <p:cNvPr id="29" name="Rounded Rectangle 28"/>
          <p:cNvSpPr/>
          <p:nvPr/>
        </p:nvSpPr>
        <p:spPr>
          <a:xfrm>
            <a:off x="7269480" y="4370832"/>
            <a:ext cx="4355287" cy="1737360"/>
          </a:xfrm>
          <a:prstGeom prst="roundRect">
            <a:avLst>
              <a:gd name="adj" fmla="val 8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7580376" y="4608576"/>
            <a:ext cx="373349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2F7F7A"/>
                </a:solidFill>
                <a:latin typeface="Segoe UI"/>
              </a:rPr>
              <a:t>ĐẢO NHIỆT ĐÔ THỊ</a:t>
            </a:r>
          </a:p>
        </p:txBody>
      </p:sp>
      <p:sp>
        <p:nvSpPr>
          <p:cNvPr id="31" name="TextBox 30"/>
          <p:cNvSpPr txBox="1"/>
          <p:nvPr/>
        </p:nvSpPr>
        <p:spPr>
          <a:xfrm>
            <a:off x="7580376" y="4919472"/>
            <a:ext cx="3733495" cy="457200"/>
          </a:xfrm>
          <a:prstGeom prst="rect">
            <a:avLst/>
          </a:prstGeom>
          <a:noFill/>
        </p:spPr>
        <p:txBody>
          <a:bodyPr wrap="square" lIns="0" rIns="0" tIns="0" bIns="0" anchor="t">
            <a:spAutoFit/>
          </a:bodyPr>
          <a:lstStyle/>
          <a:p>
            <a:pPr algn="l">
              <a:lnSpc>
                <a:spcPct val="120000"/>
              </a:lnSpc>
              <a:spcBef>
                <a:spcPts val="0"/>
              </a:spcBef>
              <a:spcAft>
                <a:spcPts val="0"/>
              </a:spcAft>
            </a:pPr>
            <a:r>
              <a:rPr sz="2700" b="1" i="0">
                <a:solidFill>
                  <a:srgbClr val="173A3A"/>
                </a:solidFill>
                <a:latin typeface="Segoe UI"/>
              </a:rPr>
              <a:t>1 – 3°C</a:t>
            </a:r>
          </a:p>
        </p:txBody>
      </p:sp>
      <p:sp>
        <p:nvSpPr>
          <p:cNvPr id="32" name="TextBox 31"/>
          <p:cNvSpPr txBox="1"/>
          <p:nvPr/>
        </p:nvSpPr>
        <p:spPr>
          <a:xfrm>
            <a:off x="7580376" y="5431536"/>
            <a:ext cx="3733495" cy="502920"/>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là mức chênh lệch giữa nội thành bị bê tông hoá và vùng ven, rõ nhất về đêm.</a:t>
            </a:r>
          </a:p>
        </p:txBody>
      </p:sp>
      <p:sp>
        <p:nvSpPr>
          <p:cNvPr id="33" name="TextBox 32"/>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4" name="TextBox 33"/>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07 / 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08</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Vì sao nội thành luôn nóng hơn?</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Cơ chế đảo nhiệt đô thị — ba bước diễn ra mỗi ngày ngay dưới chân em</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3527450" cy="23774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41247" y="1965960"/>
            <a:ext cx="420624" cy="420624"/>
          </a:xfrm>
          <a:prstGeom prst="ellipse">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2066544"/>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FFFFFF"/>
                </a:solidFill>
                <a:latin typeface="Segoe UI"/>
              </a:rPr>
              <a:t>1</a:t>
            </a:r>
          </a:p>
        </p:txBody>
      </p:sp>
      <p:sp>
        <p:nvSpPr>
          <p:cNvPr id="9" name="TextBox 8"/>
          <p:cNvSpPr txBox="1"/>
          <p:nvPr/>
        </p:nvSpPr>
        <p:spPr>
          <a:xfrm>
            <a:off x="841247" y="2560320"/>
            <a:ext cx="2978810" cy="1234440"/>
          </a:xfrm>
          <a:prstGeom prst="rect">
            <a:avLst/>
          </a:prstGeom>
          <a:noFill/>
        </p:spPr>
        <p:txBody>
          <a:bodyPr wrap="square" lIns="0" rIns="0" tIns="0" bIns="0" anchor="t">
            <a:spAutoFit/>
          </a:bodyPr>
          <a:lstStyle/>
          <a:p>
            <a:pPr algn="l">
              <a:lnSpc>
                <a:spcPct val="112000"/>
              </a:lnSpc>
              <a:spcBef>
                <a:spcPts val="0"/>
              </a:spcBef>
              <a:spcAft>
                <a:spcPts val="600"/>
              </a:spcAft>
            </a:pPr>
            <a:r>
              <a:rPr sz="1500" b="1" i="0">
                <a:solidFill>
                  <a:srgbClr val="173A3A"/>
                </a:solidFill>
                <a:latin typeface="Segoe UI"/>
              </a:rPr>
              <a:t>Ban ngày — hấp thụ</a:t>
            </a:r>
          </a:p>
          <a:p>
            <a:pPr algn="l">
              <a:lnSpc>
                <a:spcPct val="134000"/>
              </a:lnSpc>
              <a:spcBef>
                <a:spcPts val="0"/>
              </a:spcBef>
              <a:spcAft>
                <a:spcPts val="0"/>
              </a:spcAft>
            </a:pPr>
            <a:r>
              <a:rPr sz="1150" b="0" i="0">
                <a:solidFill>
                  <a:srgbClr val="526D6B"/>
                </a:solidFill>
                <a:latin typeface="Segoe UI"/>
              </a:rPr>
              <a:t>Bê tông, nhựa đường, mái tôn và tường kính hấp thụ rất mạnh bức xạ Mặt Trời, nóng hơn nhiều so với đất và cây cỏ.</a:t>
            </a:r>
          </a:p>
        </p:txBody>
      </p:sp>
      <p:sp>
        <p:nvSpPr>
          <p:cNvPr id="10" name="Right Arrow 9"/>
          <p:cNvSpPr/>
          <p:nvPr/>
        </p:nvSpPr>
        <p:spPr>
          <a:xfrm>
            <a:off x="4126382" y="2724912"/>
            <a:ext cx="173736" cy="310896"/>
          </a:xfrm>
          <a:prstGeom prst="rightArrow">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ounded Rectangle 10"/>
          <p:cNvSpPr/>
          <p:nvPr/>
        </p:nvSpPr>
        <p:spPr>
          <a:xfrm>
            <a:off x="4332122" y="1691640"/>
            <a:ext cx="3527450" cy="23774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4606442" y="1965960"/>
            <a:ext cx="420624" cy="420624"/>
          </a:xfrm>
          <a:prstGeom prst="ellipse">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606442" y="2066544"/>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FFFFFF"/>
                </a:solidFill>
                <a:latin typeface="Segoe UI"/>
              </a:rPr>
              <a:t>2</a:t>
            </a:r>
          </a:p>
        </p:txBody>
      </p:sp>
      <p:sp>
        <p:nvSpPr>
          <p:cNvPr id="14" name="TextBox 13"/>
          <p:cNvSpPr txBox="1"/>
          <p:nvPr/>
        </p:nvSpPr>
        <p:spPr>
          <a:xfrm>
            <a:off x="4606442" y="2560320"/>
            <a:ext cx="2978810" cy="1234440"/>
          </a:xfrm>
          <a:prstGeom prst="rect">
            <a:avLst/>
          </a:prstGeom>
          <a:noFill/>
        </p:spPr>
        <p:txBody>
          <a:bodyPr wrap="square" lIns="0" rIns="0" tIns="0" bIns="0" anchor="t">
            <a:spAutoFit/>
          </a:bodyPr>
          <a:lstStyle/>
          <a:p>
            <a:pPr algn="l">
              <a:lnSpc>
                <a:spcPct val="112000"/>
              </a:lnSpc>
              <a:spcBef>
                <a:spcPts val="0"/>
              </a:spcBef>
              <a:spcAft>
                <a:spcPts val="600"/>
              </a:spcAft>
            </a:pPr>
            <a:r>
              <a:rPr sz="1500" b="1" i="0">
                <a:solidFill>
                  <a:srgbClr val="173A3A"/>
                </a:solidFill>
                <a:latin typeface="Segoe UI"/>
              </a:rPr>
              <a:t>Ban đêm — nhả nhiệt</a:t>
            </a:r>
          </a:p>
          <a:p>
            <a:pPr algn="l">
              <a:lnSpc>
                <a:spcPct val="134000"/>
              </a:lnSpc>
              <a:spcBef>
                <a:spcPts val="0"/>
              </a:spcBef>
              <a:spcAft>
                <a:spcPts val="0"/>
              </a:spcAft>
            </a:pPr>
            <a:r>
              <a:rPr sz="1150" b="0" i="0">
                <a:solidFill>
                  <a:srgbClr val="526D6B"/>
                </a:solidFill>
                <a:latin typeface="Segoe UI"/>
              </a:rPr>
              <a:t>Các bề mặt ấy nhả nhiệt ra rất chậm; thành phố lại thiếu cây xanh và mặt nước nên gần như không có gì làm nguội.</a:t>
            </a:r>
          </a:p>
        </p:txBody>
      </p:sp>
      <p:sp>
        <p:nvSpPr>
          <p:cNvPr id="15" name="Right Arrow 14"/>
          <p:cNvSpPr/>
          <p:nvPr/>
        </p:nvSpPr>
        <p:spPr>
          <a:xfrm>
            <a:off x="7891576" y="2724912"/>
            <a:ext cx="173736" cy="310896"/>
          </a:xfrm>
          <a:prstGeom prst="rightArrow">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97316" y="1691640"/>
            <a:ext cx="3527450" cy="23774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371636" y="1965960"/>
            <a:ext cx="420624" cy="420624"/>
          </a:xfrm>
          <a:prstGeom prst="ellipse">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71636" y="2066544"/>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200" b="1" i="0">
                <a:solidFill>
                  <a:srgbClr val="FFFFFF"/>
                </a:solidFill>
                <a:latin typeface="Segoe UI"/>
              </a:rPr>
              <a:t>3</a:t>
            </a:r>
          </a:p>
        </p:txBody>
      </p:sp>
      <p:sp>
        <p:nvSpPr>
          <p:cNvPr id="19" name="TextBox 18"/>
          <p:cNvSpPr txBox="1"/>
          <p:nvPr/>
        </p:nvSpPr>
        <p:spPr>
          <a:xfrm>
            <a:off x="8371636" y="2560320"/>
            <a:ext cx="2978810" cy="1234440"/>
          </a:xfrm>
          <a:prstGeom prst="rect">
            <a:avLst/>
          </a:prstGeom>
          <a:noFill/>
        </p:spPr>
        <p:txBody>
          <a:bodyPr wrap="square" lIns="0" rIns="0" tIns="0" bIns="0" anchor="t">
            <a:spAutoFit/>
          </a:bodyPr>
          <a:lstStyle/>
          <a:p>
            <a:pPr algn="l">
              <a:lnSpc>
                <a:spcPct val="112000"/>
              </a:lnSpc>
              <a:spcBef>
                <a:spcPts val="0"/>
              </a:spcBef>
              <a:spcAft>
                <a:spcPts val="600"/>
              </a:spcAft>
            </a:pPr>
            <a:r>
              <a:rPr sz="1500" b="1" i="0">
                <a:solidFill>
                  <a:srgbClr val="173A3A"/>
                </a:solidFill>
                <a:latin typeface="Segoe UI"/>
              </a:rPr>
              <a:t>Kết quả — đảo nhiệt</a:t>
            </a:r>
          </a:p>
          <a:p>
            <a:pPr algn="l">
              <a:lnSpc>
                <a:spcPct val="134000"/>
              </a:lnSpc>
              <a:spcBef>
                <a:spcPts val="0"/>
              </a:spcBef>
              <a:spcAft>
                <a:spcPts val="0"/>
              </a:spcAft>
            </a:pPr>
            <a:r>
              <a:rPr sz="1150" b="0" i="0">
                <a:solidFill>
                  <a:srgbClr val="526D6B"/>
                </a:solidFill>
                <a:latin typeface="Segoe UI"/>
              </a:rPr>
              <a:t>Cả khối nội thành trở thành một “hòn đảo nóng” giữa vùng ven mát hơn, chênh lệch rõ nhất vào ban đêm.</a:t>
            </a:r>
          </a:p>
        </p:txBody>
      </p:sp>
      <p:sp>
        <p:nvSpPr>
          <p:cNvPr id="20" name="Rounded Rectangle 19"/>
          <p:cNvSpPr/>
          <p:nvPr/>
        </p:nvSpPr>
        <p:spPr>
          <a:xfrm>
            <a:off x="566928" y="4315968"/>
            <a:ext cx="5400903" cy="1097280"/>
          </a:xfrm>
          <a:prstGeom prst="roundRect">
            <a:avLst>
              <a:gd name="adj" fmla="val 8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4517136"/>
            <a:ext cx="4779111"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VÙNG VEN · NGOẠI THÀNH</a:t>
            </a:r>
          </a:p>
        </p:txBody>
      </p:sp>
      <p:sp>
        <p:nvSpPr>
          <p:cNvPr id="22" name="TextBox 21"/>
          <p:cNvSpPr txBox="1"/>
          <p:nvPr/>
        </p:nvSpPr>
        <p:spPr>
          <a:xfrm>
            <a:off x="877824" y="4828032"/>
            <a:ext cx="4779111" cy="548640"/>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73A3A"/>
                </a:solidFill>
                <a:latin typeface="Segoe UI"/>
              </a:rPr>
              <a:t>Cần Giờ, Củ Chi, Bình Chánh — còn nhiều cây xanh, ruộng và mặt nước nên ban đêm nguội đi nhanh.</a:t>
            </a:r>
          </a:p>
        </p:txBody>
      </p:sp>
      <p:sp>
        <p:nvSpPr>
          <p:cNvPr id="23" name="Rounded Rectangle 22"/>
          <p:cNvSpPr/>
          <p:nvPr/>
        </p:nvSpPr>
        <p:spPr>
          <a:xfrm>
            <a:off x="6223863" y="4315968"/>
            <a:ext cx="5400903" cy="1097280"/>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6534759" y="4517136"/>
            <a:ext cx="4779111"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B9573E"/>
                </a:solidFill>
                <a:latin typeface="Segoe UI"/>
              </a:rPr>
              <a:t>NỘI THÀNH · TRUNG TÂM</a:t>
            </a:r>
          </a:p>
        </p:txBody>
      </p:sp>
      <p:sp>
        <p:nvSpPr>
          <p:cNvPr id="25" name="TextBox 24"/>
          <p:cNvSpPr txBox="1"/>
          <p:nvPr/>
        </p:nvSpPr>
        <p:spPr>
          <a:xfrm>
            <a:off x="6534759" y="4828032"/>
            <a:ext cx="4779111" cy="548640"/>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173A3A"/>
                </a:solidFill>
                <a:latin typeface="Segoe UI"/>
              </a:rPr>
              <a:t>Quận 1, 3, 5, Tân Bình — bê tông dày đặc, ban đêm vẫn hầm hập, nóng hơn vùng ven 1 – 3°C.</a:t>
            </a:r>
          </a:p>
        </p:txBody>
      </p:sp>
      <p:sp>
        <p:nvSpPr>
          <p:cNvPr id="26" name="Rounded Rectangle 25"/>
          <p:cNvSpPr/>
          <p:nvPr/>
        </p:nvSpPr>
        <p:spPr>
          <a:xfrm>
            <a:off x="566928" y="5541264"/>
            <a:ext cx="11057839" cy="566928"/>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66928" y="5541264"/>
            <a:ext cx="50292" cy="56692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77824" y="5541264"/>
            <a:ext cx="10490911" cy="566928"/>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ĐIỀU ĐÁNG CHÚ Ý:  </a:t>
            </a:r>
            <a:r>
              <a:rPr sz="1250" b="0" i="0">
                <a:solidFill>
                  <a:srgbClr val="173A3A"/>
                </a:solidFill>
                <a:latin typeface="Segoe UI"/>
              </a:rPr>
              <a:t>mỗi mảng xanh, mỗi mặt nước bị lấp đi đều làm chiếc “đảo nóng” ấy lan rộng thêm một chút.</a:t>
            </a:r>
          </a:p>
        </p:txBody>
      </p:sp>
      <p:sp>
        <p:nvSpPr>
          <p:cNvPr id="29" name="TextBox 28"/>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0" name="TextBox 29"/>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08 / 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09</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Biểu hiện 2 — Mưa cực đoan</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Cùng một lượng mưa, hôm nay lại gây ngập nặng hơn nhiều so với trước đây</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6400800" cy="118872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91640"/>
            <a:ext cx="45720" cy="1188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824" y="1911095"/>
            <a:ext cx="5779008" cy="27432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73A3A"/>
                </a:solidFill>
                <a:latin typeface="Segoe UI"/>
              </a:rPr>
              <a:t>Tổng lượng mưa biến động mạnh</a:t>
            </a:r>
          </a:p>
        </p:txBody>
      </p:sp>
      <p:sp>
        <p:nvSpPr>
          <p:cNvPr id="9" name="TextBox 8"/>
          <p:cNvSpPr txBox="1"/>
          <p:nvPr/>
        </p:nvSpPr>
        <p:spPr>
          <a:xfrm>
            <a:off x="877824" y="2258568"/>
            <a:ext cx="5779008" cy="566928"/>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526D6B"/>
                </a:solidFill>
                <a:latin typeface="Segoe UI"/>
              </a:rPr>
              <a:t>Chênh lệch lớn giữa các năm. Mùa mưa có xu hướng đến muộn và kết thúc muộn hơn, ranh giới hai mùa không còn ổn định như trước.</a:t>
            </a:r>
          </a:p>
        </p:txBody>
      </p:sp>
      <p:sp>
        <p:nvSpPr>
          <p:cNvPr id="10" name="Rounded Rectangle 9"/>
          <p:cNvSpPr/>
          <p:nvPr/>
        </p:nvSpPr>
        <p:spPr>
          <a:xfrm>
            <a:off x="566928" y="3026664"/>
            <a:ext cx="6400800" cy="118872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3026664"/>
            <a:ext cx="45720" cy="1188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77824" y="3246120"/>
            <a:ext cx="5779008" cy="274320"/>
          </a:xfrm>
          <a:prstGeom prst="rect">
            <a:avLst/>
          </a:prstGeom>
          <a:noFill/>
        </p:spPr>
        <p:txBody>
          <a:bodyPr wrap="square" lIns="0" rIns="0" tIns="0" bIns="0" anchor="t">
            <a:spAutoFit/>
          </a:bodyPr>
          <a:lstStyle/>
          <a:p>
            <a:pPr algn="l">
              <a:lnSpc>
                <a:spcPct val="120000"/>
              </a:lnSpc>
              <a:spcBef>
                <a:spcPts val="0"/>
              </a:spcBef>
              <a:spcAft>
                <a:spcPts val="0"/>
              </a:spcAft>
            </a:pPr>
            <a:r>
              <a:rPr sz="1500" b="1" i="0">
                <a:solidFill>
                  <a:srgbClr val="173A3A"/>
                </a:solidFill>
                <a:latin typeface="Segoe UI"/>
              </a:rPr>
              <a:t>Mưa cực đoan xuất hiện nhiều hơn</a:t>
            </a:r>
          </a:p>
        </p:txBody>
      </p:sp>
      <p:sp>
        <p:nvSpPr>
          <p:cNvPr id="13" name="TextBox 12"/>
          <p:cNvSpPr txBox="1"/>
          <p:nvPr/>
        </p:nvSpPr>
        <p:spPr>
          <a:xfrm>
            <a:off x="877824" y="3593592"/>
            <a:ext cx="5779008" cy="566928"/>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526D6B"/>
                </a:solidFill>
                <a:latin typeface="Segoe UI"/>
              </a:rPr>
              <a:t>Ngày càng nhiều trận mưa trên 100mm chỉ trong 1 – 2 giờ: toàn bộ lượng nước của cả một trận dồn vào một khoảng thời gian rất ngắn.</a:t>
            </a:r>
          </a:p>
        </p:txBody>
      </p:sp>
      <p:sp>
        <p:nvSpPr>
          <p:cNvPr id="14" name="Rounded Rectangle 13"/>
          <p:cNvSpPr/>
          <p:nvPr/>
        </p:nvSpPr>
        <p:spPr>
          <a:xfrm>
            <a:off x="566928" y="4361688"/>
            <a:ext cx="6400800" cy="1572768"/>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77824" y="4581144"/>
            <a:ext cx="5779008"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B9573E"/>
                </a:solidFill>
                <a:latin typeface="Segoe UI"/>
              </a:rPr>
              <a:t>VÍ DỤ NGAY QUANH EM</a:t>
            </a:r>
          </a:p>
        </p:txBody>
      </p:sp>
      <p:sp>
        <p:nvSpPr>
          <p:cNvPr id="16" name="TextBox 15"/>
          <p:cNvSpPr txBox="1"/>
          <p:nvPr/>
        </p:nvSpPr>
        <p:spPr>
          <a:xfrm>
            <a:off x="877824" y="4910327"/>
            <a:ext cx="5779008" cy="868680"/>
          </a:xfrm>
          <a:prstGeom prst="rect">
            <a:avLst/>
          </a:prstGeom>
          <a:noFill/>
        </p:spPr>
        <p:txBody>
          <a:bodyPr wrap="square" lIns="0" rIns="0" tIns="0" bIns="0" anchor="t">
            <a:spAutoFit/>
          </a:bodyPr>
          <a:lstStyle/>
          <a:p>
            <a:pPr algn="l">
              <a:lnSpc>
                <a:spcPct val="138000"/>
              </a:lnSpc>
              <a:spcBef>
                <a:spcPts val="0"/>
              </a:spcBef>
              <a:spcAft>
                <a:spcPts val="0"/>
              </a:spcAft>
            </a:pPr>
            <a:r>
              <a:rPr sz="1200" b="0" i="0">
                <a:solidFill>
                  <a:srgbClr val="173A3A"/>
                </a:solidFill>
                <a:latin typeface="Segoe UI"/>
              </a:rPr>
              <a:t>Một cơn mưa chiều 30 – 60 phút cũng đủ biến nhiều tuyến đường thành “sông”, trong khi trước đây cùng lượng mưa ấy thường chỉ gây đọng nước một lúc rồi rút hết.</a:t>
            </a:r>
          </a:p>
        </p:txBody>
      </p:sp>
      <p:sp>
        <p:nvSpPr>
          <p:cNvPr id="17" name="Rounded Rectangle 16"/>
          <p:cNvSpPr/>
          <p:nvPr/>
        </p:nvSpPr>
        <p:spPr>
          <a:xfrm>
            <a:off x="7269480" y="1691640"/>
            <a:ext cx="4355287" cy="441655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7580376" y="1938528"/>
            <a:ext cx="373349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30">
                <a:solidFill>
                  <a:srgbClr val="2F7F7A"/>
                </a:solidFill>
                <a:latin typeface="Segoe UI"/>
              </a:rPr>
              <a:t>SỨC CHỊU CỦA HỆ THỐNG CỐNG</a:t>
            </a:r>
          </a:p>
        </p:txBody>
      </p:sp>
      <p:sp>
        <p:nvSpPr>
          <p:cNvPr id="19" name="TextBox 18"/>
          <p:cNvSpPr txBox="1"/>
          <p:nvPr/>
        </p:nvSpPr>
        <p:spPr>
          <a:xfrm>
            <a:off x="7580376" y="2267712"/>
            <a:ext cx="3733495" cy="457200"/>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Cùng quy đổi về “bao nhiêu milimét mưa mỗi giờ” để so sánh cho dễ:</a:t>
            </a:r>
          </a:p>
        </p:txBody>
      </p:sp>
      <p:sp>
        <p:nvSpPr>
          <p:cNvPr id="20" name="TextBox 19"/>
          <p:cNvSpPr txBox="1"/>
          <p:nvPr/>
        </p:nvSpPr>
        <p:spPr>
          <a:xfrm>
            <a:off x="7580376" y="2907792"/>
            <a:ext cx="2314767" cy="237744"/>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173A3A"/>
                </a:solidFill>
                <a:latin typeface="Segoe UI"/>
              </a:rPr>
              <a:t>Cống thoát nước chịu được</a:t>
            </a:r>
          </a:p>
        </p:txBody>
      </p:sp>
      <p:sp>
        <p:nvSpPr>
          <p:cNvPr id="21" name="TextBox 20"/>
          <p:cNvSpPr txBox="1"/>
          <p:nvPr/>
        </p:nvSpPr>
        <p:spPr>
          <a:xfrm>
            <a:off x="9895143" y="2907792"/>
            <a:ext cx="1418728" cy="237744"/>
          </a:xfrm>
          <a:prstGeom prst="rect">
            <a:avLst/>
          </a:prstGeom>
          <a:noFill/>
        </p:spPr>
        <p:txBody>
          <a:bodyPr wrap="square" lIns="0" rIns="0" tIns="0" bIns="0" anchor="t">
            <a:spAutoFit/>
          </a:bodyPr>
          <a:lstStyle/>
          <a:p>
            <a:pPr algn="r">
              <a:lnSpc>
                <a:spcPct val="120000"/>
              </a:lnSpc>
              <a:spcBef>
                <a:spcPts val="0"/>
              </a:spcBef>
              <a:spcAft>
                <a:spcPts val="0"/>
              </a:spcAft>
            </a:pPr>
            <a:r>
              <a:rPr sz="1250" b="1" i="0">
                <a:solidFill>
                  <a:srgbClr val="2F7F7A"/>
                </a:solidFill>
                <a:latin typeface="Segoe UI"/>
              </a:rPr>
              <a:t>≈ 28mm/giờ</a:t>
            </a:r>
          </a:p>
        </p:txBody>
      </p:sp>
      <p:sp>
        <p:nvSpPr>
          <p:cNvPr id="22" name="Rounded Rectangle 21"/>
          <p:cNvSpPr/>
          <p:nvPr/>
        </p:nvSpPr>
        <p:spPr>
          <a:xfrm>
            <a:off x="7580376" y="3218688"/>
            <a:ext cx="3733495" cy="155448"/>
          </a:xfrm>
          <a:prstGeom prst="roundRect">
            <a:avLst>
              <a:gd name="adj" fmla="val 50000"/>
            </a:avLst>
          </a:prstGeom>
          <a:solidFill>
            <a:srgbClr val="DD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ounded Rectangle 22"/>
          <p:cNvSpPr/>
          <p:nvPr/>
        </p:nvSpPr>
        <p:spPr>
          <a:xfrm>
            <a:off x="7580376" y="3218688"/>
            <a:ext cx="1045378" cy="155448"/>
          </a:xfrm>
          <a:prstGeom prst="roundRect">
            <a:avLst>
              <a:gd name="adj" fmla="val 50000"/>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580376" y="3429000"/>
            <a:ext cx="3733495" cy="219456"/>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8AA3A1"/>
                </a:solidFill>
                <a:latin typeface="Segoe UI"/>
              </a:rPr>
              <a:t>thiết kế cho khoảng 85mm trong 3 giờ</a:t>
            </a:r>
          </a:p>
        </p:txBody>
      </p:sp>
      <p:sp>
        <p:nvSpPr>
          <p:cNvPr id="25" name="TextBox 24"/>
          <p:cNvSpPr txBox="1"/>
          <p:nvPr/>
        </p:nvSpPr>
        <p:spPr>
          <a:xfrm>
            <a:off x="7580376" y="3822191"/>
            <a:ext cx="2314767" cy="237744"/>
          </a:xfrm>
          <a:prstGeom prst="rect">
            <a:avLst/>
          </a:prstGeom>
          <a:noFill/>
        </p:spPr>
        <p:txBody>
          <a:bodyPr wrap="square" lIns="0" rIns="0" tIns="0" bIns="0" anchor="t">
            <a:spAutoFit/>
          </a:bodyPr>
          <a:lstStyle/>
          <a:p>
            <a:pPr algn="l">
              <a:lnSpc>
                <a:spcPct val="120000"/>
              </a:lnSpc>
              <a:spcBef>
                <a:spcPts val="0"/>
              </a:spcBef>
              <a:spcAft>
                <a:spcPts val="0"/>
              </a:spcAft>
            </a:pPr>
            <a:r>
              <a:rPr sz="1150" b="1" i="0">
                <a:solidFill>
                  <a:srgbClr val="173A3A"/>
                </a:solidFill>
                <a:latin typeface="Segoe UI"/>
              </a:rPr>
              <a:t>Một trận mưa cực đoan</a:t>
            </a:r>
          </a:p>
        </p:txBody>
      </p:sp>
      <p:sp>
        <p:nvSpPr>
          <p:cNvPr id="26" name="TextBox 25"/>
          <p:cNvSpPr txBox="1"/>
          <p:nvPr/>
        </p:nvSpPr>
        <p:spPr>
          <a:xfrm>
            <a:off x="9895143" y="3822191"/>
            <a:ext cx="1418728" cy="237744"/>
          </a:xfrm>
          <a:prstGeom prst="rect">
            <a:avLst/>
          </a:prstGeom>
          <a:noFill/>
        </p:spPr>
        <p:txBody>
          <a:bodyPr wrap="square" lIns="0" rIns="0" tIns="0" bIns="0" anchor="t">
            <a:spAutoFit/>
          </a:bodyPr>
          <a:lstStyle/>
          <a:p>
            <a:pPr algn="r">
              <a:lnSpc>
                <a:spcPct val="120000"/>
              </a:lnSpc>
              <a:spcBef>
                <a:spcPts val="0"/>
              </a:spcBef>
              <a:spcAft>
                <a:spcPts val="0"/>
              </a:spcAft>
            </a:pPr>
            <a:r>
              <a:rPr sz="1250" b="1" i="0">
                <a:solidFill>
                  <a:srgbClr val="B9573E"/>
                </a:solidFill>
                <a:latin typeface="Segoe UI"/>
              </a:rPr>
              <a:t>50 – 100mm/giờ</a:t>
            </a:r>
          </a:p>
        </p:txBody>
      </p:sp>
      <p:sp>
        <p:nvSpPr>
          <p:cNvPr id="27" name="Rounded Rectangle 26"/>
          <p:cNvSpPr/>
          <p:nvPr/>
        </p:nvSpPr>
        <p:spPr>
          <a:xfrm>
            <a:off x="7580376" y="4133087"/>
            <a:ext cx="3733495" cy="155448"/>
          </a:xfrm>
          <a:prstGeom prst="roundRect">
            <a:avLst>
              <a:gd name="adj" fmla="val 50000"/>
            </a:avLst>
          </a:prstGeom>
          <a:solidFill>
            <a:srgbClr val="DDEB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7580376" y="4133087"/>
            <a:ext cx="3733495" cy="155448"/>
          </a:xfrm>
          <a:prstGeom prst="roundRect">
            <a:avLst>
              <a:gd name="adj" fmla="val 50000"/>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580376" y="4343400"/>
            <a:ext cx="3733495" cy="219456"/>
          </a:xfrm>
          <a:prstGeom prst="rect">
            <a:avLst/>
          </a:prstGeom>
          <a:noFill/>
        </p:spPr>
        <p:txBody>
          <a:bodyPr wrap="square" lIns="0" rIns="0" tIns="0" bIns="0" anchor="t">
            <a:spAutoFit/>
          </a:bodyPr>
          <a:lstStyle/>
          <a:p>
            <a:pPr algn="l">
              <a:lnSpc>
                <a:spcPct val="120000"/>
              </a:lnSpc>
              <a:spcBef>
                <a:spcPts val="0"/>
              </a:spcBef>
              <a:spcAft>
                <a:spcPts val="0"/>
              </a:spcAft>
            </a:pPr>
            <a:r>
              <a:rPr sz="1000" b="0" i="0">
                <a:solidFill>
                  <a:srgbClr val="8AA3A1"/>
                </a:solidFill>
                <a:latin typeface="Segoe UI"/>
              </a:rPr>
              <a:t>hơn 100mm chỉ trong 1 – 2 giờ</a:t>
            </a:r>
          </a:p>
        </p:txBody>
      </p:sp>
      <p:sp>
        <p:nvSpPr>
          <p:cNvPr id="30" name="Rounded Rectangle 29"/>
          <p:cNvSpPr/>
          <p:nvPr/>
        </p:nvSpPr>
        <p:spPr>
          <a:xfrm>
            <a:off x="7580376" y="4773168"/>
            <a:ext cx="3733495" cy="1078992"/>
          </a:xfrm>
          <a:prstGeom prst="roundRect">
            <a:avLst>
              <a:gd name="adj" fmla="val 10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7836408" y="4773168"/>
            <a:ext cx="3221431" cy="1078992"/>
          </a:xfrm>
          <a:prstGeom prst="rect">
            <a:avLst/>
          </a:prstGeom>
          <a:noFill/>
        </p:spPr>
        <p:txBody>
          <a:bodyPr wrap="square" lIns="0" rIns="0" tIns="0" bIns="0" anchor="ctr">
            <a:spAutoFit/>
          </a:bodyPr>
          <a:lstStyle/>
          <a:p>
            <a:pPr algn="l">
              <a:lnSpc>
                <a:spcPct val="136000"/>
              </a:lnSpc>
              <a:spcBef>
                <a:spcPts val="0"/>
              </a:spcBef>
              <a:spcAft>
                <a:spcPts val="0"/>
              </a:spcAft>
            </a:pPr>
            <a:r>
              <a:rPr sz="1200" b="1" i="0">
                <a:solidFill>
                  <a:srgbClr val="173A3A"/>
                </a:solidFill>
                <a:latin typeface="Segoe UI"/>
              </a:rPr>
              <a:t>Nước đổ xuống nhanh gấp 2 – 3 lần khả năng thoát của cống</a:t>
            </a:r>
            <a:r>
              <a:rPr sz="1200" b="0" i="0">
                <a:solidFill>
                  <a:srgbClr val="526D6B"/>
                </a:solidFill>
                <a:latin typeface="Segoe UI"/>
              </a:rPr>
              <a:t> — phần dư ở lại trên mặt đường, và đó chính là ngập.</a:t>
            </a:r>
          </a:p>
        </p:txBody>
      </p:sp>
      <p:sp>
        <p:nvSpPr>
          <p:cNvPr id="32" name="TextBox 31"/>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3" name="TextBox 32"/>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09 /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10</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Vì sao mưa gặp triều lại ngập sâu và lâu rút?</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Năm mắt xích nối nhau — chỉ cần hiểu chuỗi này là giải thích được hầu hết điểm ngập</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Pentagon 5"/>
          <p:cNvSpPr/>
          <p:nvPr/>
        </p:nvSpPr>
        <p:spPr>
          <a:xfrm>
            <a:off x="566928" y="1828800"/>
            <a:ext cx="2304288" cy="1371600"/>
          </a:xfrm>
          <a:prstGeom prst="homePlate">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77824" y="2157984"/>
            <a:ext cx="1527048" cy="777240"/>
          </a:xfrm>
          <a:prstGeom prst="rect">
            <a:avLst/>
          </a:prstGeom>
          <a:noFill/>
        </p:spPr>
        <p:txBody>
          <a:bodyPr wrap="square" lIns="0" rIns="0" tIns="0" bIns="0" anchor="t">
            <a:spAutoFit/>
          </a:bodyPr>
          <a:lstStyle/>
          <a:p>
            <a:pPr algn="l">
              <a:lnSpc>
                <a:spcPct val="115000"/>
              </a:lnSpc>
              <a:spcBef>
                <a:spcPts val="0"/>
              </a:spcBef>
              <a:spcAft>
                <a:spcPts val="400"/>
              </a:spcAft>
            </a:pPr>
            <a:r>
              <a:rPr sz="1300" b="1" i="0">
                <a:solidFill>
                  <a:srgbClr val="173A3A"/>
                </a:solidFill>
                <a:latin typeface="Segoe UI"/>
              </a:rPr>
              <a:t>Mưa cực đoan</a:t>
            </a:r>
          </a:p>
          <a:p>
            <a:pPr algn="l">
              <a:lnSpc>
                <a:spcPct val="125000"/>
              </a:lnSpc>
              <a:spcBef>
                <a:spcPts val="0"/>
              </a:spcBef>
              <a:spcAft>
                <a:spcPts val="0"/>
              </a:spcAft>
            </a:pPr>
            <a:r>
              <a:rPr sz="950" b="0" i="0">
                <a:solidFill>
                  <a:srgbClr val="526D6B"/>
                </a:solidFill>
                <a:latin typeface="Segoe UI"/>
              </a:rPr>
              <a:t>hơn 100mm trong 1 – 2 giờ</a:t>
            </a:r>
          </a:p>
        </p:txBody>
      </p:sp>
      <p:sp>
        <p:nvSpPr>
          <p:cNvPr id="8" name="Pentagon 7"/>
          <p:cNvSpPr/>
          <p:nvPr/>
        </p:nvSpPr>
        <p:spPr>
          <a:xfrm>
            <a:off x="2752344" y="1828800"/>
            <a:ext cx="2304288" cy="1371600"/>
          </a:xfrm>
          <a:prstGeom prst="homePlate">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172968" y="2157984"/>
            <a:ext cx="1527048" cy="777240"/>
          </a:xfrm>
          <a:prstGeom prst="rect">
            <a:avLst/>
          </a:prstGeom>
          <a:noFill/>
        </p:spPr>
        <p:txBody>
          <a:bodyPr wrap="square" lIns="0" rIns="0" tIns="0" bIns="0" anchor="t">
            <a:spAutoFit/>
          </a:bodyPr>
          <a:lstStyle/>
          <a:p>
            <a:pPr algn="l">
              <a:lnSpc>
                <a:spcPct val="115000"/>
              </a:lnSpc>
              <a:spcBef>
                <a:spcPts val="0"/>
              </a:spcBef>
              <a:spcAft>
                <a:spcPts val="400"/>
              </a:spcAft>
            </a:pPr>
            <a:r>
              <a:rPr sz="1300" b="1" i="0">
                <a:solidFill>
                  <a:srgbClr val="173A3A"/>
                </a:solidFill>
                <a:latin typeface="Segoe UI"/>
              </a:rPr>
              <a:t>Cống quá tải</a:t>
            </a:r>
          </a:p>
          <a:p>
            <a:pPr algn="l">
              <a:lnSpc>
                <a:spcPct val="125000"/>
              </a:lnSpc>
              <a:spcBef>
                <a:spcPts val="0"/>
              </a:spcBef>
              <a:spcAft>
                <a:spcPts val="0"/>
              </a:spcAft>
            </a:pPr>
            <a:r>
              <a:rPr sz="950" b="0" i="0">
                <a:solidFill>
                  <a:srgbClr val="526D6B"/>
                </a:solidFill>
                <a:latin typeface="Segoe UI"/>
              </a:rPr>
              <a:t>vượt xa mức 85mm/3 giờ</a:t>
            </a:r>
          </a:p>
        </p:txBody>
      </p:sp>
      <p:sp>
        <p:nvSpPr>
          <p:cNvPr id="10" name="Pentagon 9"/>
          <p:cNvSpPr/>
          <p:nvPr/>
        </p:nvSpPr>
        <p:spPr>
          <a:xfrm>
            <a:off x="4937760" y="1828800"/>
            <a:ext cx="2304288" cy="1371600"/>
          </a:xfrm>
          <a:prstGeom prst="homePlate">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358384" y="2157984"/>
            <a:ext cx="1527048" cy="777240"/>
          </a:xfrm>
          <a:prstGeom prst="rect">
            <a:avLst/>
          </a:prstGeom>
          <a:noFill/>
        </p:spPr>
        <p:txBody>
          <a:bodyPr wrap="square" lIns="0" rIns="0" tIns="0" bIns="0" anchor="t">
            <a:spAutoFit/>
          </a:bodyPr>
          <a:lstStyle/>
          <a:p>
            <a:pPr algn="l">
              <a:lnSpc>
                <a:spcPct val="115000"/>
              </a:lnSpc>
              <a:spcBef>
                <a:spcPts val="0"/>
              </a:spcBef>
              <a:spcAft>
                <a:spcPts val="400"/>
              </a:spcAft>
            </a:pPr>
            <a:r>
              <a:rPr sz="1300" b="1" i="0">
                <a:solidFill>
                  <a:srgbClr val="173A3A"/>
                </a:solidFill>
                <a:latin typeface="Segoe UI"/>
              </a:rPr>
              <a:t>Trùng đỉnh triều</a:t>
            </a:r>
          </a:p>
          <a:p>
            <a:pPr algn="l">
              <a:lnSpc>
                <a:spcPct val="125000"/>
              </a:lnSpc>
              <a:spcBef>
                <a:spcPts val="0"/>
              </a:spcBef>
              <a:spcAft>
                <a:spcPts val="0"/>
              </a:spcAft>
            </a:pPr>
            <a:r>
              <a:rPr sz="950" b="0" i="0">
                <a:solidFill>
                  <a:srgbClr val="526D6B"/>
                </a:solidFill>
                <a:latin typeface="Segoe UI"/>
              </a:rPr>
              <a:t>nước sông cao hơn miệng cống</a:t>
            </a:r>
          </a:p>
        </p:txBody>
      </p:sp>
      <p:sp>
        <p:nvSpPr>
          <p:cNvPr id="12" name="Pentagon 11"/>
          <p:cNvSpPr/>
          <p:nvPr/>
        </p:nvSpPr>
        <p:spPr>
          <a:xfrm>
            <a:off x="7123176" y="1828800"/>
            <a:ext cx="2304288" cy="1371600"/>
          </a:xfrm>
          <a:prstGeom prst="homePlate">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7543800" y="2157984"/>
            <a:ext cx="1527048" cy="777240"/>
          </a:xfrm>
          <a:prstGeom prst="rect">
            <a:avLst/>
          </a:prstGeom>
          <a:noFill/>
        </p:spPr>
        <p:txBody>
          <a:bodyPr wrap="square" lIns="0" rIns="0" tIns="0" bIns="0" anchor="t">
            <a:spAutoFit/>
          </a:bodyPr>
          <a:lstStyle/>
          <a:p>
            <a:pPr algn="l">
              <a:lnSpc>
                <a:spcPct val="115000"/>
              </a:lnSpc>
              <a:spcBef>
                <a:spcPts val="0"/>
              </a:spcBef>
              <a:spcAft>
                <a:spcPts val="400"/>
              </a:spcAft>
            </a:pPr>
            <a:r>
              <a:rPr sz="1300" b="1" i="0">
                <a:solidFill>
                  <a:srgbClr val="173A3A"/>
                </a:solidFill>
                <a:latin typeface="Segoe UI"/>
              </a:rPr>
              <a:t>Nước không thoát</a:t>
            </a:r>
          </a:p>
          <a:p>
            <a:pPr algn="l">
              <a:lnSpc>
                <a:spcPct val="125000"/>
              </a:lnSpc>
              <a:spcBef>
                <a:spcPts val="0"/>
              </a:spcBef>
              <a:spcAft>
                <a:spcPts val="0"/>
              </a:spcAft>
            </a:pPr>
            <a:r>
              <a:rPr sz="950" b="0" i="0">
                <a:solidFill>
                  <a:srgbClr val="526D6B"/>
                </a:solidFill>
                <a:latin typeface="Segoe UI"/>
              </a:rPr>
              <a:t>thậm chí chảy ngược lên đường</a:t>
            </a:r>
          </a:p>
        </p:txBody>
      </p:sp>
      <p:sp>
        <p:nvSpPr>
          <p:cNvPr id="14" name="Pentagon 13"/>
          <p:cNvSpPr/>
          <p:nvPr/>
        </p:nvSpPr>
        <p:spPr>
          <a:xfrm>
            <a:off x="9308592" y="1828800"/>
            <a:ext cx="2304288" cy="1371600"/>
          </a:xfrm>
          <a:prstGeom prst="homePlate">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729216" y="2157984"/>
            <a:ext cx="1527048" cy="777240"/>
          </a:xfrm>
          <a:prstGeom prst="rect">
            <a:avLst/>
          </a:prstGeom>
          <a:noFill/>
        </p:spPr>
        <p:txBody>
          <a:bodyPr wrap="square" lIns="0" rIns="0" tIns="0" bIns="0" anchor="t">
            <a:spAutoFit/>
          </a:bodyPr>
          <a:lstStyle/>
          <a:p>
            <a:pPr algn="l">
              <a:lnSpc>
                <a:spcPct val="115000"/>
              </a:lnSpc>
              <a:spcBef>
                <a:spcPts val="0"/>
              </a:spcBef>
              <a:spcAft>
                <a:spcPts val="400"/>
              </a:spcAft>
            </a:pPr>
            <a:r>
              <a:rPr sz="1300" b="1" i="0">
                <a:solidFill>
                  <a:srgbClr val="FFF8EC"/>
                </a:solidFill>
                <a:latin typeface="Segoe UI"/>
              </a:rPr>
              <a:t>Ngập sâu, lâu rút</a:t>
            </a:r>
          </a:p>
          <a:p>
            <a:pPr algn="l">
              <a:lnSpc>
                <a:spcPct val="125000"/>
              </a:lnSpc>
              <a:spcBef>
                <a:spcPts val="0"/>
              </a:spcBef>
              <a:spcAft>
                <a:spcPts val="0"/>
              </a:spcAft>
            </a:pPr>
            <a:r>
              <a:rPr sz="950" b="0" i="0">
                <a:solidFill>
                  <a:srgbClr val="FBE3D7"/>
                </a:solidFill>
                <a:latin typeface="Segoe UI"/>
              </a:rPr>
              <a:t>chờ triều rút mới thoát</a:t>
            </a:r>
          </a:p>
        </p:txBody>
      </p:sp>
      <p:sp>
        <p:nvSpPr>
          <p:cNvPr id="16" name="TextBox 15"/>
          <p:cNvSpPr txBox="1"/>
          <p:nvPr/>
        </p:nvSpPr>
        <p:spPr>
          <a:xfrm>
            <a:off x="566928" y="3584448"/>
            <a:ext cx="7315200" cy="219456"/>
          </a:xfrm>
          <a:prstGeom prst="rect">
            <a:avLst/>
          </a:prstGeom>
          <a:noFill/>
        </p:spPr>
        <p:txBody>
          <a:bodyPr wrap="square" lIns="0" rIns="0" tIns="0" bIns="0" anchor="t">
            <a:spAutoFit/>
          </a:bodyPr>
          <a:lstStyle/>
          <a:p>
            <a:pPr algn="l">
              <a:lnSpc>
                <a:spcPct val="120000"/>
              </a:lnSpc>
              <a:spcBef>
                <a:spcPts val="0"/>
              </a:spcBef>
              <a:spcAft>
                <a:spcPts val="0"/>
              </a:spcAft>
            </a:pPr>
            <a:r>
              <a:rPr sz="1050" b="1" i="0" spc="170">
                <a:solidFill>
                  <a:srgbClr val="2F7F7A"/>
                </a:solidFill>
                <a:latin typeface="Segoe UI"/>
              </a:rPr>
              <a:t>BA YẾU TỐ KHIẾN MỌI THỨ NẶNG THÊM</a:t>
            </a:r>
          </a:p>
        </p:txBody>
      </p:sp>
      <p:sp>
        <p:nvSpPr>
          <p:cNvPr id="17" name="Rounded Rectangle 16"/>
          <p:cNvSpPr/>
          <p:nvPr/>
        </p:nvSpPr>
        <p:spPr>
          <a:xfrm>
            <a:off x="566928" y="3913632"/>
            <a:ext cx="3527450" cy="15727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59536" y="4169663"/>
            <a:ext cx="310896" cy="310896"/>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59536" y="4233672"/>
            <a:ext cx="310896" cy="219456"/>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2F7F7A"/>
                </a:solidFill>
                <a:latin typeface="Segoe UI"/>
              </a:rPr>
              <a:t>1</a:t>
            </a:r>
          </a:p>
        </p:txBody>
      </p:sp>
      <p:sp>
        <p:nvSpPr>
          <p:cNvPr id="20" name="TextBox 19"/>
          <p:cNvSpPr txBox="1"/>
          <p:nvPr/>
        </p:nvSpPr>
        <p:spPr>
          <a:xfrm>
            <a:off x="1280160" y="4187952"/>
            <a:ext cx="2521610" cy="274320"/>
          </a:xfrm>
          <a:prstGeom prst="rect">
            <a:avLst/>
          </a:prstGeom>
          <a:noFill/>
        </p:spPr>
        <p:txBody>
          <a:bodyPr wrap="square" lIns="0" rIns="0" tIns="0" bIns="0" anchor="t">
            <a:spAutoFit/>
          </a:bodyPr>
          <a:lstStyle/>
          <a:p>
            <a:pPr algn="l">
              <a:lnSpc>
                <a:spcPct val="120000"/>
              </a:lnSpc>
              <a:spcBef>
                <a:spcPts val="0"/>
              </a:spcBef>
              <a:spcAft>
                <a:spcPts val="0"/>
              </a:spcAft>
            </a:pPr>
            <a:r>
              <a:rPr sz="1350" b="1" i="0">
                <a:solidFill>
                  <a:srgbClr val="173A3A"/>
                </a:solidFill>
                <a:latin typeface="Segoe UI"/>
              </a:rPr>
              <a:t>Bê tông hoá</a:t>
            </a:r>
          </a:p>
        </p:txBody>
      </p:sp>
      <p:sp>
        <p:nvSpPr>
          <p:cNvPr id="21" name="TextBox 20"/>
          <p:cNvSpPr txBox="1"/>
          <p:nvPr/>
        </p:nvSpPr>
        <p:spPr>
          <a:xfrm>
            <a:off x="859536" y="4626864"/>
            <a:ext cx="2942234" cy="731520"/>
          </a:xfrm>
          <a:prstGeom prst="rect">
            <a:avLst/>
          </a:prstGeom>
          <a:noFill/>
        </p:spPr>
        <p:txBody>
          <a:bodyPr wrap="square" lIns="0" rIns="0" tIns="0" bIns="0" anchor="t">
            <a:spAutoFit/>
          </a:bodyPr>
          <a:lstStyle/>
          <a:p>
            <a:pPr algn="l">
              <a:lnSpc>
                <a:spcPct val="136000"/>
              </a:lnSpc>
              <a:spcBef>
                <a:spcPts val="0"/>
              </a:spcBef>
              <a:spcAft>
                <a:spcPts val="0"/>
              </a:spcAft>
            </a:pPr>
            <a:r>
              <a:rPr sz="1150" b="0" i="0">
                <a:solidFill>
                  <a:srgbClr val="526D6B"/>
                </a:solidFill>
                <a:latin typeface="Segoe UI"/>
              </a:rPr>
              <a:t>Nước mưa không còn thấm xuống đất được, gần như toàn bộ dồn vào cống.</a:t>
            </a:r>
          </a:p>
        </p:txBody>
      </p:sp>
      <p:sp>
        <p:nvSpPr>
          <p:cNvPr id="22" name="Rounded Rectangle 21"/>
          <p:cNvSpPr/>
          <p:nvPr/>
        </p:nvSpPr>
        <p:spPr>
          <a:xfrm>
            <a:off x="4332122" y="3913632"/>
            <a:ext cx="3527450" cy="15727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4624730" y="4169663"/>
            <a:ext cx="310896" cy="310896"/>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624730" y="4233672"/>
            <a:ext cx="310896" cy="219456"/>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2F7F7A"/>
                </a:solidFill>
                <a:latin typeface="Segoe UI"/>
              </a:rPr>
              <a:t>2</a:t>
            </a:r>
          </a:p>
        </p:txBody>
      </p:sp>
      <p:sp>
        <p:nvSpPr>
          <p:cNvPr id="25" name="TextBox 24"/>
          <p:cNvSpPr txBox="1"/>
          <p:nvPr/>
        </p:nvSpPr>
        <p:spPr>
          <a:xfrm>
            <a:off x="5045354" y="4187952"/>
            <a:ext cx="2521610" cy="274320"/>
          </a:xfrm>
          <a:prstGeom prst="rect">
            <a:avLst/>
          </a:prstGeom>
          <a:noFill/>
        </p:spPr>
        <p:txBody>
          <a:bodyPr wrap="square" lIns="0" rIns="0" tIns="0" bIns="0" anchor="t">
            <a:spAutoFit/>
          </a:bodyPr>
          <a:lstStyle/>
          <a:p>
            <a:pPr algn="l">
              <a:lnSpc>
                <a:spcPct val="120000"/>
              </a:lnSpc>
              <a:spcBef>
                <a:spcPts val="0"/>
              </a:spcBef>
              <a:spcAft>
                <a:spcPts val="0"/>
              </a:spcAft>
            </a:pPr>
            <a:r>
              <a:rPr sz="1350" b="1" i="0">
                <a:solidFill>
                  <a:srgbClr val="173A3A"/>
                </a:solidFill>
                <a:latin typeface="Segoe UI"/>
              </a:rPr>
              <a:t>Lấp kênh rạch, vùng trũng</a:t>
            </a:r>
          </a:p>
        </p:txBody>
      </p:sp>
      <p:sp>
        <p:nvSpPr>
          <p:cNvPr id="26" name="TextBox 25"/>
          <p:cNvSpPr txBox="1"/>
          <p:nvPr/>
        </p:nvSpPr>
        <p:spPr>
          <a:xfrm>
            <a:off x="4624730" y="4626864"/>
            <a:ext cx="2942234" cy="731520"/>
          </a:xfrm>
          <a:prstGeom prst="rect">
            <a:avLst/>
          </a:prstGeom>
          <a:noFill/>
        </p:spPr>
        <p:txBody>
          <a:bodyPr wrap="square" lIns="0" rIns="0" tIns="0" bIns="0" anchor="t">
            <a:spAutoFit/>
          </a:bodyPr>
          <a:lstStyle/>
          <a:p>
            <a:pPr algn="l">
              <a:lnSpc>
                <a:spcPct val="136000"/>
              </a:lnSpc>
              <a:spcBef>
                <a:spcPts val="0"/>
              </a:spcBef>
              <a:spcAft>
                <a:spcPts val="0"/>
              </a:spcAft>
            </a:pPr>
            <a:r>
              <a:rPr sz="1150" b="0" i="0">
                <a:solidFill>
                  <a:srgbClr val="526D6B"/>
                </a:solidFill>
                <a:latin typeface="Segoe UI"/>
              </a:rPr>
              <a:t>Mất đi những chỗ chứa nước tự nhiên vốn hứng nước giúp thành phố.</a:t>
            </a:r>
          </a:p>
        </p:txBody>
      </p:sp>
      <p:sp>
        <p:nvSpPr>
          <p:cNvPr id="27" name="Rounded Rectangle 26"/>
          <p:cNvSpPr/>
          <p:nvPr/>
        </p:nvSpPr>
        <p:spPr>
          <a:xfrm>
            <a:off x="8097316" y="3913632"/>
            <a:ext cx="3527450" cy="157276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Oval 27"/>
          <p:cNvSpPr/>
          <p:nvPr/>
        </p:nvSpPr>
        <p:spPr>
          <a:xfrm>
            <a:off x="8389924" y="4169663"/>
            <a:ext cx="310896" cy="310896"/>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389924" y="4233672"/>
            <a:ext cx="310896" cy="219456"/>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2F7F7A"/>
                </a:solidFill>
                <a:latin typeface="Segoe UI"/>
              </a:rPr>
              <a:t>3</a:t>
            </a:r>
          </a:p>
        </p:txBody>
      </p:sp>
      <p:sp>
        <p:nvSpPr>
          <p:cNvPr id="30" name="TextBox 29"/>
          <p:cNvSpPr txBox="1"/>
          <p:nvPr/>
        </p:nvSpPr>
        <p:spPr>
          <a:xfrm>
            <a:off x="8810548" y="4187952"/>
            <a:ext cx="2521610" cy="274320"/>
          </a:xfrm>
          <a:prstGeom prst="rect">
            <a:avLst/>
          </a:prstGeom>
          <a:noFill/>
        </p:spPr>
        <p:txBody>
          <a:bodyPr wrap="square" lIns="0" rIns="0" tIns="0" bIns="0" anchor="t">
            <a:spAutoFit/>
          </a:bodyPr>
          <a:lstStyle/>
          <a:p>
            <a:pPr algn="l">
              <a:lnSpc>
                <a:spcPct val="120000"/>
              </a:lnSpc>
              <a:spcBef>
                <a:spcPts val="0"/>
              </a:spcBef>
              <a:spcAft>
                <a:spcPts val="0"/>
              </a:spcAft>
            </a:pPr>
            <a:r>
              <a:rPr sz="1350" b="1" i="0">
                <a:solidFill>
                  <a:srgbClr val="173A3A"/>
                </a:solidFill>
                <a:latin typeface="Segoe UI"/>
              </a:rPr>
              <a:t>Rác trong cống</a:t>
            </a:r>
          </a:p>
        </p:txBody>
      </p:sp>
      <p:sp>
        <p:nvSpPr>
          <p:cNvPr id="31" name="TextBox 30"/>
          <p:cNvSpPr txBox="1"/>
          <p:nvPr/>
        </p:nvSpPr>
        <p:spPr>
          <a:xfrm>
            <a:off x="8389924" y="4626864"/>
            <a:ext cx="2942234" cy="731520"/>
          </a:xfrm>
          <a:prstGeom prst="rect">
            <a:avLst/>
          </a:prstGeom>
          <a:noFill/>
        </p:spPr>
        <p:txBody>
          <a:bodyPr wrap="square" lIns="0" rIns="0" tIns="0" bIns="0" anchor="t">
            <a:spAutoFit/>
          </a:bodyPr>
          <a:lstStyle/>
          <a:p>
            <a:pPr algn="l">
              <a:lnSpc>
                <a:spcPct val="136000"/>
              </a:lnSpc>
              <a:spcBef>
                <a:spcPts val="0"/>
              </a:spcBef>
              <a:spcAft>
                <a:spcPts val="0"/>
              </a:spcAft>
            </a:pPr>
            <a:r>
              <a:rPr sz="1150" b="0" i="0">
                <a:solidFill>
                  <a:srgbClr val="526D6B"/>
                </a:solidFill>
                <a:latin typeface="Segoe UI"/>
              </a:rPr>
              <a:t>Dòng chảy bị nghẽn đúng lúc cần thoát nhanh nhất.</a:t>
            </a:r>
          </a:p>
        </p:txBody>
      </p:sp>
      <p:sp>
        <p:nvSpPr>
          <p:cNvPr id="32" name="Rounded Rectangle 31"/>
          <p:cNvSpPr/>
          <p:nvPr/>
        </p:nvSpPr>
        <p:spPr>
          <a:xfrm>
            <a:off x="566928" y="5596128"/>
            <a:ext cx="11057839" cy="530352"/>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566928" y="5596128"/>
            <a:ext cx="50292" cy="53035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77824" y="5596128"/>
            <a:ext cx="10490911" cy="530352"/>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CHỐT:  </a:t>
            </a:r>
            <a:r>
              <a:rPr sz="1250" b="0" i="0">
                <a:solidFill>
                  <a:srgbClr val="173A3A"/>
                </a:solidFill>
                <a:latin typeface="Segoe UI"/>
              </a:rPr>
              <a:t>cùng một lượng mưa như mười năm trước, nhưng hôm nay ngập nặng hơn — vì đường thoát nước đã bị thu hẹp ở cả ba khâu.</a:t>
            </a:r>
          </a:p>
        </p:txBody>
      </p:sp>
      <p:sp>
        <p:nvSpPr>
          <p:cNvPr id="35" name="TextBox 34"/>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6" name="TextBox 35"/>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10 / 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11</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Biểu hiện 3 — Triều cường lập kỷ lục</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Đỉnh triều tại trạm Phú An trên sông Sài Gòn cứ vài năm lại phá kỷ lục cũ</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5577840" cy="124358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91640"/>
            <a:ext cx="45720" cy="124358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59536" y="1911095"/>
            <a:ext cx="4992624" cy="310896"/>
          </a:xfrm>
          <a:prstGeom prst="rect">
            <a:avLst/>
          </a:prstGeom>
          <a:noFill/>
        </p:spPr>
        <p:txBody>
          <a:bodyPr wrap="square" lIns="0" rIns="0" tIns="0" bIns="0" anchor="t">
            <a:spAutoFit/>
          </a:bodyPr>
          <a:lstStyle/>
          <a:p>
            <a:pPr algn="l">
              <a:lnSpc>
                <a:spcPct val="115000"/>
              </a:lnSpc>
              <a:spcBef>
                <a:spcPts val="0"/>
              </a:spcBef>
              <a:spcAft>
                <a:spcPts val="0"/>
              </a:spcAft>
            </a:pPr>
            <a:r>
              <a:rPr sz="1400" b="1" i="0">
                <a:solidFill>
                  <a:srgbClr val="173A3A"/>
                </a:solidFill>
                <a:latin typeface="Segoe UI"/>
              </a:rPr>
              <a:t>Nước biển dâng khoảng 3mm mỗi năm</a:t>
            </a:r>
          </a:p>
        </p:txBody>
      </p:sp>
      <p:sp>
        <p:nvSpPr>
          <p:cNvPr id="9" name="TextBox 8"/>
          <p:cNvSpPr txBox="1"/>
          <p:nvPr/>
        </p:nvSpPr>
        <p:spPr>
          <a:xfrm>
            <a:off x="859536" y="2276856"/>
            <a:ext cx="4992624" cy="585216"/>
          </a:xfrm>
          <a:prstGeom prst="rect">
            <a:avLst/>
          </a:prstGeom>
          <a:noFill/>
        </p:spPr>
        <p:txBody>
          <a:bodyPr wrap="square" lIns="0" rIns="0" tIns="0" bIns="0" anchor="t">
            <a:spAutoFit/>
          </a:bodyPr>
          <a:lstStyle/>
          <a:p>
            <a:pPr algn="l">
              <a:lnSpc>
                <a:spcPct val="136000"/>
              </a:lnSpc>
              <a:spcBef>
                <a:spcPts val="0"/>
              </a:spcBef>
              <a:spcAft>
                <a:spcPts val="0"/>
              </a:spcAft>
            </a:pPr>
            <a:r>
              <a:rPr sz="1150" b="0" i="0">
                <a:solidFill>
                  <a:srgbClr val="526D6B"/>
                </a:solidFill>
                <a:latin typeface="Segoe UI"/>
              </a:rPr>
              <a:t>Mực nước Biển Đông dâng lên, dồn ngược vào các cửa Soài Rạp, Lòng Tàu rồi vào hệ thống sông Sài Gòn – Đồng Nai.</a:t>
            </a:r>
          </a:p>
        </p:txBody>
      </p:sp>
      <p:sp>
        <p:nvSpPr>
          <p:cNvPr id="10" name="Rounded Rectangle 9"/>
          <p:cNvSpPr/>
          <p:nvPr/>
        </p:nvSpPr>
        <p:spPr>
          <a:xfrm>
            <a:off x="566928" y="3081528"/>
            <a:ext cx="5577840" cy="124358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3081528"/>
            <a:ext cx="45720" cy="124358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59536" y="3300984"/>
            <a:ext cx="4992624" cy="310896"/>
          </a:xfrm>
          <a:prstGeom prst="rect">
            <a:avLst/>
          </a:prstGeom>
          <a:noFill/>
        </p:spPr>
        <p:txBody>
          <a:bodyPr wrap="square" lIns="0" rIns="0" tIns="0" bIns="0" anchor="t">
            <a:spAutoFit/>
          </a:bodyPr>
          <a:lstStyle/>
          <a:p>
            <a:pPr algn="l">
              <a:lnSpc>
                <a:spcPct val="115000"/>
              </a:lnSpc>
              <a:spcBef>
                <a:spcPts val="0"/>
              </a:spcBef>
              <a:spcAft>
                <a:spcPts val="0"/>
              </a:spcAft>
            </a:pPr>
            <a:r>
              <a:rPr sz="1400" b="1" i="0">
                <a:solidFill>
                  <a:srgbClr val="173A3A"/>
                </a:solidFill>
                <a:latin typeface="Segoe UI"/>
              </a:rPr>
              <a:t>Báo động 3 tại Phú An chỉ là 1,50m</a:t>
            </a:r>
          </a:p>
        </p:txBody>
      </p:sp>
      <p:sp>
        <p:nvSpPr>
          <p:cNvPr id="13" name="TextBox 12"/>
          <p:cNvSpPr txBox="1"/>
          <p:nvPr/>
        </p:nvSpPr>
        <p:spPr>
          <a:xfrm>
            <a:off x="859536" y="3666744"/>
            <a:ext cx="4992624" cy="585216"/>
          </a:xfrm>
          <a:prstGeom prst="rect">
            <a:avLst/>
          </a:prstGeom>
          <a:noFill/>
        </p:spPr>
        <p:txBody>
          <a:bodyPr wrap="square" lIns="0" rIns="0" tIns="0" bIns="0" anchor="t">
            <a:spAutoFit/>
          </a:bodyPr>
          <a:lstStyle/>
          <a:p>
            <a:pPr algn="l">
              <a:lnSpc>
                <a:spcPct val="136000"/>
              </a:lnSpc>
              <a:spcBef>
                <a:spcPts val="0"/>
              </a:spcBef>
              <a:spcAft>
                <a:spcPts val="0"/>
              </a:spcAft>
            </a:pPr>
            <a:r>
              <a:rPr sz="1150" b="0" i="0">
                <a:solidFill>
                  <a:srgbClr val="526D6B"/>
                </a:solidFill>
                <a:latin typeface="Segoe UI"/>
              </a:rPr>
              <a:t>Nghĩa là cả ba kỷ lục gần đây đều đã vượt ngưỡng báo động cao nhất — kỷ lục 11/2025 vượt tới 0,28m.</a:t>
            </a:r>
          </a:p>
        </p:txBody>
      </p:sp>
      <p:sp>
        <p:nvSpPr>
          <p:cNvPr id="14" name="Rounded Rectangle 13"/>
          <p:cNvSpPr/>
          <p:nvPr/>
        </p:nvSpPr>
        <p:spPr>
          <a:xfrm>
            <a:off x="566928" y="4471416"/>
            <a:ext cx="5577840" cy="1609344"/>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59536" y="4690872"/>
            <a:ext cx="4992624"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30">
                <a:solidFill>
                  <a:srgbClr val="B9573E"/>
                </a:solidFill>
                <a:latin typeface="Segoe UI"/>
              </a:rPr>
              <a:t>ĐỢT TRIỀU CƯỜNG THÁNG 11/2025</a:t>
            </a:r>
          </a:p>
        </p:txBody>
      </p:sp>
      <p:sp>
        <p:nvSpPr>
          <p:cNvPr id="16" name="TextBox 15"/>
          <p:cNvSpPr txBox="1"/>
          <p:nvPr/>
        </p:nvSpPr>
        <p:spPr>
          <a:xfrm>
            <a:off x="859536" y="5020056"/>
            <a:ext cx="4992624" cy="914400"/>
          </a:xfrm>
          <a:prstGeom prst="rect">
            <a:avLst/>
          </a:prstGeom>
          <a:noFill/>
        </p:spPr>
        <p:txBody>
          <a:bodyPr wrap="square" lIns="0" rIns="0" tIns="0" bIns="0" anchor="t">
            <a:spAutoFit/>
          </a:bodyPr>
          <a:lstStyle/>
          <a:p>
            <a:pPr algn="l">
              <a:lnSpc>
                <a:spcPct val="138000"/>
              </a:lnSpc>
              <a:spcBef>
                <a:spcPts val="0"/>
              </a:spcBef>
              <a:spcAft>
                <a:spcPts val="0"/>
              </a:spcAft>
            </a:pPr>
            <a:r>
              <a:rPr sz="1150" b="0" i="0">
                <a:solidFill>
                  <a:srgbClr val="173A3A"/>
                </a:solidFill>
                <a:latin typeface="Segoe UI"/>
              </a:rPr>
              <a:t>Đỉnh triều vượt mọi mốc từng ghi nhận tại trạm Phú An. Nhiều khu vực ven sông như Thanh Đa – Bình Quới ngập sâu, học sinh phải lội nước vào giờ tan trường.</a:t>
            </a:r>
          </a:p>
        </p:txBody>
      </p:sp>
      <p:sp>
        <p:nvSpPr>
          <p:cNvPr id="17" name="Rounded Rectangle 16"/>
          <p:cNvSpPr/>
          <p:nvPr/>
        </p:nvSpPr>
        <p:spPr>
          <a:xfrm>
            <a:off x="6446520" y="1691640"/>
            <a:ext cx="5178247" cy="4416552"/>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757416" y="1920240"/>
            <a:ext cx="455645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10">
                <a:solidFill>
                  <a:srgbClr val="2F7F7A"/>
                </a:solidFill>
                <a:latin typeface="Segoe UI"/>
              </a:rPr>
              <a:t>ĐỈNH TRIỀU TẠI TRẠM PHÚ AN</a:t>
            </a:r>
          </a:p>
        </p:txBody>
      </p:sp>
      <p:sp>
        <p:nvSpPr>
          <p:cNvPr id="19" name="Rectangle 18"/>
          <p:cNvSpPr/>
          <p:nvPr/>
        </p:nvSpPr>
        <p:spPr>
          <a:xfrm>
            <a:off x="6858000" y="5230368"/>
            <a:ext cx="4355287" cy="18288"/>
          </a:xfrm>
          <a:prstGeom prst="rect">
            <a:avLst/>
          </a:prstGeom>
          <a:solidFill>
            <a:srgbClr val="C3D8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6858000"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ectangle 20"/>
          <p:cNvSpPr/>
          <p:nvPr/>
        </p:nvSpPr>
        <p:spPr>
          <a:xfrm>
            <a:off x="7045452"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7232904"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7420356"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ectangle 23"/>
          <p:cNvSpPr/>
          <p:nvPr/>
        </p:nvSpPr>
        <p:spPr>
          <a:xfrm>
            <a:off x="7607808"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ectangle 24"/>
          <p:cNvSpPr/>
          <p:nvPr/>
        </p:nvSpPr>
        <p:spPr>
          <a:xfrm>
            <a:off x="7795260"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7982712"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170164"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8357616"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8545068"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8732520"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8919972"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9107424"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9294876"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9482328"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9669780"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ectangle 35"/>
          <p:cNvSpPr/>
          <p:nvPr/>
        </p:nvSpPr>
        <p:spPr>
          <a:xfrm>
            <a:off x="9857232"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10044684"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Rectangle 37"/>
          <p:cNvSpPr/>
          <p:nvPr/>
        </p:nvSpPr>
        <p:spPr>
          <a:xfrm>
            <a:off x="10232136"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10419588"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10607040"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10794492"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10981944"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11169396" y="4749314"/>
            <a:ext cx="105156"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9485071" y="2020824"/>
            <a:ext cx="91440"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9640519" y="2020824"/>
            <a:ext cx="91440"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Rectangle 45"/>
          <p:cNvSpPr/>
          <p:nvPr/>
        </p:nvSpPr>
        <p:spPr>
          <a:xfrm>
            <a:off x="9795967" y="2020824"/>
            <a:ext cx="91440" cy="20116"/>
          </a:xfrm>
          <a:prstGeom prst="rect">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9923983" y="1920240"/>
            <a:ext cx="1371600" cy="237744"/>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B9573E"/>
                </a:solidFill>
                <a:latin typeface="Segoe UI"/>
              </a:rPr>
              <a:t>BÁO ĐỘNG 3 · 1,50m</a:t>
            </a:r>
          </a:p>
        </p:txBody>
      </p:sp>
      <p:sp>
        <p:nvSpPr>
          <p:cNvPr id="48" name="Rounded Rectangle 47"/>
          <p:cNvSpPr/>
          <p:nvPr/>
        </p:nvSpPr>
        <p:spPr>
          <a:xfrm>
            <a:off x="7261021" y="3883417"/>
            <a:ext cx="914400" cy="1346950"/>
          </a:xfrm>
          <a:prstGeom prst="roundRect">
            <a:avLst>
              <a:gd name="adj" fmla="val 12000"/>
            </a:avLst>
          </a:prstGeom>
          <a:solidFill>
            <a:srgbClr val="5FA7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extBox 48"/>
          <p:cNvSpPr txBox="1"/>
          <p:nvPr/>
        </p:nvSpPr>
        <p:spPr>
          <a:xfrm>
            <a:off x="7114717" y="3517657"/>
            <a:ext cx="1207008" cy="292608"/>
          </a:xfrm>
          <a:prstGeom prst="rect">
            <a:avLst/>
          </a:prstGeom>
          <a:noFill/>
        </p:spPr>
        <p:txBody>
          <a:bodyPr wrap="square" lIns="0" rIns="0" tIns="0" bIns="0" anchor="t">
            <a:spAutoFit/>
          </a:bodyPr>
          <a:lstStyle/>
          <a:p>
            <a:pPr algn="ctr">
              <a:lnSpc>
                <a:spcPct val="120000"/>
              </a:lnSpc>
              <a:spcBef>
                <a:spcPts val="0"/>
              </a:spcBef>
              <a:spcAft>
                <a:spcPts val="0"/>
              </a:spcAft>
            </a:pPr>
            <a:r>
              <a:rPr sz="1600" b="1" i="0">
                <a:solidFill>
                  <a:srgbClr val="5FA7A1"/>
                </a:solidFill>
                <a:latin typeface="Segoe UI"/>
              </a:rPr>
              <a:t>1,68m</a:t>
            </a:r>
          </a:p>
        </p:txBody>
      </p:sp>
      <p:sp>
        <p:nvSpPr>
          <p:cNvPr id="50" name="TextBox 49"/>
          <p:cNvSpPr txBox="1"/>
          <p:nvPr/>
        </p:nvSpPr>
        <p:spPr>
          <a:xfrm>
            <a:off x="7114717" y="5340096"/>
            <a:ext cx="1207008"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173A3A"/>
                </a:solidFill>
                <a:latin typeface="Segoe UI"/>
              </a:rPr>
              <a:t>2013</a:t>
            </a:r>
          </a:p>
        </p:txBody>
      </p:sp>
      <p:sp>
        <p:nvSpPr>
          <p:cNvPr id="51" name="Rounded Rectangle 50"/>
          <p:cNvSpPr/>
          <p:nvPr/>
        </p:nvSpPr>
        <p:spPr>
          <a:xfrm>
            <a:off x="8578443" y="3450468"/>
            <a:ext cx="914400" cy="1779899"/>
          </a:xfrm>
          <a:prstGeom prst="roundRect">
            <a:avLst>
              <a:gd name="adj" fmla="val 12000"/>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extBox 51"/>
          <p:cNvSpPr txBox="1"/>
          <p:nvPr/>
        </p:nvSpPr>
        <p:spPr>
          <a:xfrm>
            <a:off x="8432139" y="3084708"/>
            <a:ext cx="1207008" cy="292608"/>
          </a:xfrm>
          <a:prstGeom prst="rect">
            <a:avLst/>
          </a:prstGeom>
          <a:noFill/>
        </p:spPr>
        <p:txBody>
          <a:bodyPr wrap="square" lIns="0" rIns="0" tIns="0" bIns="0" anchor="t">
            <a:spAutoFit/>
          </a:bodyPr>
          <a:lstStyle/>
          <a:p>
            <a:pPr algn="ctr">
              <a:lnSpc>
                <a:spcPct val="120000"/>
              </a:lnSpc>
              <a:spcBef>
                <a:spcPts val="0"/>
              </a:spcBef>
              <a:spcAft>
                <a:spcPts val="0"/>
              </a:spcAft>
            </a:pPr>
            <a:r>
              <a:rPr sz="1600" b="1" i="0">
                <a:solidFill>
                  <a:srgbClr val="2F7F7A"/>
                </a:solidFill>
                <a:latin typeface="Segoe UI"/>
              </a:rPr>
              <a:t>1,77m</a:t>
            </a:r>
          </a:p>
        </p:txBody>
      </p:sp>
      <p:sp>
        <p:nvSpPr>
          <p:cNvPr id="53" name="TextBox 52"/>
          <p:cNvSpPr txBox="1"/>
          <p:nvPr/>
        </p:nvSpPr>
        <p:spPr>
          <a:xfrm>
            <a:off x="8432139" y="5340096"/>
            <a:ext cx="1207008"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173A3A"/>
                </a:solidFill>
                <a:latin typeface="Segoe UI"/>
              </a:rPr>
              <a:t>9/2019</a:t>
            </a:r>
          </a:p>
        </p:txBody>
      </p:sp>
      <p:sp>
        <p:nvSpPr>
          <p:cNvPr id="54" name="Rounded Rectangle 53"/>
          <p:cNvSpPr/>
          <p:nvPr/>
        </p:nvSpPr>
        <p:spPr>
          <a:xfrm>
            <a:off x="9895865" y="3402363"/>
            <a:ext cx="914400" cy="1828004"/>
          </a:xfrm>
          <a:prstGeom prst="roundRect">
            <a:avLst>
              <a:gd name="adj" fmla="val 12000"/>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extBox 54"/>
          <p:cNvSpPr txBox="1"/>
          <p:nvPr/>
        </p:nvSpPr>
        <p:spPr>
          <a:xfrm>
            <a:off x="9749561" y="3036603"/>
            <a:ext cx="1207008" cy="292608"/>
          </a:xfrm>
          <a:prstGeom prst="rect">
            <a:avLst/>
          </a:prstGeom>
          <a:noFill/>
        </p:spPr>
        <p:txBody>
          <a:bodyPr wrap="square" lIns="0" rIns="0" tIns="0" bIns="0" anchor="t">
            <a:spAutoFit/>
          </a:bodyPr>
          <a:lstStyle/>
          <a:p>
            <a:pPr algn="ctr">
              <a:lnSpc>
                <a:spcPct val="120000"/>
              </a:lnSpc>
              <a:spcBef>
                <a:spcPts val="0"/>
              </a:spcBef>
              <a:spcAft>
                <a:spcPts val="0"/>
              </a:spcAft>
            </a:pPr>
            <a:r>
              <a:rPr sz="1600" b="1" i="0">
                <a:solidFill>
                  <a:srgbClr val="B9573E"/>
                </a:solidFill>
                <a:latin typeface="Segoe UI"/>
              </a:rPr>
              <a:t>1,78m</a:t>
            </a:r>
          </a:p>
        </p:txBody>
      </p:sp>
      <p:sp>
        <p:nvSpPr>
          <p:cNvPr id="56" name="TextBox 55"/>
          <p:cNvSpPr txBox="1"/>
          <p:nvPr/>
        </p:nvSpPr>
        <p:spPr>
          <a:xfrm>
            <a:off x="9749561" y="5340096"/>
            <a:ext cx="1207008"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173A3A"/>
                </a:solidFill>
                <a:latin typeface="Segoe UI"/>
              </a:rPr>
              <a:t>11/2025</a:t>
            </a:r>
          </a:p>
        </p:txBody>
      </p:sp>
      <p:sp>
        <p:nvSpPr>
          <p:cNvPr id="57" name="TextBox 56"/>
          <p:cNvSpPr txBox="1"/>
          <p:nvPr/>
        </p:nvSpPr>
        <p:spPr>
          <a:xfrm>
            <a:off x="6858000" y="5669279"/>
            <a:ext cx="4355287" cy="640080"/>
          </a:xfrm>
          <a:prstGeom prst="rect">
            <a:avLst/>
          </a:prstGeom>
          <a:noFill/>
        </p:spPr>
        <p:txBody>
          <a:bodyPr wrap="square" lIns="0" rIns="0" tIns="0" bIns="0" anchor="t">
            <a:spAutoFit/>
          </a:bodyPr>
          <a:lstStyle/>
          <a:p>
            <a:pPr algn="l">
              <a:lnSpc>
                <a:spcPct val="132000"/>
              </a:lnSpc>
              <a:spcBef>
                <a:spcPts val="0"/>
              </a:spcBef>
              <a:spcAft>
                <a:spcPts val="0"/>
              </a:spcAft>
            </a:pPr>
            <a:r>
              <a:rPr sz="950" b="0" i="0">
                <a:solidFill>
                  <a:srgbClr val="8AA3A1"/>
                </a:solidFill>
                <a:latin typeface="Segoe UI"/>
              </a:rPr>
              <a:t>*Trục tung bắt đầu từ 1,40m để thấy rõ chênh lệch giữa các kỷ lục. Mức báo động tại trạm Phú An: BĐ1 = 1,30m · BĐ2 = 1,40m · BĐ3 = 1,50m.</a:t>
            </a:r>
          </a:p>
        </p:txBody>
      </p:sp>
      <p:sp>
        <p:nvSpPr>
          <p:cNvPr id="58" name="TextBox 57"/>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59" name="TextBox 58"/>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11 / 20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12</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Nước lên, đất xuống</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Hai chuyển động ngược chiều cùng lúc — và chuyển động thứ hai mới nhanh hơn</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5400903" cy="2834640"/>
          </a:xfrm>
          <a:prstGeom prst="roundRect">
            <a:avLst>
              <a:gd name="adj" fmla="val 8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96112" y="1938528"/>
            <a:ext cx="474253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2F7F7A"/>
                </a:solidFill>
                <a:latin typeface="Segoe UI"/>
              </a:rPr>
              <a:t>NƯỚC BIỂN DÂNG</a:t>
            </a:r>
          </a:p>
        </p:txBody>
      </p:sp>
      <p:sp>
        <p:nvSpPr>
          <p:cNvPr id="8" name="Up Arrow 7"/>
          <p:cNvSpPr/>
          <p:nvPr/>
        </p:nvSpPr>
        <p:spPr>
          <a:xfrm>
            <a:off x="896112" y="2359152"/>
            <a:ext cx="310896" cy="566928"/>
          </a:xfrm>
          <a:prstGeom prst="upArrow">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1408176" y="2322576"/>
            <a:ext cx="4212183" cy="566928"/>
          </a:xfrm>
          <a:prstGeom prst="rect">
            <a:avLst/>
          </a:prstGeom>
          <a:noFill/>
        </p:spPr>
        <p:txBody>
          <a:bodyPr wrap="square" lIns="0" rIns="0" tIns="0" bIns="0" anchor="t">
            <a:spAutoFit/>
          </a:bodyPr>
          <a:lstStyle/>
          <a:p>
            <a:pPr algn="l">
              <a:lnSpc>
                <a:spcPct val="120000"/>
              </a:lnSpc>
              <a:spcBef>
                <a:spcPts val="0"/>
              </a:spcBef>
              <a:spcAft>
                <a:spcPts val="0"/>
              </a:spcAft>
            </a:pPr>
            <a:r>
              <a:rPr sz="3400" b="1" i="0">
                <a:solidFill>
                  <a:srgbClr val="173A3A"/>
                </a:solidFill>
                <a:latin typeface="Segoe UI"/>
              </a:rPr>
              <a:t>~3mm</a:t>
            </a:r>
            <a:r>
              <a:rPr sz="1300" b="0" i="0">
                <a:solidFill>
                  <a:srgbClr val="526D6B"/>
                </a:solidFill>
                <a:latin typeface="Segoe UI"/>
              </a:rPr>
              <a:t>  mỗi năm</a:t>
            </a:r>
          </a:p>
        </p:txBody>
      </p:sp>
      <p:sp>
        <p:nvSpPr>
          <p:cNvPr id="10" name="TextBox 9"/>
          <p:cNvSpPr txBox="1"/>
          <p:nvPr/>
        </p:nvSpPr>
        <p:spPr>
          <a:xfrm>
            <a:off x="896112" y="3072384"/>
            <a:ext cx="4742535" cy="1280160"/>
          </a:xfrm>
          <a:prstGeom prst="rect">
            <a:avLst/>
          </a:prstGeom>
          <a:noFill/>
        </p:spPr>
        <p:txBody>
          <a:bodyPr wrap="square" lIns="0" rIns="0" tIns="0" bIns="0" anchor="t">
            <a:spAutoFit/>
          </a:bodyPr>
          <a:lstStyle/>
          <a:p>
            <a:pPr algn="l">
              <a:lnSpc>
                <a:spcPct val="138000"/>
              </a:lnSpc>
              <a:spcBef>
                <a:spcPts val="0"/>
              </a:spcBef>
              <a:spcAft>
                <a:spcPts val="800"/>
              </a:spcAft>
            </a:pPr>
            <a:r>
              <a:rPr sz="1200" b="0" i="0">
                <a:solidFill>
                  <a:srgbClr val="173A3A"/>
                </a:solidFill>
                <a:latin typeface="Segoe UI"/>
              </a:rPr>
              <a:t>·  Do băng ở hai cực tan và nước biển giãn nở khi Trái Đất nóng lên.</a:t>
            </a:r>
          </a:p>
          <a:p>
            <a:pPr algn="l">
              <a:lnSpc>
                <a:spcPct val="138000"/>
              </a:lnSpc>
              <a:spcBef>
                <a:spcPts val="0"/>
              </a:spcBef>
              <a:spcAft>
                <a:spcPts val="800"/>
              </a:spcAft>
            </a:pPr>
            <a:r>
              <a:rPr sz="1200" b="0" i="0">
                <a:solidFill>
                  <a:srgbClr val="526D6B"/>
                </a:solidFill>
                <a:latin typeface="Segoe UI"/>
              </a:rPr>
              <a:t>·  Là hiện tượng toàn cầu, diễn ra chậm nhưng không đảo ngược được.</a:t>
            </a:r>
          </a:p>
        </p:txBody>
      </p:sp>
      <p:sp>
        <p:nvSpPr>
          <p:cNvPr id="11" name="Rounded Rectangle 10"/>
          <p:cNvSpPr/>
          <p:nvPr/>
        </p:nvSpPr>
        <p:spPr>
          <a:xfrm>
            <a:off x="6223863" y="1691640"/>
            <a:ext cx="5400903" cy="2834640"/>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53047" y="1938528"/>
            <a:ext cx="4742535" cy="274320"/>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B9573E"/>
                </a:solidFill>
                <a:latin typeface="Segoe UI"/>
              </a:rPr>
              <a:t>NỀN ĐẤT THÀNH PHỐ LÚN</a:t>
            </a:r>
          </a:p>
        </p:txBody>
      </p:sp>
      <p:sp>
        <p:nvSpPr>
          <p:cNvPr id="13" name="Down Arrow 12"/>
          <p:cNvSpPr/>
          <p:nvPr/>
        </p:nvSpPr>
        <p:spPr>
          <a:xfrm>
            <a:off x="6553047" y="2359152"/>
            <a:ext cx="310896" cy="566928"/>
          </a:xfrm>
          <a:prstGeom prst="downArrow">
            <a:avLst/>
          </a:prstGeom>
          <a:solidFill>
            <a:srgbClr val="B957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065111" y="2322576"/>
            <a:ext cx="4212183" cy="566928"/>
          </a:xfrm>
          <a:prstGeom prst="rect">
            <a:avLst/>
          </a:prstGeom>
          <a:noFill/>
        </p:spPr>
        <p:txBody>
          <a:bodyPr wrap="square" lIns="0" rIns="0" tIns="0" bIns="0" anchor="t">
            <a:spAutoFit/>
          </a:bodyPr>
          <a:lstStyle/>
          <a:p>
            <a:pPr algn="l">
              <a:lnSpc>
                <a:spcPct val="120000"/>
              </a:lnSpc>
              <a:spcBef>
                <a:spcPts val="0"/>
              </a:spcBef>
              <a:spcAft>
                <a:spcPts val="0"/>
              </a:spcAft>
            </a:pPr>
            <a:r>
              <a:rPr sz="3400" b="1" i="0">
                <a:solidFill>
                  <a:srgbClr val="173A3A"/>
                </a:solidFill>
                <a:latin typeface="Segoe UI"/>
              </a:rPr>
              <a:t>~2cm</a:t>
            </a:r>
            <a:r>
              <a:rPr sz="1300" b="0" i="0">
                <a:solidFill>
                  <a:srgbClr val="526D6B"/>
                </a:solidFill>
                <a:latin typeface="Segoe UI"/>
              </a:rPr>
              <a:t>  mỗi năm</a:t>
            </a:r>
          </a:p>
        </p:txBody>
      </p:sp>
      <p:sp>
        <p:nvSpPr>
          <p:cNvPr id="15" name="TextBox 14"/>
          <p:cNvSpPr txBox="1"/>
          <p:nvPr/>
        </p:nvSpPr>
        <p:spPr>
          <a:xfrm>
            <a:off x="6553047" y="3072384"/>
            <a:ext cx="4742535" cy="1280160"/>
          </a:xfrm>
          <a:prstGeom prst="rect">
            <a:avLst/>
          </a:prstGeom>
          <a:noFill/>
        </p:spPr>
        <p:txBody>
          <a:bodyPr wrap="square" lIns="0" rIns="0" tIns="0" bIns="0" anchor="t">
            <a:spAutoFit/>
          </a:bodyPr>
          <a:lstStyle/>
          <a:p>
            <a:pPr algn="l">
              <a:lnSpc>
                <a:spcPct val="138000"/>
              </a:lnSpc>
              <a:spcBef>
                <a:spcPts val="0"/>
              </a:spcBef>
              <a:spcAft>
                <a:spcPts val="800"/>
              </a:spcAft>
            </a:pPr>
            <a:r>
              <a:rPr sz="1200" b="0" i="0">
                <a:solidFill>
                  <a:srgbClr val="173A3A"/>
                </a:solidFill>
                <a:latin typeface="Segoe UI"/>
              </a:rPr>
              <a:t>·  Có nơi lún tới 5 – 8cm mỗi năm; từ năm 1990 đến nay đã lún khoảng 1 mét.</a:t>
            </a:r>
          </a:p>
          <a:p>
            <a:pPr algn="l">
              <a:lnSpc>
                <a:spcPct val="138000"/>
              </a:lnSpc>
              <a:spcBef>
                <a:spcPts val="0"/>
              </a:spcBef>
              <a:spcAft>
                <a:spcPts val="800"/>
              </a:spcAft>
            </a:pPr>
            <a:r>
              <a:rPr sz="1200" b="0" i="0">
                <a:solidFill>
                  <a:srgbClr val="526D6B"/>
                </a:solidFill>
                <a:latin typeface="Segoe UI"/>
              </a:rPr>
              <a:t>·  Do nền đất trẻ tự nén, cộng với khai thác nước ngầm và tải trọng công trình.</a:t>
            </a:r>
          </a:p>
        </p:txBody>
      </p:sp>
      <p:sp>
        <p:nvSpPr>
          <p:cNvPr id="16" name="Rounded Rectangle 15"/>
          <p:cNvSpPr/>
          <p:nvPr/>
        </p:nvSpPr>
        <p:spPr>
          <a:xfrm>
            <a:off x="566928" y="4681728"/>
            <a:ext cx="11057839" cy="914400"/>
          </a:xfrm>
          <a:prstGeom prst="roundRect">
            <a:avLst>
              <a:gd name="adj" fmla="val 9000"/>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681728"/>
            <a:ext cx="50292" cy="9144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32688" y="4681728"/>
            <a:ext cx="10326319" cy="914400"/>
          </a:xfrm>
          <a:prstGeom prst="rect">
            <a:avLst/>
          </a:prstGeom>
          <a:noFill/>
        </p:spPr>
        <p:txBody>
          <a:bodyPr wrap="square" lIns="0" rIns="0" tIns="0" bIns="0" anchor="ctr">
            <a:spAutoFit/>
          </a:bodyPr>
          <a:lstStyle/>
          <a:p>
            <a:pPr algn="l">
              <a:lnSpc>
                <a:spcPct val="138000"/>
              </a:lnSpc>
              <a:spcBef>
                <a:spcPts val="0"/>
              </a:spcBef>
              <a:spcAft>
                <a:spcPts val="0"/>
              </a:spcAft>
            </a:pPr>
            <a:r>
              <a:rPr sz="1250" b="1" i="0">
                <a:solidFill>
                  <a:srgbClr val="FFF8EC"/>
                </a:solidFill>
                <a:latin typeface="Segoe UI"/>
              </a:rPr>
              <a:t>Đất lún nhanh gấp khoảng 7 lần tốc độ nước biển dâng.</a:t>
            </a:r>
            <a:r>
              <a:rPr sz="1250" b="0" i="0">
                <a:solidFill>
                  <a:srgbClr val="AFC5C2"/>
                </a:solidFill>
                <a:latin typeface="Segoe UI"/>
              </a:rPr>
              <a:t>  Vì vậy mực nước mà thành phố thực sự phải chịu — gọi là mực nước tương đối — dâng nhanh hơn nhiều so với con số 3mm/năm của biển.</a:t>
            </a:r>
          </a:p>
        </p:txBody>
      </p:sp>
      <p:sp>
        <p:nvSpPr>
          <p:cNvPr id="19" name="Rounded Rectangle 18"/>
          <p:cNvSpPr/>
          <p:nvPr/>
        </p:nvSpPr>
        <p:spPr>
          <a:xfrm>
            <a:off x="566928" y="5705856"/>
            <a:ext cx="11057839" cy="457200"/>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ectangle 19"/>
          <p:cNvSpPr/>
          <p:nvPr/>
        </p:nvSpPr>
        <p:spPr>
          <a:xfrm>
            <a:off x="566928" y="5705856"/>
            <a:ext cx="50292" cy="4572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77824" y="5705856"/>
            <a:ext cx="10490911" cy="457200"/>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LƯU Ý:  </a:t>
            </a:r>
            <a:r>
              <a:rPr sz="1250" b="0" i="0">
                <a:solidFill>
                  <a:srgbClr val="173A3A"/>
                </a:solidFill>
                <a:latin typeface="Segoe UI"/>
              </a:rPr>
              <a:t>nước biển dâng là chuyện của toàn cầu, nhưng lún nền đất thì phần lớn do chính thành phố gây ra — nên đó là phần ta can thiệp được.</a:t>
            </a:r>
          </a:p>
        </p:txBody>
      </p:sp>
      <p:sp>
        <p:nvSpPr>
          <p:cNvPr id="22" name="TextBox 21"/>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23" name="TextBox 22"/>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12 / 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13</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Biểu hiện 4 — Thiên tai cực đoan gia tăng</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Những hiện tượng trước đây hiếm gặp ở Nam Bộ nay xuất hiện ngày càng thường xuyên</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6309360" cy="1005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41247" y="1984248"/>
            <a:ext cx="420624" cy="420624"/>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2084832"/>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B9573E"/>
                </a:solidFill>
                <a:latin typeface="Segoe UI"/>
              </a:rPr>
              <a:t>01</a:t>
            </a:r>
          </a:p>
        </p:txBody>
      </p:sp>
      <p:sp>
        <p:nvSpPr>
          <p:cNvPr id="9" name="TextBox 8"/>
          <p:cNvSpPr txBox="1"/>
          <p:nvPr/>
        </p:nvSpPr>
        <p:spPr>
          <a:xfrm>
            <a:off x="1408176" y="1892808"/>
            <a:ext cx="5166360" cy="274320"/>
          </a:xfrm>
          <a:prstGeom prst="rect">
            <a:avLst/>
          </a:prstGeom>
          <a:noFill/>
        </p:spPr>
        <p:txBody>
          <a:bodyPr wrap="square" lIns="0" rIns="0" tIns="0" bIns="0" anchor="t">
            <a:spAutoFit/>
          </a:bodyPr>
          <a:lstStyle/>
          <a:p>
            <a:pPr algn="l">
              <a:lnSpc>
                <a:spcPct val="120000"/>
              </a:lnSpc>
              <a:spcBef>
                <a:spcPts val="0"/>
              </a:spcBef>
              <a:spcAft>
                <a:spcPts val="0"/>
              </a:spcAft>
            </a:pPr>
            <a:r>
              <a:rPr sz="1450" b="1" i="0">
                <a:solidFill>
                  <a:srgbClr val="173A3A"/>
                </a:solidFill>
                <a:latin typeface="Segoe UI"/>
              </a:rPr>
              <a:t>Dông, lốc xoáy, sét, mưa đá</a:t>
            </a:r>
          </a:p>
        </p:txBody>
      </p:sp>
      <p:sp>
        <p:nvSpPr>
          <p:cNvPr id="10" name="TextBox 9"/>
          <p:cNvSpPr txBox="1"/>
          <p:nvPr/>
        </p:nvSpPr>
        <p:spPr>
          <a:xfrm>
            <a:off x="1408176" y="2221992"/>
            <a:ext cx="5166360" cy="402336"/>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Xuất hiện bất thường vào đầu và cuối mùa mưa, gây tốc mái, ngã cây, đứt dây điện.</a:t>
            </a:r>
          </a:p>
        </p:txBody>
      </p:sp>
      <p:sp>
        <p:nvSpPr>
          <p:cNvPr id="11" name="Rounded Rectangle 10"/>
          <p:cNvSpPr/>
          <p:nvPr/>
        </p:nvSpPr>
        <p:spPr>
          <a:xfrm>
            <a:off x="566928" y="2807208"/>
            <a:ext cx="6309360" cy="1005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Oval 11"/>
          <p:cNvSpPr/>
          <p:nvPr/>
        </p:nvSpPr>
        <p:spPr>
          <a:xfrm>
            <a:off x="841247" y="3099816"/>
            <a:ext cx="420624" cy="420624"/>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41247" y="3200400"/>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B9573E"/>
                </a:solidFill>
                <a:latin typeface="Segoe UI"/>
              </a:rPr>
              <a:t>02</a:t>
            </a:r>
          </a:p>
        </p:txBody>
      </p:sp>
      <p:sp>
        <p:nvSpPr>
          <p:cNvPr id="14" name="TextBox 13"/>
          <p:cNvSpPr txBox="1"/>
          <p:nvPr/>
        </p:nvSpPr>
        <p:spPr>
          <a:xfrm>
            <a:off x="1408176" y="3008376"/>
            <a:ext cx="5166360" cy="274320"/>
          </a:xfrm>
          <a:prstGeom prst="rect">
            <a:avLst/>
          </a:prstGeom>
          <a:noFill/>
        </p:spPr>
        <p:txBody>
          <a:bodyPr wrap="square" lIns="0" rIns="0" tIns="0" bIns="0" anchor="t">
            <a:spAutoFit/>
          </a:bodyPr>
          <a:lstStyle/>
          <a:p>
            <a:pPr algn="l">
              <a:lnSpc>
                <a:spcPct val="120000"/>
              </a:lnSpc>
              <a:spcBef>
                <a:spcPts val="0"/>
              </a:spcBef>
              <a:spcAft>
                <a:spcPts val="0"/>
              </a:spcAft>
            </a:pPr>
            <a:r>
              <a:rPr sz="1450" b="1" i="0">
                <a:solidFill>
                  <a:srgbClr val="173A3A"/>
                </a:solidFill>
                <a:latin typeface="Segoe UI"/>
              </a:rPr>
              <a:t>Xâm nhập mặn</a:t>
            </a:r>
          </a:p>
        </p:txBody>
      </p:sp>
      <p:sp>
        <p:nvSpPr>
          <p:cNvPr id="15" name="TextBox 14"/>
          <p:cNvSpPr txBox="1"/>
          <p:nvPr/>
        </p:nvSpPr>
        <p:spPr>
          <a:xfrm>
            <a:off x="1408176" y="3337560"/>
            <a:ext cx="5166360" cy="402336"/>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Tiến sâu hơn vào hệ thống sông trong mùa khô, ảnh hưởng nước sinh hoạt và nông nghiệp vùng ven.</a:t>
            </a:r>
          </a:p>
        </p:txBody>
      </p:sp>
      <p:sp>
        <p:nvSpPr>
          <p:cNvPr id="16" name="Rounded Rectangle 15"/>
          <p:cNvSpPr/>
          <p:nvPr/>
        </p:nvSpPr>
        <p:spPr>
          <a:xfrm>
            <a:off x="566928" y="3922776"/>
            <a:ext cx="6309360" cy="1005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Oval 16"/>
          <p:cNvSpPr/>
          <p:nvPr/>
        </p:nvSpPr>
        <p:spPr>
          <a:xfrm>
            <a:off x="841247" y="4215384"/>
            <a:ext cx="420624" cy="420624"/>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4315968"/>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B9573E"/>
                </a:solidFill>
                <a:latin typeface="Segoe UI"/>
              </a:rPr>
              <a:t>03</a:t>
            </a:r>
          </a:p>
        </p:txBody>
      </p:sp>
      <p:sp>
        <p:nvSpPr>
          <p:cNvPr id="19" name="TextBox 18"/>
          <p:cNvSpPr txBox="1"/>
          <p:nvPr/>
        </p:nvSpPr>
        <p:spPr>
          <a:xfrm>
            <a:off x="1408176" y="4123944"/>
            <a:ext cx="5166360" cy="274320"/>
          </a:xfrm>
          <a:prstGeom prst="rect">
            <a:avLst/>
          </a:prstGeom>
          <a:noFill/>
        </p:spPr>
        <p:txBody>
          <a:bodyPr wrap="square" lIns="0" rIns="0" tIns="0" bIns="0" anchor="t">
            <a:spAutoFit/>
          </a:bodyPr>
          <a:lstStyle/>
          <a:p>
            <a:pPr algn="l">
              <a:lnSpc>
                <a:spcPct val="120000"/>
              </a:lnSpc>
              <a:spcBef>
                <a:spcPts val="0"/>
              </a:spcBef>
              <a:spcAft>
                <a:spcPts val="0"/>
              </a:spcAft>
            </a:pPr>
            <a:r>
              <a:rPr sz="1450" b="1" i="0">
                <a:solidFill>
                  <a:srgbClr val="173A3A"/>
                </a:solidFill>
                <a:latin typeface="Segoe UI"/>
              </a:rPr>
              <a:t>Sạt lở bờ sông, kênh rạch</a:t>
            </a:r>
          </a:p>
        </p:txBody>
      </p:sp>
      <p:sp>
        <p:nvSpPr>
          <p:cNvPr id="20" name="TextBox 19"/>
          <p:cNvSpPr txBox="1"/>
          <p:nvPr/>
        </p:nvSpPr>
        <p:spPr>
          <a:xfrm>
            <a:off x="1408176" y="4453128"/>
            <a:ext cx="5166360" cy="402336"/>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Nhà Bè, Cần Giờ, Thanh Đa… ngày càng xuất hiện thêm nhiều điểm nguy hiểm mới.</a:t>
            </a:r>
          </a:p>
        </p:txBody>
      </p:sp>
      <p:sp>
        <p:nvSpPr>
          <p:cNvPr id="21" name="Rounded Rectangle 20"/>
          <p:cNvSpPr/>
          <p:nvPr/>
        </p:nvSpPr>
        <p:spPr>
          <a:xfrm>
            <a:off x="566928" y="5038344"/>
            <a:ext cx="6309360" cy="1005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41247" y="5330952"/>
            <a:ext cx="420624" cy="420624"/>
          </a:xfrm>
          <a:prstGeom prst="ellipse">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1247" y="5431536"/>
            <a:ext cx="420624" cy="237744"/>
          </a:xfrm>
          <a:prstGeom prst="rect">
            <a:avLst/>
          </a:prstGeom>
          <a:noFill/>
        </p:spPr>
        <p:txBody>
          <a:bodyPr wrap="square" lIns="0" rIns="0" tIns="0" bIns="0" anchor="t">
            <a:spAutoFit/>
          </a:bodyPr>
          <a:lstStyle/>
          <a:p>
            <a:pPr algn="ctr">
              <a:lnSpc>
                <a:spcPct val="120000"/>
              </a:lnSpc>
              <a:spcBef>
                <a:spcPts val="0"/>
              </a:spcBef>
              <a:spcAft>
                <a:spcPts val="0"/>
              </a:spcAft>
            </a:pPr>
            <a:r>
              <a:rPr sz="1100" b="1" i="0">
                <a:solidFill>
                  <a:srgbClr val="B9573E"/>
                </a:solidFill>
                <a:latin typeface="Segoe UI"/>
              </a:rPr>
              <a:t>04</a:t>
            </a:r>
          </a:p>
        </p:txBody>
      </p:sp>
      <p:sp>
        <p:nvSpPr>
          <p:cNvPr id="24" name="TextBox 23"/>
          <p:cNvSpPr txBox="1"/>
          <p:nvPr/>
        </p:nvSpPr>
        <p:spPr>
          <a:xfrm>
            <a:off x="1408176" y="5239512"/>
            <a:ext cx="5166360" cy="274320"/>
          </a:xfrm>
          <a:prstGeom prst="rect">
            <a:avLst/>
          </a:prstGeom>
          <a:noFill/>
        </p:spPr>
        <p:txBody>
          <a:bodyPr wrap="square" lIns="0" rIns="0" tIns="0" bIns="0" anchor="t">
            <a:spAutoFit/>
          </a:bodyPr>
          <a:lstStyle/>
          <a:p>
            <a:pPr algn="l">
              <a:lnSpc>
                <a:spcPct val="120000"/>
              </a:lnSpc>
              <a:spcBef>
                <a:spcPts val="0"/>
              </a:spcBef>
              <a:spcAft>
                <a:spcPts val="0"/>
              </a:spcAft>
            </a:pPr>
            <a:r>
              <a:rPr sz="1450" b="1" i="0">
                <a:solidFill>
                  <a:srgbClr val="173A3A"/>
                </a:solidFill>
                <a:latin typeface="Segoe UI"/>
              </a:rPr>
              <a:t>Bão dịch chuyển xuống phía Nam</a:t>
            </a:r>
          </a:p>
        </p:txBody>
      </p:sp>
      <p:sp>
        <p:nvSpPr>
          <p:cNvPr id="25" name="TextBox 24"/>
          <p:cNvSpPr txBox="1"/>
          <p:nvPr/>
        </p:nvSpPr>
        <p:spPr>
          <a:xfrm>
            <a:off x="1408176" y="5568696"/>
            <a:ext cx="5166360" cy="402336"/>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Vùng vốn rất ít bão như Nam Bộ nay không còn “an toàn tuyệt đối” như trước.</a:t>
            </a:r>
          </a:p>
        </p:txBody>
      </p:sp>
      <p:pic>
        <p:nvPicPr>
          <p:cNvPr id="26" name="Picture 25" descr="image2.png"/>
          <p:cNvPicPr>
            <a:picLocks noChangeAspect="1"/>
          </p:cNvPicPr>
          <p:nvPr/>
        </p:nvPicPr>
        <p:blipFill>
          <a:blip r:embed="rId2"/>
          <a:stretch>
            <a:fillRect/>
          </a:stretch>
        </p:blipFill>
        <p:spPr>
          <a:xfrm>
            <a:off x="7059168" y="1691640"/>
            <a:ext cx="4565599" cy="2569515"/>
          </a:xfrm>
          <a:prstGeom prst="rect">
            <a:avLst/>
          </a:prstGeom>
        </p:spPr>
      </p:pic>
      <p:sp>
        <p:nvSpPr>
          <p:cNvPr id="27" name="TextBox 26"/>
          <p:cNvSpPr txBox="1"/>
          <p:nvPr/>
        </p:nvSpPr>
        <p:spPr>
          <a:xfrm>
            <a:off x="7059168" y="4389170"/>
            <a:ext cx="4565599" cy="237744"/>
          </a:xfrm>
          <a:prstGeom prst="rect">
            <a:avLst/>
          </a:prstGeom>
          <a:noFill/>
        </p:spPr>
        <p:txBody>
          <a:bodyPr wrap="square" lIns="0" rIns="0" tIns="0" bIns="0" anchor="t">
            <a:spAutoFit/>
          </a:bodyPr>
          <a:lstStyle/>
          <a:p>
            <a:pPr algn="l">
              <a:lnSpc>
                <a:spcPct val="120000"/>
              </a:lnSpc>
              <a:spcBef>
                <a:spcPts val="0"/>
              </a:spcBef>
              <a:spcAft>
                <a:spcPts val="0"/>
              </a:spcAft>
            </a:pPr>
            <a:r>
              <a:rPr sz="950" b="0" i="1">
                <a:solidFill>
                  <a:srgbClr val="8AA3A1"/>
                </a:solidFill>
                <a:latin typeface="Segoe UI"/>
              </a:rPr>
              <a:t>Ảnh: dông và mưa lớn kéo đến trên bầu trời thành phố</a:t>
            </a:r>
          </a:p>
        </p:txBody>
      </p:sp>
      <p:sp>
        <p:nvSpPr>
          <p:cNvPr id="28" name="Rounded Rectangle 27"/>
          <p:cNvSpPr/>
          <p:nvPr/>
        </p:nvSpPr>
        <p:spPr>
          <a:xfrm>
            <a:off x="7059168" y="4626864"/>
            <a:ext cx="4565599" cy="1481328"/>
          </a:xfrm>
          <a:prstGeom prst="roundRect">
            <a:avLst>
              <a:gd name="adj" fmla="val 8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7370064" y="4846320"/>
            <a:ext cx="3943807"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B9573E"/>
                </a:solidFill>
                <a:latin typeface="Segoe UI"/>
              </a:rPr>
              <a:t>AN TOÀN KHI GẶP DÔNG LỐC</a:t>
            </a:r>
          </a:p>
        </p:txBody>
      </p:sp>
      <p:sp>
        <p:nvSpPr>
          <p:cNvPr id="30" name="TextBox 29"/>
          <p:cNvSpPr txBox="1"/>
          <p:nvPr/>
        </p:nvSpPr>
        <p:spPr>
          <a:xfrm>
            <a:off x="7370064" y="5175504"/>
            <a:ext cx="3943807" cy="822960"/>
          </a:xfrm>
          <a:prstGeom prst="rect">
            <a:avLst/>
          </a:prstGeom>
          <a:noFill/>
        </p:spPr>
        <p:txBody>
          <a:bodyPr wrap="square" lIns="0" rIns="0" tIns="0" bIns="0" anchor="t">
            <a:spAutoFit/>
          </a:bodyPr>
          <a:lstStyle/>
          <a:p>
            <a:pPr algn="l">
              <a:lnSpc>
                <a:spcPct val="138000"/>
              </a:lnSpc>
              <a:spcBef>
                <a:spcPts val="0"/>
              </a:spcBef>
              <a:spcAft>
                <a:spcPts val="0"/>
              </a:spcAft>
            </a:pPr>
            <a:r>
              <a:rPr sz="1150" b="0" i="0">
                <a:solidFill>
                  <a:srgbClr val="173A3A"/>
                </a:solidFill>
                <a:latin typeface="Segoe UI"/>
              </a:rPr>
              <a:t>Không trú dưới gốc cây, cột điện, biển quảng cáo · rút phích điện khi có sấm sét · tránh xa cửa kính · theo dõi bản tin cảnh báo trước khi ra đường.</a:t>
            </a:r>
          </a:p>
        </p:txBody>
      </p:sp>
      <p:sp>
        <p:nvSpPr>
          <p:cNvPr id="31" name="TextBox 30"/>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2" name="TextBox 31"/>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13 / 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E2726"/>
        </a:solidFill>
        <a:effectLst/>
      </p:bgPr>
    </p:bg>
    <p:spTree>
      <p:nvGrpSpPr>
        <p:cNvPr id="1" name=""/>
        <p:cNvGrpSpPr/>
        <p:nvPr/>
      </p:nvGrpSpPr>
      <p:grpSpPr/>
      <p:sp>
        <p:nvSpPr>
          <p:cNvPr id="2" name="TextBox 1"/>
          <p:cNvSpPr txBox="1"/>
          <p:nvPr/>
        </p:nvSpPr>
        <p:spPr>
          <a:xfrm>
            <a:off x="566928" y="1417320"/>
            <a:ext cx="5486400" cy="274320"/>
          </a:xfrm>
          <a:prstGeom prst="rect">
            <a:avLst/>
          </a:prstGeom>
          <a:noFill/>
        </p:spPr>
        <p:txBody>
          <a:bodyPr wrap="square" lIns="0" rIns="0" tIns="0" bIns="0" anchor="t">
            <a:spAutoFit/>
          </a:bodyPr>
          <a:lstStyle/>
          <a:p>
            <a:pPr algn="l">
              <a:lnSpc>
                <a:spcPct val="120000"/>
              </a:lnSpc>
              <a:spcBef>
                <a:spcPts val="0"/>
              </a:spcBef>
              <a:spcAft>
                <a:spcPts val="0"/>
              </a:spcAft>
            </a:pPr>
            <a:r>
              <a:rPr sz="1200" b="1" i="0" spc="220">
                <a:solidFill>
                  <a:srgbClr val="E9825B"/>
                </a:solidFill>
                <a:latin typeface="Segoe UI"/>
              </a:rPr>
              <a:t>PHẦN B</a:t>
            </a:r>
          </a:p>
        </p:txBody>
      </p:sp>
      <p:sp>
        <p:nvSpPr>
          <p:cNvPr id="3" name="Rectangle 2"/>
          <p:cNvSpPr/>
          <p:nvPr/>
        </p:nvSpPr>
        <p:spPr>
          <a:xfrm>
            <a:off x="566928" y="1810512"/>
            <a:ext cx="822960" cy="4114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66928" y="2121408"/>
            <a:ext cx="8778240" cy="1554480"/>
          </a:xfrm>
          <a:prstGeom prst="rect">
            <a:avLst/>
          </a:prstGeom>
          <a:noFill/>
        </p:spPr>
        <p:txBody>
          <a:bodyPr wrap="square" lIns="0" rIns="0" tIns="0" bIns="0" anchor="t">
            <a:spAutoFit/>
          </a:bodyPr>
          <a:lstStyle/>
          <a:p>
            <a:pPr algn="l">
              <a:lnSpc>
                <a:spcPct val="112000"/>
              </a:lnSpc>
              <a:spcBef>
                <a:spcPts val="0"/>
              </a:spcBef>
              <a:spcAft>
                <a:spcPts val="0"/>
              </a:spcAft>
            </a:pPr>
            <a:r>
              <a:rPr sz="3700" b="1" i="0">
                <a:solidFill>
                  <a:srgbClr val="FFF8EC"/>
                </a:solidFill>
                <a:latin typeface="Segoe UI"/>
              </a:rPr>
              <a:t>Nguyên nhân —</a:t>
            </a:r>
          </a:p>
          <a:p>
            <a:pPr algn="l">
              <a:lnSpc>
                <a:spcPct val="112000"/>
              </a:lnSpc>
              <a:spcBef>
                <a:spcPts val="0"/>
              </a:spcBef>
              <a:spcAft>
                <a:spcPts val="0"/>
              </a:spcAft>
            </a:pPr>
            <a:r>
              <a:rPr sz="3700" b="1" i="0">
                <a:solidFill>
                  <a:srgbClr val="FFF8EC"/>
                </a:solidFill>
                <a:latin typeface="Segoe UI"/>
              </a:rPr>
              <a:t>vì sao lại như vậy?</a:t>
            </a:r>
          </a:p>
        </p:txBody>
      </p:sp>
      <p:sp>
        <p:nvSpPr>
          <p:cNvPr id="5" name="TextBox 4"/>
          <p:cNvSpPr txBox="1"/>
          <p:nvPr/>
        </p:nvSpPr>
        <p:spPr>
          <a:xfrm>
            <a:off x="566928" y="3822191"/>
            <a:ext cx="7863840" cy="548640"/>
          </a:xfrm>
          <a:prstGeom prst="rect">
            <a:avLst/>
          </a:prstGeom>
          <a:noFill/>
        </p:spPr>
        <p:txBody>
          <a:bodyPr wrap="square" lIns="0" rIns="0" tIns="0" bIns="0" anchor="t">
            <a:spAutoFit/>
          </a:bodyPr>
          <a:lstStyle/>
          <a:p>
            <a:pPr algn="l">
              <a:lnSpc>
                <a:spcPct val="140000"/>
              </a:lnSpc>
              <a:spcBef>
                <a:spcPts val="0"/>
              </a:spcBef>
              <a:spcAft>
                <a:spcPts val="0"/>
              </a:spcAft>
            </a:pPr>
            <a:r>
              <a:rPr sz="1350" b="0" i="0">
                <a:solidFill>
                  <a:srgbClr val="9FB8B5"/>
                </a:solidFill>
                <a:latin typeface="Segoe UI"/>
              </a:rPr>
              <a:t>Mọi nguyên nhân đều xếp được vào một trong hai nhóm dưới đây — và chỉ một nhóm là chúng ta thay đổi được.</a:t>
            </a:r>
          </a:p>
        </p:txBody>
      </p:sp>
      <p:sp>
        <p:nvSpPr>
          <p:cNvPr id="6" name="Rounded Rectangle 5"/>
          <p:cNvSpPr/>
          <p:nvPr/>
        </p:nvSpPr>
        <p:spPr>
          <a:xfrm>
            <a:off x="566928" y="4709160"/>
            <a:ext cx="5391759" cy="987552"/>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4709160"/>
            <a:ext cx="45720" cy="987552"/>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77824" y="4892040"/>
            <a:ext cx="4769967" cy="256032"/>
          </a:xfrm>
          <a:prstGeom prst="rect">
            <a:avLst/>
          </a:prstGeom>
          <a:noFill/>
        </p:spPr>
        <p:txBody>
          <a:bodyPr wrap="square" lIns="0" rIns="0" tIns="0" bIns="0" anchor="t">
            <a:spAutoFit/>
          </a:bodyPr>
          <a:lstStyle/>
          <a:p>
            <a:pPr algn="l">
              <a:lnSpc>
                <a:spcPct val="120000"/>
              </a:lnSpc>
              <a:spcBef>
                <a:spcPts val="0"/>
              </a:spcBef>
              <a:spcAft>
                <a:spcPts val="0"/>
              </a:spcAft>
            </a:pPr>
            <a:r>
              <a:rPr sz="1200" b="1" i="0" spc="150">
                <a:solidFill>
                  <a:srgbClr val="FFF8EC"/>
                </a:solidFill>
                <a:latin typeface="Segoe UI"/>
              </a:rPr>
              <a:t>KHÁCH QUAN</a:t>
            </a:r>
          </a:p>
        </p:txBody>
      </p:sp>
      <p:sp>
        <p:nvSpPr>
          <p:cNvPr id="9" name="TextBox 8"/>
          <p:cNvSpPr txBox="1"/>
          <p:nvPr/>
        </p:nvSpPr>
        <p:spPr>
          <a:xfrm>
            <a:off x="877824" y="5193792"/>
            <a:ext cx="4769967" cy="36576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9FB8B5"/>
                </a:solidFill>
                <a:latin typeface="Segoe UI"/>
              </a:rPr>
              <a:t>Do tự nhiên — con người không tạo ra và rất khó thay đổi.</a:t>
            </a:r>
          </a:p>
        </p:txBody>
      </p:sp>
      <p:sp>
        <p:nvSpPr>
          <p:cNvPr id="10" name="Rounded Rectangle 9"/>
          <p:cNvSpPr/>
          <p:nvPr/>
        </p:nvSpPr>
        <p:spPr>
          <a:xfrm>
            <a:off x="6233007" y="4709160"/>
            <a:ext cx="5391759" cy="987552"/>
          </a:xfrm>
          <a:prstGeom prst="roundRect">
            <a:avLst>
              <a:gd name="adj" fmla="val 8000"/>
            </a:avLst>
          </a:prstGeom>
          <a:solidFill>
            <a:srgbClr val="FFFFFF">
              <a:alpha val="9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33007" y="4709160"/>
            <a:ext cx="45720" cy="98755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43903" y="4892040"/>
            <a:ext cx="4769967" cy="256032"/>
          </a:xfrm>
          <a:prstGeom prst="rect">
            <a:avLst/>
          </a:prstGeom>
          <a:noFill/>
        </p:spPr>
        <p:txBody>
          <a:bodyPr wrap="square" lIns="0" rIns="0" tIns="0" bIns="0" anchor="t">
            <a:spAutoFit/>
          </a:bodyPr>
          <a:lstStyle/>
          <a:p>
            <a:pPr algn="l">
              <a:lnSpc>
                <a:spcPct val="120000"/>
              </a:lnSpc>
              <a:spcBef>
                <a:spcPts val="0"/>
              </a:spcBef>
              <a:spcAft>
                <a:spcPts val="0"/>
              </a:spcAft>
            </a:pPr>
            <a:r>
              <a:rPr sz="1200" b="1" i="0" spc="150">
                <a:solidFill>
                  <a:srgbClr val="FFF8EC"/>
                </a:solidFill>
                <a:latin typeface="Segoe UI"/>
              </a:rPr>
              <a:t>CHỦ QUAN</a:t>
            </a:r>
          </a:p>
        </p:txBody>
      </p:sp>
      <p:sp>
        <p:nvSpPr>
          <p:cNvPr id="13" name="TextBox 12"/>
          <p:cNvSpPr txBox="1"/>
          <p:nvPr/>
        </p:nvSpPr>
        <p:spPr>
          <a:xfrm>
            <a:off x="6543903" y="5193792"/>
            <a:ext cx="4769967" cy="365760"/>
          </a:xfrm>
          <a:prstGeom prst="rect">
            <a:avLst/>
          </a:prstGeom>
          <a:noFill/>
        </p:spPr>
        <p:txBody>
          <a:bodyPr wrap="square" lIns="0" rIns="0" tIns="0" bIns="0" anchor="t">
            <a:spAutoFit/>
          </a:bodyPr>
          <a:lstStyle/>
          <a:p>
            <a:pPr algn="l">
              <a:lnSpc>
                <a:spcPct val="132000"/>
              </a:lnSpc>
              <a:spcBef>
                <a:spcPts val="0"/>
              </a:spcBef>
              <a:spcAft>
                <a:spcPts val="0"/>
              </a:spcAft>
            </a:pPr>
            <a:r>
              <a:rPr sz="1150" b="0" i="0">
                <a:solidFill>
                  <a:srgbClr val="9FB8B5"/>
                </a:solidFill>
                <a:latin typeface="Segoe UI"/>
              </a:rPr>
              <a:t>Do chính hoạt động của con người — và vì thế có thể thay đổi.</a:t>
            </a:r>
          </a:p>
        </p:txBody>
      </p:sp>
      <p:sp>
        <p:nvSpPr>
          <p:cNvPr id="14" name="TextBox 13"/>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6B8785"/>
                </a:solidFill>
                <a:latin typeface="Segoe UI"/>
              </a:rPr>
              <a:t>GIÁO DỤC ĐỊA PHƯƠNG 10 · CHỦ ĐỀ 1 · BIẾN ĐỔI KHÍ HẬU Ở TP. HỒ CHÍ MINH</a:t>
            </a:r>
          </a:p>
        </p:txBody>
      </p:sp>
      <p:sp>
        <p:nvSpPr>
          <p:cNvPr id="15" name="TextBox 14"/>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6B8785"/>
                </a:solidFill>
                <a:latin typeface="Segoe UI"/>
              </a:rPr>
              <a:t>14 / 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15</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Nguyên nhân khách quan (tự nhiên)</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Những yếu tố con người không tạo ra và gần như không thể thay đổi</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64208"/>
            <a:ext cx="5400903" cy="18288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64208"/>
            <a:ext cx="45720" cy="1828800"/>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59536" y="1920240"/>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2F7F7A"/>
                </a:solidFill>
                <a:latin typeface="Segoe UI"/>
              </a:rPr>
              <a:t>01</a:t>
            </a:r>
          </a:p>
        </p:txBody>
      </p:sp>
      <p:sp>
        <p:nvSpPr>
          <p:cNvPr id="9" name="TextBox 8"/>
          <p:cNvSpPr txBox="1"/>
          <p:nvPr/>
        </p:nvSpPr>
        <p:spPr>
          <a:xfrm>
            <a:off x="859536" y="2194560"/>
            <a:ext cx="4815687" cy="10058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Biến động tự nhiên của khí hậu Trái Đất</a:t>
            </a:r>
          </a:p>
          <a:p>
            <a:pPr algn="l">
              <a:lnSpc>
                <a:spcPct val="132000"/>
              </a:lnSpc>
              <a:spcBef>
                <a:spcPts val="0"/>
              </a:spcBef>
              <a:spcAft>
                <a:spcPts val="0"/>
              </a:spcAft>
            </a:pPr>
            <a:r>
              <a:rPr sz="1200" b="0" i="0">
                <a:solidFill>
                  <a:srgbClr val="526D6B"/>
                </a:solidFill>
                <a:latin typeface="Segoe UI"/>
              </a:rPr>
              <a:t>Bức xạ Mặt Trời thay đổi, núi lửa phun trào đưa tro bụi vào khí quyển, dao động El Niño – La Niña làm nền nhiệt và lượng mưa dao động mạnh giữa các năm.</a:t>
            </a:r>
          </a:p>
        </p:txBody>
      </p:sp>
      <p:sp>
        <p:nvSpPr>
          <p:cNvPr id="10" name="Rounded Rectangle 9"/>
          <p:cNvSpPr/>
          <p:nvPr/>
        </p:nvSpPr>
        <p:spPr>
          <a:xfrm>
            <a:off x="6223863" y="1664208"/>
            <a:ext cx="5400903" cy="18288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6223863" y="1664208"/>
            <a:ext cx="45720" cy="1828800"/>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516471" y="1920240"/>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2F7F7A"/>
                </a:solidFill>
                <a:latin typeface="Segoe UI"/>
              </a:rPr>
              <a:t>02</a:t>
            </a:r>
          </a:p>
        </p:txBody>
      </p:sp>
      <p:sp>
        <p:nvSpPr>
          <p:cNvPr id="13" name="TextBox 12"/>
          <p:cNvSpPr txBox="1"/>
          <p:nvPr/>
        </p:nvSpPr>
        <p:spPr>
          <a:xfrm>
            <a:off x="6516471" y="2194560"/>
            <a:ext cx="4815687" cy="10058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Vị trí và địa hình của thành phố</a:t>
            </a:r>
          </a:p>
          <a:p>
            <a:pPr algn="l">
              <a:lnSpc>
                <a:spcPct val="132000"/>
              </a:lnSpc>
              <a:spcBef>
                <a:spcPts val="0"/>
              </a:spcBef>
              <a:spcAft>
                <a:spcPts val="0"/>
              </a:spcAft>
            </a:pPr>
            <a:r>
              <a:rPr sz="1200" b="0" i="0">
                <a:solidFill>
                  <a:srgbClr val="526D6B"/>
                </a:solidFill>
                <a:latin typeface="Segoe UI"/>
              </a:rPr>
              <a:t>Nằm ở hạ lưu sông Sài Gòn – Đồng Nai, địa hình thấp, lại giáp biển nên cùng lúc hứng mưa tại chỗ, lũ từ thượng nguồn và triều từ biển.</a:t>
            </a:r>
          </a:p>
        </p:txBody>
      </p:sp>
      <p:sp>
        <p:nvSpPr>
          <p:cNvPr id="14" name="Rounded Rectangle 13"/>
          <p:cNvSpPr/>
          <p:nvPr/>
        </p:nvSpPr>
        <p:spPr>
          <a:xfrm>
            <a:off x="566928" y="3712464"/>
            <a:ext cx="5400903" cy="18288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566928" y="3712464"/>
            <a:ext cx="45720" cy="1828800"/>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59536" y="3968496"/>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2F7F7A"/>
                </a:solidFill>
                <a:latin typeface="Segoe UI"/>
              </a:rPr>
              <a:t>03</a:t>
            </a:r>
          </a:p>
        </p:txBody>
      </p:sp>
      <p:sp>
        <p:nvSpPr>
          <p:cNvPr id="17" name="TextBox 16"/>
          <p:cNvSpPr txBox="1"/>
          <p:nvPr/>
        </p:nvSpPr>
        <p:spPr>
          <a:xfrm>
            <a:off x="859536" y="4242816"/>
            <a:ext cx="4815687" cy="10058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Nền đất trẻ và yếu</a:t>
            </a:r>
          </a:p>
          <a:p>
            <a:pPr algn="l">
              <a:lnSpc>
                <a:spcPct val="132000"/>
              </a:lnSpc>
              <a:spcBef>
                <a:spcPts val="0"/>
              </a:spcBef>
              <a:spcAft>
                <a:spcPts val="0"/>
              </a:spcAft>
            </a:pPr>
            <a:r>
              <a:rPr sz="1200" b="0" i="0">
                <a:solidFill>
                  <a:srgbClr val="526D6B"/>
                </a:solidFill>
                <a:latin typeface="Segoe UI"/>
              </a:rPr>
              <a:t>Đất phù sa mới hình thành, tự nén và lún dần theo thời gian ngay cả khi không có tác động của con người.</a:t>
            </a:r>
          </a:p>
        </p:txBody>
      </p:sp>
      <p:sp>
        <p:nvSpPr>
          <p:cNvPr id="18" name="Rounded Rectangle 17"/>
          <p:cNvSpPr/>
          <p:nvPr/>
        </p:nvSpPr>
        <p:spPr>
          <a:xfrm>
            <a:off x="6223863" y="3712464"/>
            <a:ext cx="5400903" cy="182880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6223863" y="3712464"/>
            <a:ext cx="45720" cy="1828800"/>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6516471" y="3968496"/>
            <a:ext cx="4815687"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2F7F7A"/>
                </a:solidFill>
                <a:latin typeface="Segoe UI"/>
              </a:rPr>
              <a:t>04</a:t>
            </a:r>
          </a:p>
        </p:txBody>
      </p:sp>
      <p:sp>
        <p:nvSpPr>
          <p:cNvPr id="21" name="TextBox 20"/>
          <p:cNvSpPr txBox="1"/>
          <p:nvPr/>
        </p:nvSpPr>
        <p:spPr>
          <a:xfrm>
            <a:off x="6516471" y="4242816"/>
            <a:ext cx="4815687" cy="1005839"/>
          </a:xfrm>
          <a:prstGeom prst="rect">
            <a:avLst/>
          </a:prstGeom>
          <a:noFill/>
        </p:spPr>
        <p:txBody>
          <a:bodyPr wrap="square" lIns="0" rIns="0" tIns="0" bIns="0" anchor="t">
            <a:spAutoFit/>
          </a:bodyPr>
          <a:lstStyle/>
          <a:p>
            <a:pPr algn="l">
              <a:lnSpc>
                <a:spcPct val="110000"/>
              </a:lnSpc>
              <a:spcBef>
                <a:spcPts val="0"/>
              </a:spcBef>
              <a:spcAft>
                <a:spcPts val="500"/>
              </a:spcAft>
            </a:pPr>
            <a:r>
              <a:rPr sz="1550" b="1" i="0">
                <a:solidFill>
                  <a:srgbClr val="173A3A"/>
                </a:solidFill>
                <a:latin typeface="Segoe UI"/>
              </a:rPr>
              <a:t>Nước biển dâng toàn cầu</a:t>
            </a:r>
          </a:p>
          <a:p>
            <a:pPr algn="l">
              <a:lnSpc>
                <a:spcPct val="132000"/>
              </a:lnSpc>
              <a:spcBef>
                <a:spcPts val="0"/>
              </a:spcBef>
              <a:spcAft>
                <a:spcPts val="0"/>
              </a:spcAft>
            </a:pPr>
            <a:r>
              <a:rPr sz="1200" b="0" i="0">
                <a:solidFill>
                  <a:srgbClr val="526D6B"/>
                </a:solidFill>
                <a:latin typeface="Segoe UI"/>
              </a:rPr>
              <a:t>Băng ở hai cực tan và nước biển giãn nở khi Trái Đất nóng lên, đẩy mực nước Biển Đông lên khoảng 3mm mỗi năm.</a:t>
            </a:r>
          </a:p>
        </p:txBody>
      </p:sp>
      <p:sp>
        <p:nvSpPr>
          <p:cNvPr id="22" name="Rounded Rectangle 21"/>
          <p:cNvSpPr/>
          <p:nvPr/>
        </p:nvSpPr>
        <p:spPr>
          <a:xfrm>
            <a:off x="566928" y="5596128"/>
            <a:ext cx="11057839" cy="530352"/>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566928" y="5596128"/>
            <a:ext cx="50292" cy="53035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77824" y="5596128"/>
            <a:ext cx="10490911" cy="530352"/>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NHƯNG:  </a:t>
            </a:r>
            <a:r>
              <a:rPr sz="1250" b="0" i="0">
                <a:solidFill>
                  <a:srgbClr val="173A3A"/>
                </a:solidFill>
                <a:latin typeface="Segoe UI"/>
              </a:rPr>
              <a:t>nhóm nguyên nhân này giải thích vì sao thành phố dễ tổn thương ngay từ đầu — nhưng chưa giải thích được vì sao mọi thứ xấu đi nhanh đến vậy.</a:t>
            </a:r>
          </a:p>
        </p:txBody>
      </p:sp>
      <p:sp>
        <p:nvSpPr>
          <p:cNvPr id="25" name="TextBox 24"/>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26" name="TextBox 25"/>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15 / 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16</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Nguyên nhân chủ quan (do con người)</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Do chính hoạt động hằng ngày của chúng ta — và cũng là phần có thể thay đổi</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64208"/>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64208"/>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1883664"/>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01</a:t>
            </a:r>
          </a:p>
        </p:txBody>
      </p:sp>
      <p:sp>
        <p:nvSpPr>
          <p:cNvPr id="9" name="TextBox 8"/>
          <p:cNvSpPr txBox="1"/>
          <p:nvPr/>
        </p:nvSpPr>
        <p:spPr>
          <a:xfrm>
            <a:off x="822960" y="2157984"/>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Phát thải khí nhà kính</a:t>
            </a:r>
          </a:p>
          <a:p>
            <a:pPr algn="l">
              <a:lnSpc>
                <a:spcPct val="132000"/>
              </a:lnSpc>
              <a:spcBef>
                <a:spcPts val="0"/>
              </a:spcBef>
              <a:spcAft>
                <a:spcPts val="0"/>
              </a:spcAft>
            </a:pPr>
            <a:r>
              <a:rPr sz="1150" b="0" i="0">
                <a:solidFill>
                  <a:srgbClr val="526D6B"/>
                </a:solidFill>
                <a:latin typeface="Segoe UI"/>
              </a:rPr>
              <a:t>Giao thông với hàng triệu xe máy, ô tô; sản xuất công nghiệp, xây dựng và tiêu thụ điện làm tăng hiệu ứng nhà kính.</a:t>
            </a:r>
          </a:p>
        </p:txBody>
      </p:sp>
      <p:sp>
        <p:nvSpPr>
          <p:cNvPr id="10" name="Rounded Rectangle 9"/>
          <p:cNvSpPr/>
          <p:nvPr/>
        </p:nvSpPr>
        <p:spPr>
          <a:xfrm>
            <a:off x="4326026" y="1664208"/>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4326026" y="1664208"/>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582058" y="1883664"/>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02</a:t>
            </a:r>
          </a:p>
        </p:txBody>
      </p:sp>
      <p:sp>
        <p:nvSpPr>
          <p:cNvPr id="13" name="TextBox 12"/>
          <p:cNvSpPr txBox="1"/>
          <p:nvPr/>
        </p:nvSpPr>
        <p:spPr>
          <a:xfrm>
            <a:off x="4582058" y="2157984"/>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Bê tông hoá, mất mảng xanh</a:t>
            </a:r>
          </a:p>
          <a:p>
            <a:pPr algn="l">
              <a:lnSpc>
                <a:spcPct val="132000"/>
              </a:lnSpc>
              <a:spcBef>
                <a:spcPts val="0"/>
              </a:spcBef>
              <a:spcAft>
                <a:spcPts val="0"/>
              </a:spcAft>
            </a:pPr>
            <a:r>
              <a:rPr sz="1150" b="0" i="0">
                <a:solidFill>
                  <a:srgbClr val="526D6B"/>
                </a:solidFill>
                <a:latin typeface="Segoe UI"/>
              </a:rPr>
              <a:t>Nhà cửa, đường sá thay cho cây xanh và ao hồ: thành phố giữ nhiệt nhiều hơn, nước mưa không thấm xuống đất được.</a:t>
            </a:r>
          </a:p>
        </p:txBody>
      </p:sp>
      <p:sp>
        <p:nvSpPr>
          <p:cNvPr id="14" name="Rounded Rectangle 13"/>
          <p:cNvSpPr/>
          <p:nvPr/>
        </p:nvSpPr>
        <p:spPr>
          <a:xfrm>
            <a:off x="8085124" y="1664208"/>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8085124" y="1664208"/>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8341156" y="1883664"/>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03</a:t>
            </a:r>
          </a:p>
        </p:txBody>
      </p:sp>
      <p:sp>
        <p:nvSpPr>
          <p:cNvPr id="17" name="TextBox 16"/>
          <p:cNvSpPr txBox="1"/>
          <p:nvPr/>
        </p:nvSpPr>
        <p:spPr>
          <a:xfrm>
            <a:off x="8341156" y="2157984"/>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San lấp kênh rạch, vùng trũng</a:t>
            </a:r>
          </a:p>
          <a:p>
            <a:pPr algn="l">
              <a:lnSpc>
                <a:spcPct val="132000"/>
              </a:lnSpc>
              <a:spcBef>
                <a:spcPts val="0"/>
              </a:spcBef>
              <a:spcAft>
                <a:spcPts val="0"/>
              </a:spcAft>
            </a:pPr>
            <a:r>
              <a:rPr sz="1150" b="0" i="0">
                <a:solidFill>
                  <a:srgbClr val="526D6B"/>
                </a:solidFill>
                <a:latin typeface="Segoe UI"/>
              </a:rPr>
              <a:t>Mất đi những nơi chứa nước tự nhiên mỗi khi mưa lớn hoặc triều cường dâng.</a:t>
            </a:r>
          </a:p>
        </p:txBody>
      </p:sp>
      <p:sp>
        <p:nvSpPr>
          <p:cNvPr id="18" name="Rounded Rectangle 17"/>
          <p:cNvSpPr/>
          <p:nvPr/>
        </p:nvSpPr>
        <p:spPr>
          <a:xfrm>
            <a:off x="566928" y="3730752"/>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ctangle 18"/>
          <p:cNvSpPr/>
          <p:nvPr/>
        </p:nvSpPr>
        <p:spPr>
          <a:xfrm>
            <a:off x="566928" y="3730752"/>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822960" y="3950208"/>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04</a:t>
            </a:r>
          </a:p>
        </p:txBody>
      </p:sp>
      <p:sp>
        <p:nvSpPr>
          <p:cNvPr id="21" name="TextBox 20"/>
          <p:cNvSpPr txBox="1"/>
          <p:nvPr/>
        </p:nvSpPr>
        <p:spPr>
          <a:xfrm>
            <a:off x="822960" y="4224528"/>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Khai thác nước ngầm quá mức</a:t>
            </a:r>
          </a:p>
          <a:p>
            <a:pPr algn="l">
              <a:lnSpc>
                <a:spcPct val="132000"/>
              </a:lnSpc>
              <a:spcBef>
                <a:spcPts val="0"/>
              </a:spcBef>
              <a:spcAft>
                <a:spcPts val="0"/>
              </a:spcAft>
            </a:pPr>
            <a:r>
              <a:rPr sz="1150" b="0" i="0">
                <a:solidFill>
                  <a:srgbClr val="526D6B"/>
                </a:solidFill>
                <a:latin typeface="Segoe UI"/>
              </a:rPr>
              <a:t>Làm nền đất sụt lún, khiến mực nước tương đối dâng nhanh hơn nhiều lần so với nước biển dâng.</a:t>
            </a:r>
          </a:p>
        </p:txBody>
      </p:sp>
      <p:sp>
        <p:nvSpPr>
          <p:cNvPr id="22" name="Rounded Rectangle 21"/>
          <p:cNvSpPr/>
          <p:nvPr/>
        </p:nvSpPr>
        <p:spPr>
          <a:xfrm>
            <a:off x="4326026" y="3730752"/>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4326026" y="3730752"/>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4582058" y="3950208"/>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05</a:t>
            </a:r>
          </a:p>
        </p:txBody>
      </p:sp>
      <p:sp>
        <p:nvSpPr>
          <p:cNvPr id="25" name="TextBox 24"/>
          <p:cNvSpPr txBox="1"/>
          <p:nvPr/>
        </p:nvSpPr>
        <p:spPr>
          <a:xfrm>
            <a:off x="4582058" y="4224528"/>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Suy giảm rừng ngập mặn Cần Giờ</a:t>
            </a:r>
          </a:p>
          <a:p>
            <a:pPr algn="l">
              <a:lnSpc>
                <a:spcPct val="132000"/>
              </a:lnSpc>
              <a:spcBef>
                <a:spcPts val="0"/>
              </a:spcBef>
              <a:spcAft>
                <a:spcPts val="0"/>
              </a:spcAft>
            </a:pPr>
            <a:r>
              <a:rPr sz="1150" b="0" i="0">
                <a:solidFill>
                  <a:srgbClr val="526D6B"/>
                </a:solidFill>
                <a:latin typeface="Segoe UI"/>
              </a:rPr>
              <a:t>Mất đi “lá phổi xanh” đồng thời là bức tường chắn sóng, chắn gió của thành phố.</a:t>
            </a:r>
          </a:p>
        </p:txBody>
      </p:sp>
      <p:sp>
        <p:nvSpPr>
          <p:cNvPr id="26" name="Rounded Rectangle 25"/>
          <p:cNvSpPr/>
          <p:nvPr/>
        </p:nvSpPr>
        <p:spPr>
          <a:xfrm>
            <a:off x="8085124" y="3730752"/>
            <a:ext cx="3539642" cy="1883664"/>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8085124" y="3730752"/>
            <a:ext cx="45720" cy="18836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41156" y="3950208"/>
            <a:ext cx="3027578"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60">
                <a:solidFill>
                  <a:srgbClr val="E9825B"/>
                </a:solidFill>
                <a:latin typeface="Segoe UI"/>
              </a:rPr>
              <a:t>06</a:t>
            </a:r>
          </a:p>
        </p:txBody>
      </p:sp>
      <p:sp>
        <p:nvSpPr>
          <p:cNvPr id="29" name="TextBox 28"/>
          <p:cNvSpPr txBox="1"/>
          <p:nvPr/>
        </p:nvSpPr>
        <p:spPr>
          <a:xfrm>
            <a:off x="8341156" y="4224528"/>
            <a:ext cx="3027578" cy="1133856"/>
          </a:xfrm>
          <a:prstGeom prst="rect">
            <a:avLst/>
          </a:prstGeom>
          <a:noFill/>
        </p:spPr>
        <p:txBody>
          <a:bodyPr wrap="square" lIns="0" rIns="0" tIns="0" bIns="0" anchor="t">
            <a:spAutoFit/>
          </a:bodyPr>
          <a:lstStyle/>
          <a:p>
            <a:pPr algn="l">
              <a:lnSpc>
                <a:spcPct val="110000"/>
              </a:lnSpc>
              <a:spcBef>
                <a:spcPts val="0"/>
              </a:spcBef>
              <a:spcAft>
                <a:spcPts val="500"/>
              </a:spcAft>
            </a:pPr>
            <a:r>
              <a:rPr sz="1450" b="1" i="0">
                <a:solidFill>
                  <a:srgbClr val="173A3A"/>
                </a:solidFill>
                <a:latin typeface="Segoe UI"/>
              </a:rPr>
              <a:t>Xả rác xuống cống, kênh rạch</a:t>
            </a:r>
          </a:p>
          <a:p>
            <a:pPr algn="l">
              <a:lnSpc>
                <a:spcPct val="132000"/>
              </a:lnSpc>
              <a:spcBef>
                <a:spcPts val="0"/>
              </a:spcBef>
              <a:spcAft>
                <a:spcPts val="0"/>
              </a:spcAft>
            </a:pPr>
            <a:r>
              <a:rPr sz="1150" b="0" i="0">
                <a:solidFill>
                  <a:srgbClr val="526D6B"/>
                </a:solidFill>
                <a:latin typeface="Segoe UI"/>
              </a:rPr>
              <a:t>Làm tắc dòng chảy, khiến mỗi trận mưa lại ngập nặng thêm một chút.</a:t>
            </a:r>
          </a:p>
        </p:txBody>
      </p:sp>
      <p:sp>
        <p:nvSpPr>
          <p:cNvPr id="30" name="Rounded Rectangle 29"/>
          <p:cNvSpPr/>
          <p:nvPr/>
        </p:nvSpPr>
        <p:spPr>
          <a:xfrm>
            <a:off x="566928" y="5687568"/>
            <a:ext cx="11057839" cy="457200"/>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566928" y="5687568"/>
            <a:ext cx="50292" cy="45720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877824" y="5687568"/>
            <a:ext cx="10490911" cy="457200"/>
          </a:xfrm>
          <a:prstGeom prst="rect">
            <a:avLst/>
          </a:prstGeom>
          <a:noFill/>
        </p:spPr>
        <p:txBody>
          <a:bodyPr wrap="square" lIns="0" rIns="0" tIns="0" bIns="0" anchor="ctr">
            <a:spAutoFit/>
          </a:bodyPr>
          <a:lstStyle/>
          <a:p>
            <a:pPr algn="l">
              <a:lnSpc>
                <a:spcPct val="125000"/>
              </a:lnSpc>
              <a:spcBef>
                <a:spcPts val="0"/>
              </a:spcBef>
              <a:spcAft>
                <a:spcPts val="0"/>
              </a:spcAft>
            </a:pPr>
            <a:r>
              <a:rPr sz="1250" b="1" i="0">
                <a:solidFill>
                  <a:srgbClr val="B9573E"/>
                </a:solidFill>
                <a:latin typeface="Segoe UI"/>
              </a:rPr>
              <a:t>QUAN TRỌNG:  </a:t>
            </a:r>
            <a:r>
              <a:rPr sz="1250" b="0" i="0">
                <a:solidFill>
                  <a:srgbClr val="173A3A"/>
                </a:solidFill>
                <a:latin typeface="Segoe UI"/>
              </a:rPr>
              <a:t>đây mới là nhóm nguyên nhân chính khiến biến đổi khí hậu ở thành phố diễn ra nhanh như hiện nay.</a:t>
            </a:r>
          </a:p>
        </p:txBody>
      </p:sp>
      <p:sp>
        <p:nvSpPr>
          <p:cNvPr id="33" name="TextBox 32"/>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4" name="TextBox 33"/>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16 / 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17</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Đặt hai nhóm nguyên nhân cạnh nhau</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Nhìn theo bốn tiêu chí để thấy rõ đâu là cái nền và đâu là cái khiến mọi thứ tăng tốc</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2834640" y="1645920"/>
            <a:ext cx="4312767" cy="530352"/>
          </a:xfrm>
          <a:prstGeom prst="roundRect">
            <a:avLst>
              <a:gd name="adj" fmla="val 12000"/>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834640" y="1645920"/>
            <a:ext cx="4312767" cy="530352"/>
          </a:xfrm>
          <a:prstGeom prst="rect">
            <a:avLst/>
          </a:prstGeom>
          <a:noFill/>
        </p:spPr>
        <p:txBody>
          <a:bodyPr wrap="square" lIns="0" rIns="0" tIns="0" bIns="0" anchor="ctr">
            <a:spAutoFit/>
          </a:bodyPr>
          <a:lstStyle/>
          <a:p>
            <a:pPr algn="ctr">
              <a:lnSpc>
                <a:spcPct val="120000"/>
              </a:lnSpc>
              <a:spcBef>
                <a:spcPts val="0"/>
              </a:spcBef>
              <a:spcAft>
                <a:spcPts val="0"/>
              </a:spcAft>
            </a:pPr>
            <a:r>
              <a:rPr sz="1150" b="1" i="0" spc="120">
                <a:solidFill>
                  <a:srgbClr val="2F7F7A"/>
                </a:solidFill>
                <a:latin typeface="Segoe UI"/>
              </a:rPr>
              <a:t>KHÁCH QUAN · TỰ NHIÊN</a:t>
            </a:r>
          </a:p>
        </p:txBody>
      </p:sp>
      <p:sp>
        <p:nvSpPr>
          <p:cNvPr id="8" name="Rounded Rectangle 7"/>
          <p:cNvSpPr/>
          <p:nvPr/>
        </p:nvSpPr>
        <p:spPr>
          <a:xfrm>
            <a:off x="7311999" y="1645920"/>
            <a:ext cx="4312767" cy="530352"/>
          </a:xfrm>
          <a:prstGeom prst="roundRect">
            <a:avLst>
              <a:gd name="adj" fmla="val 12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311999" y="1645920"/>
            <a:ext cx="4312767" cy="530352"/>
          </a:xfrm>
          <a:prstGeom prst="rect">
            <a:avLst/>
          </a:prstGeom>
          <a:noFill/>
        </p:spPr>
        <p:txBody>
          <a:bodyPr wrap="square" lIns="0" rIns="0" tIns="0" bIns="0" anchor="ctr">
            <a:spAutoFit/>
          </a:bodyPr>
          <a:lstStyle/>
          <a:p>
            <a:pPr algn="ctr">
              <a:lnSpc>
                <a:spcPct val="120000"/>
              </a:lnSpc>
              <a:spcBef>
                <a:spcPts val="0"/>
              </a:spcBef>
              <a:spcAft>
                <a:spcPts val="0"/>
              </a:spcAft>
            </a:pPr>
            <a:r>
              <a:rPr sz="1150" b="1" i="0" spc="120">
                <a:solidFill>
                  <a:srgbClr val="B9573E"/>
                </a:solidFill>
                <a:latin typeface="Segoe UI"/>
              </a:rPr>
              <a:t>CHỦ QUAN · DO CON NGƯỜI</a:t>
            </a:r>
          </a:p>
        </p:txBody>
      </p:sp>
      <p:sp>
        <p:nvSpPr>
          <p:cNvPr id="10" name="Rounded Rectangle 9"/>
          <p:cNvSpPr/>
          <p:nvPr/>
        </p:nvSpPr>
        <p:spPr>
          <a:xfrm>
            <a:off x="566928" y="2267712"/>
            <a:ext cx="11057839"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49808" y="2267712"/>
            <a:ext cx="1920239" cy="804672"/>
          </a:xfrm>
          <a:prstGeom prst="rect">
            <a:avLst/>
          </a:prstGeom>
          <a:noFill/>
        </p:spPr>
        <p:txBody>
          <a:bodyPr wrap="square" lIns="0" rIns="0" tIns="0" bIns="0" anchor="ctr">
            <a:spAutoFit/>
          </a:bodyPr>
          <a:lstStyle/>
          <a:p>
            <a:pPr algn="l">
              <a:lnSpc>
                <a:spcPct val="120000"/>
              </a:lnSpc>
              <a:spcBef>
                <a:spcPts val="0"/>
              </a:spcBef>
              <a:spcAft>
                <a:spcPts val="0"/>
              </a:spcAft>
            </a:pPr>
            <a:r>
              <a:rPr sz="1050" b="1" i="0" spc="110">
                <a:solidFill>
                  <a:srgbClr val="173A3A"/>
                </a:solidFill>
                <a:latin typeface="Segoe UI"/>
              </a:rPr>
              <a:t>NGUỒN GỐC</a:t>
            </a:r>
          </a:p>
        </p:txBody>
      </p:sp>
      <p:sp>
        <p:nvSpPr>
          <p:cNvPr id="12" name="TextBox 11"/>
          <p:cNvSpPr txBox="1"/>
          <p:nvPr/>
        </p:nvSpPr>
        <p:spPr>
          <a:xfrm>
            <a:off x="3090672" y="2267712"/>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Từ tự nhiên — con người không tạo ra.</a:t>
            </a:r>
          </a:p>
        </p:txBody>
      </p:sp>
      <p:sp>
        <p:nvSpPr>
          <p:cNvPr id="13" name="TextBox 12"/>
          <p:cNvSpPr txBox="1"/>
          <p:nvPr/>
        </p:nvSpPr>
        <p:spPr>
          <a:xfrm>
            <a:off x="7568031" y="2267712"/>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Từ hoạt động sản xuất và sinh hoạt hằng ngày.</a:t>
            </a:r>
          </a:p>
        </p:txBody>
      </p:sp>
      <p:sp>
        <p:nvSpPr>
          <p:cNvPr id="14" name="Rectangle 13"/>
          <p:cNvSpPr/>
          <p:nvPr/>
        </p:nvSpPr>
        <p:spPr>
          <a:xfrm>
            <a:off x="566928" y="3072384"/>
            <a:ext cx="11057839"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49808" y="3127248"/>
            <a:ext cx="1920239" cy="804672"/>
          </a:xfrm>
          <a:prstGeom prst="rect">
            <a:avLst/>
          </a:prstGeom>
          <a:noFill/>
        </p:spPr>
        <p:txBody>
          <a:bodyPr wrap="square" lIns="0" rIns="0" tIns="0" bIns="0" anchor="ctr">
            <a:spAutoFit/>
          </a:bodyPr>
          <a:lstStyle/>
          <a:p>
            <a:pPr algn="l">
              <a:lnSpc>
                <a:spcPct val="120000"/>
              </a:lnSpc>
              <a:spcBef>
                <a:spcPts val="0"/>
              </a:spcBef>
              <a:spcAft>
                <a:spcPts val="0"/>
              </a:spcAft>
            </a:pPr>
            <a:r>
              <a:rPr sz="1050" b="1" i="0" spc="110">
                <a:solidFill>
                  <a:srgbClr val="173A3A"/>
                </a:solidFill>
                <a:latin typeface="Segoe UI"/>
              </a:rPr>
              <a:t>VÍ DỤ Ở TP.HCM</a:t>
            </a:r>
          </a:p>
        </p:txBody>
      </p:sp>
      <p:sp>
        <p:nvSpPr>
          <p:cNvPr id="16" name="TextBox 15"/>
          <p:cNvSpPr txBox="1"/>
          <p:nvPr/>
        </p:nvSpPr>
        <p:spPr>
          <a:xfrm>
            <a:off x="3090672" y="3127248"/>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El Niño – La Niña, núi lửa, địa hình thấp, nền đất yếu, băng tan.</a:t>
            </a:r>
          </a:p>
        </p:txBody>
      </p:sp>
      <p:sp>
        <p:nvSpPr>
          <p:cNvPr id="17" name="TextBox 16"/>
          <p:cNvSpPr txBox="1"/>
          <p:nvPr/>
        </p:nvSpPr>
        <p:spPr>
          <a:xfrm>
            <a:off x="7568031" y="3127248"/>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Khí thải xe cộ, bê tông hoá, lấp kênh rạch, hút nước ngầm, mất rừng ngập mặn, xả rác.</a:t>
            </a:r>
          </a:p>
        </p:txBody>
      </p:sp>
      <p:sp>
        <p:nvSpPr>
          <p:cNvPr id="18" name="Rectangle 17"/>
          <p:cNvSpPr/>
          <p:nvPr/>
        </p:nvSpPr>
        <p:spPr>
          <a:xfrm>
            <a:off x="566928" y="3931920"/>
            <a:ext cx="11057839"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566928" y="3986783"/>
            <a:ext cx="11057839" cy="804672"/>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749808" y="3986783"/>
            <a:ext cx="1920239" cy="804672"/>
          </a:xfrm>
          <a:prstGeom prst="rect">
            <a:avLst/>
          </a:prstGeom>
          <a:noFill/>
        </p:spPr>
        <p:txBody>
          <a:bodyPr wrap="square" lIns="0" rIns="0" tIns="0" bIns="0" anchor="ctr">
            <a:spAutoFit/>
          </a:bodyPr>
          <a:lstStyle/>
          <a:p>
            <a:pPr algn="l">
              <a:lnSpc>
                <a:spcPct val="120000"/>
              </a:lnSpc>
              <a:spcBef>
                <a:spcPts val="0"/>
              </a:spcBef>
              <a:spcAft>
                <a:spcPts val="0"/>
              </a:spcAft>
            </a:pPr>
            <a:r>
              <a:rPr sz="1050" b="1" i="0" spc="110">
                <a:solidFill>
                  <a:srgbClr val="173A3A"/>
                </a:solidFill>
                <a:latin typeface="Segoe UI"/>
              </a:rPr>
              <a:t>VAI TRÒ</a:t>
            </a:r>
          </a:p>
        </p:txBody>
      </p:sp>
      <p:sp>
        <p:nvSpPr>
          <p:cNvPr id="21" name="TextBox 20"/>
          <p:cNvSpPr txBox="1"/>
          <p:nvPr/>
        </p:nvSpPr>
        <p:spPr>
          <a:xfrm>
            <a:off x="3090672" y="3986783"/>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Là cái nền khiến thành phố dễ tổn thương ngay từ đầu.</a:t>
            </a:r>
          </a:p>
        </p:txBody>
      </p:sp>
      <p:sp>
        <p:nvSpPr>
          <p:cNvPr id="22" name="TextBox 21"/>
          <p:cNvSpPr txBox="1"/>
          <p:nvPr/>
        </p:nvSpPr>
        <p:spPr>
          <a:xfrm>
            <a:off x="7568031" y="3986783"/>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Là nhân tố khiến mọi thứ xấu đi nhanh hơn rất nhiều.</a:t>
            </a:r>
          </a:p>
        </p:txBody>
      </p:sp>
      <p:sp>
        <p:nvSpPr>
          <p:cNvPr id="23" name="Rectangle 22"/>
          <p:cNvSpPr/>
          <p:nvPr/>
        </p:nvSpPr>
        <p:spPr>
          <a:xfrm>
            <a:off x="566928" y="4791455"/>
            <a:ext cx="11057839"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749808" y="4846319"/>
            <a:ext cx="1920239" cy="804672"/>
          </a:xfrm>
          <a:prstGeom prst="rect">
            <a:avLst/>
          </a:prstGeom>
          <a:noFill/>
        </p:spPr>
        <p:txBody>
          <a:bodyPr wrap="square" lIns="0" rIns="0" tIns="0" bIns="0" anchor="ctr">
            <a:spAutoFit/>
          </a:bodyPr>
          <a:lstStyle/>
          <a:p>
            <a:pPr algn="l">
              <a:lnSpc>
                <a:spcPct val="120000"/>
              </a:lnSpc>
              <a:spcBef>
                <a:spcPts val="0"/>
              </a:spcBef>
              <a:spcAft>
                <a:spcPts val="0"/>
              </a:spcAft>
            </a:pPr>
            <a:r>
              <a:rPr sz="1050" b="1" i="0" spc="110">
                <a:solidFill>
                  <a:srgbClr val="173A3A"/>
                </a:solidFill>
                <a:latin typeface="Segoe UI"/>
              </a:rPr>
              <a:t>THAY ĐỔI ĐƯỢC KHÔNG?</a:t>
            </a:r>
          </a:p>
        </p:txBody>
      </p:sp>
      <p:sp>
        <p:nvSpPr>
          <p:cNvPr id="25" name="TextBox 24"/>
          <p:cNvSpPr txBox="1"/>
          <p:nvPr/>
        </p:nvSpPr>
        <p:spPr>
          <a:xfrm>
            <a:off x="3090672" y="4846319"/>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Gần như không — chỉ có thể chủ động thích ứng.</a:t>
            </a:r>
          </a:p>
        </p:txBody>
      </p:sp>
      <p:sp>
        <p:nvSpPr>
          <p:cNvPr id="26" name="TextBox 25"/>
          <p:cNvSpPr txBox="1"/>
          <p:nvPr/>
        </p:nvSpPr>
        <p:spPr>
          <a:xfrm>
            <a:off x="7568031" y="4846319"/>
            <a:ext cx="3800703" cy="804672"/>
          </a:xfrm>
          <a:prstGeom prst="rect">
            <a:avLst/>
          </a:prstGeom>
          <a:noFill/>
        </p:spPr>
        <p:txBody>
          <a:bodyPr wrap="square" lIns="0" rIns="0" tIns="0" bIns="0" anchor="ctr">
            <a:spAutoFit/>
          </a:bodyPr>
          <a:lstStyle/>
          <a:p>
            <a:pPr algn="l">
              <a:lnSpc>
                <a:spcPct val="134000"/>
              </a:lnSpc>
              <a:spcBef>
                <a:spcPts val="0"/>
              </a:spcBef>
              <a:spcAft>
                <a:spcPts val="0"/>
              </a:spcAft>
            </a:pPr>
            <a:r>
              <a:rPr sz="1150" b="0" i="0">
                <a:solidFill>
                  <a:srgbClr val="526D6B"/>
                </a:solidFill>
                <a:latin typeface="Segoe UI"/>
              </a:rPr>
              <a:t>Có — và đó chính là phần việc của mỗi chúng ta.</a:t>
            </a:r>
          </a:p>
        </p:txBody>
      </p:sp>
      <p:sp>
        <p:nvSpPr>
          <p:cNvPr id="27" name="Rectangle 26"/>
          <p:cNvSpPr/>
          <p:nvPr/>
        </p:nvSpPr>
        <p:spPr>
          <a:xfrm>
            <a:off x="566928" y="5650991"/>
            <a:ext cx="11057839"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566928" y="5687568"/>
            <a:ext cx="11057839" cy="512064"/>
          </a:xfrm>
          <a:prstGeom prst="roundRect">
            <a:avLst>
              <a:gd name="adj" fmla="val 10000"/>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566928" y="5687568"/>
            <a:ext cx="50292" cy="51206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932688" y="5687568"/>
            <a:ext cx="10326319" cy="512064"/>
          </a:xfrm>
          <a:prstGeom prst="rect">
            <a:avLst/>
          </a:prstGeom>
          <a:noFill/>
        </p:spPr>
        <p:txBody>
          <a:bodyPr wrap="square" lIns="0" rIns="0" tIns="0" bIns="0" anchor="ctr">
            <a:spAutoFit/>
          </a:bodyPr>
          <a:lstStyle/>
          <a:p>
            <a:pPr algn="l">
              <a:lnSpc>
                <a:spcPct val="125000"/>
              </a:lnSpc>
              <a:spcBef>
                <a:spcPts val="0"/>
              </a:spcBef>
              <a:spcAft>
                <a:spcPts val="0"/>
              </a:spcAft>
            </a:pPr>
            <a:r>
              <a:rPr sz="1200" b="1" i="0">
                <a:solidFill>
                  <a:srgbClr val="E9825B"/>
                </a:solidFill>
                <a:latin typeface="Segoe UI"/>
              </a:rPr>
              <a:t>CHỐT Ý  </a:t>
            </a:r>
            <a:r>
              <a:rPr sz="1200" b="0" i="0">
                <a:solidFill>
                  <a:srgbClr val="FFF8EC"/>
                </a:solidFill>
                <a:latin typeface="Segoe UI"/>
              </a:rPr>
              <a:t>Khách quan là cái nền — chủ quan mới là nhân tố khiến mọi thứ diễn ra nhanh hơn, và đó cũng là phần con người thay đổi được.</a:t>
            </a:r>
          </a:p>
        </p:txBody>
      </p:sp>
      <p:sp>
        <p:nvSpPr>
          <p:cNvPr id="31" name="TextBox 30"/>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32" name="TextBox 31"/>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17 / 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18</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Trò chơi: chủ quan hay khách quan?</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Chia lớp thành hai đội — đọc thẻ, giơ tay trả lời, đúng được 1 điểm, sai thì nhường lượt</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70078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Oval 6"/>
          <p:cNvSpPr/>
          <p:nvPr/>
        </p:nvSpPr>
        <p:spPr>
          <a:xfrm>
            <a:off x="822960" y="193852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22960" y="201168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01</a:t>
            </a:r>
          </a:p>
        </p:txBody>
      </p:sp>
      <p:sp>
        <p:nvSpPr>
          <p:cNvPr id="9" name="TextBox 8"/>
          <p:cNvSpPr txBox="1"/>
          <p:nvPr/>
        </p:nvSpPr>
        <p:spPr>
          <a:xfrm>
            <a:off x="822960" y="241401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Xe máy, ô tô, nhà máy xả khí thải mỗi ngày</a:t>
            </a:r>
          </a:p>
        </p:txBody>
      </p:sp>
      <p:sp>
        <p:nvSpPr>
          <p:cNvPr id="10" name="Rounded Rectangle 9"/>
          <p:cNvSpPr/>
          <p:nvPr/>
        </p:nvSpPr>
        <p:spPr>
          <a:xfrm>
            <a:off x="3381679" y="170078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Oval 10"/>
          <p:cNvSpPr/>
          <p:nvPr/>
        </p:nvSpPr>
        <p:spPr>
          <a:xfrm>
            <a:off x="3637711" y="193852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637711" y="201168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02</a:t>
            </a:r>
          </a:p>
        </p:txBody>
      </p:sp>
      <p:sp>
        <p:nvSpPr>
          <p:cNvPr id="13" name="TextBox 12"/>
          <p:cNvSpPr txBox="1"/>
          <p:nvPr/>
        </p:nvSpPr>
        <p:spPr>
          <a:xfrm>
            <a:off x="3637711" y="241401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Núi lửa phun trào đưa tro bụi vào khí quyển</a:t>
            </a:r>
          </a:p>
        </p:txBody>
      </p:sp>
      <p:sp>
        <p:nvSpPr>
          <p:cNvPr id="14" name="Rounded Rectangle 13"/>
          <p:cNvSpPr/>
          <p:nvPr/>
        </p:nvSpPr>
        <p:spPr>
          <a:xfrm>
            <a:off x="6196431" y="170078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Oval 14"/>
          <p:cNvSpPr/>
          <p:nvPr/>
        </p:nvSpPr>
        <p:spPr>
          <a:xfrm>
            <a:off x="6452463" y="193852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452463" y="201168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03</a:t>
            </a:r>
          </a:p>
        </p:txBody>
      </p:sp>
      <p:sp>
        <p:nvSpPr>
          <p:cNvPr id="17" name="TextBox 16"/>
          <p:cNvSpPr txBox="1"/>
          <p:nvPr/>
        </p:nvSpPr>
        <p:spPr>
          <a:xfrm>
            <a:off x="6452463" y="241401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San lấp ao hồ, kênh rạch để xây nhà, làm đường</a:t>
            </a:r>
          </a:p>
        </p:txBody>
      </p:sp>
      <p:sp>
        <p:nvSpPr>
          <p:cNvPr id="18" name="Rounded Rectangle 17"/>
          <p:cNvSpPr/>
          <p:nvPr/>
        </p:nvSpPr>
        <p:spPr>
          <a:xfrm>
            <a:off x="9011183" y="170078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Oval 18"/>
          <p:cNvSpPr/>
          <p:nvPr/>
        </p:nvSpPr>
        <p:spPr>
          <a:xfrm>
            <a:off x="9267215" y="193852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9267215" y="201168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04</a:t>
            </a:r>
          </a:p>
        </p:txBody>
      </p:sp>
      <p:sp>
        <p:nvSpPr>
          <p:cNvPr id="21" name="TextBox 20"/>
          <p:cNvSpPr txBox="1"/>
          <p:nvPr/>
        </p:nvSpPr>
        <p:spPr>
          <a:xfrm>
            <a:off x="9267215" y="241401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Dao động El Niño – La Niña trên Thái Bình Dương</a:t>
            </a:r>
          </a:p>
        </p:txBody>
      </p:sp>
      <p:sp>
        <p:nvSpPr>
          <p:cNvPr id="22" name="Rounded Rectangle 21"/>
          <p:cNvSpPr/>
          <p:nvPr/>
        </p:nvSpPr>
        <p:spPr>
          <a:xfrm>
            <a:off x="566928" y="334670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val 22"/>
          <p:cNvSpPr/>
          <p:nvPr/>
        </p:nvSpPr>
        <p:spPr>
          <a:xfrm>
            <a:off x="822960" y="358444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822960" y="365760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05</a:t>
            </a:r>
          </a:p>
        </p:txBody>
      </p:sp>
      <p:sp>
        <p:nvSpPr>
          <p:cNvPr id="25" name="TextBox 24"/>
          <p:cNvSpPr txBox="1"/>
          <p:nvPr/>
        </p:nvSpPr>
        <p:spPr>
          <a:xfrm>
            <a:off x="822960" y="405993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Khai thác nước ngầm quá mức làm lún nền đất</a:t>
            </a:r>
          </a:p>
        </p:txBody>
      </p:sp>
      <p:sp>
        <p:nvSpPr>
          <p:cNvPr id="26" name="Rounded Rectangle 25"/>
          <p:cNvSpPr/>
          <p:nvPr/>
        </p:nvSpPr>
        <p:spPr>
          <a:xfrm>
            <a:off x="3381679" y="334670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Oval 26"/>
          <p:cNvSpPr/>
          <p:nvPr/>
        </p:nvSpPr>
        <p:spPr>
          <a:xfrm>
            <a:off x="3637711" y="358444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3637711" y="365760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06</a:t>
            </a:r>
          </a:p>
        </p:txBody>
      </p:sp>
      <p:sp>
        <p:nvSpPr>
          <p:cNvPr id="29" name="TextBox 28"/>
          <p:cNvSpPr txBox="1"/>
          <p:nvPr/>
        </p:nvSpPr>
        <p:spPr>
          <a:xfrm>
            <a:off x="3637711" y="405993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Thành phố nằm ở hạ lưu sông, địa hình thấp, giáp biển</a:t>
            </a:r>
          </a:p>
        </p:txBody>
      </p:sp>
      <p:sp>
        <p:nvSpPr>
          <p:cNvPr id="30" name="Rounded Rectangle 29"/>
          <p:cNvSpPr/>
          <p:nvPr/>
        </p:nvSpPr>
        <p:spPr>
          <a:xfrm>
            <a:off x="6196431" y="334670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Oval 30"/>
          <p:cNvSpPr/>
          <p:nvPr/>
        </p:nvSpPr>
        <p:spPr>
          <a:xfrm>
            <a:off x="6452463" y="358444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6452463" y="365760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07</a:t>
            </a:r>
          </a:p>
        </p:txBody>
      </p:sp>
      <p:sp>
        <p:nvSpPr>
          <p:cNvPr id="33" name="TextBox 32"/>
          <p:cNvSpPr txBox="1"/>
          <p:nvPr/>
        </p:nvSpPr>
        <p:spPr>
          <a:xfrm>
            <a:off x="6452463" y="405993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Chặt phá, thu hẹp rừng ngập mặn Cần Giờ</a:t>
            </a:r>
          </a:p>
        </p:txBody>
      </p:sp>
      <p:sp>
        <p:nvSpPr>
          <p:cNvPr id="34" name="Rounded Rectangle 33"/>
          <p:cNvSpPr/>
          <p:nvPr/>
        </p:nvSpPr>
        <p:spPr>
          <a:xfrm>
            <a:off x="9011183" y="3346704"/>
            <a:ext cx="2613583" cy="1481328"/>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Oval 34"/>
          <p:cNvSpPr/>
          <p:nvPr/>
        </p:nvSpPr>
        <p:spPr>
          <a:xfrm>
            <a:off x="9267215" y="3584448"/>
            <a:ext cx="365760" cy="365760"/>
          </a:xfrm>
          <a:prstGeom prst="ellipse">
            <a:avLst/>
          </a:prstGeom>
          <a:solidFill>
            <a:srgbClr val="D7EA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9267215" y="3657600"/>
            <a:ext cx="365760" cy="219456"/>
          </a:xfrm>
          <a:prstGeom prst="rect">
            <a:avLst/>
          </a:prstGeom>
          <a:noFill/>
        </p:spPr>
        <p:txBody>
          <a:bodyPr wrap="square" lIns="0" rIns="0" tIns="0" bIns="0" anchor="t">
            <a:spAutoFit/>
          </a:bodyPr>
          <a:lstStyle/>
          <a:p>
            <a:pPr algn="ctr">
              <a:lnSpc>
                <a:spcPct val="120000"/>
              </a:lnSpc>
              <a:spcBef>
                <a:spcPts val="0"/>
              </a:spcBef>
              <a:spcAft>
                <a:spcPts val="0"/>
              </a:spcAft>
            </a:pPr>
            <a:r>
              <a:rPr sz="1050" b="1" i="0">
                <a:solidFill>
                  <a:srgbClr val="2F7F7A"/>
                </a:solidFill>
                <a:latin typeface="Segoe UI"/>
              </a:rPr>
              <a:t>08</a:t>
            </a:r>
          </a:p>
        </p:txBody>
      </p:sp>
      <p:sp>
        <p:nvSpPr>
          <p:cNvPr id="37" name="TextBox 36"/>
          <p:cNvSpPr txBox="1"/>
          <p:nvPr/>
        </p:nvSpPr>
        <p:spPr>
          <a:xfrm>
            <a:off x="9267215" y="4059936"/>
            <a:ext cx="2101519" cy="640080"/>
          </a:xfrm>
          <a:prstGeom prst="rect">
            <a:avLst/>
          </a:prstGeom>
          <a:noFill/>
        </p:spPr>
        <p:txBody>
          <a:bodyPr wrap="square" lIns="0" rIns="0" tIns="0" bIns="0" anchor="t">
            <a:spAutoFit/>
          </a:bodyPr>
          <a:lstStyle/>
          <a:p>
            <a:pPr algn="l">
              <a:lnSpc>
                <a:spcPct val="136000"/>
              </a:lnSpc>
              <a:spcBef>
                <a:spcPts val="0"/>
              </a:spcBef>
              <a:spcAft>
                <a:spcPts val="0"/>
              </a:spcAft>
            </a:pPr>
            <a:r>
              <a:rPr sz="1200" b="0" i="0">
                <a:solidFill>
                  <a:srgbClr val="173A3A"/>
                </a:solidFill>
                <a:latin typeface="Segoe UI"/>
              </a:rPr>
              <a:t>Băng ở hai cực tan, nước biển giãn nở vì nóng lên</a:t>
            </a:r>
          </a:p>
        </p:txBody>
      </p:sp>
      <p:sp>
        <p:nvSpPr>
          <p:cNvPr id="38" name="Rounded Rectangle 37"/>
          <p:cNvSpPr/>
          <p:nvPr/>
        </p:nvSpPr>
        <p:spPr>
          <a:xfrm>
            <a:off x="566928" y="4956048"/>
            <a:ext cx="11057839" cy="1115568"/>
          </a:xfrm>
          <a:prstGeom prst="roundRect">
            <a:avLst>
              <a:gd name="adj" fmla="val 9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4956048"/>
            <a:ext cx="50292" cy="1115568"/>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32688" y="5175504"/>
            <a:ext cx="10326319" cy="256032"/>
          </a:xfrm>
          <a:prstGeom prst="rect">
            <a:avLst/>
          </a:prstGeom>
          <a:noFill/>
        </p:spPr>
        <p:txBody>
          <a:bodyPr wrap="square" lIns="0" rIns="0" tIns="0" bIns="0" anchor="t">
            <a:spAutoFit/>
          </a:bodyPr>
          <a:lstStyle/>
          <a:p>
            <a:pPr algn="l">
              <a:lnSpc>
                <a:spcPct val="120000"/>
              </a:lnSpc>
              <a:spcBef>
                <a:spcPts val="0"/>
              </a:spcBef>
              <a:spcAft>
                <a:spcPts val="0"/>
              </a:spcAft>
            </a:pPr>
            <a:r>
              <a:rPr sz="1050" b="1" i="0" spc="150">
                <a:solidFill>
                  <a:srgbClr val="B9573E"/>
                </a:solidFill>
                <a:latin typeface="Segoe UI"/>
              </a:rPr>
              <a:t>CÁCH CHƠI</a:t>
            </a:r>
          </a:p>
        </p:txBody>
      </p:sp>
      <p:sp>
        <p:nvSpPr>
          <p:cNvPr id="41" name="TextBox 40"/>
          <p:cNvSpPr txBox="1"/>
          <p:nvPr/>
        </p:nvSpPr>
        <p:spPr>
          <a:xfrm>
            <a:off x="932688" y="5486400"/>
            <a:ext cx="10326319" cy="457200"/>
          </a:xfrm>
          <a:prstGeom prst="rect">
            <a:avLst/>
          </a:prstGeom>
          <a:noFill/>
        </p:spPr>
        <p:txBody>
          <a:bodyPr wrap="square" lIns="0" rIns="0" tIns="0" bIns="0" anchor="t">
            <a:spAutoFit/>
          </a:bodyPr>
          <a:lstStyle/>
          <a:p>
            <a:pPr algn="l">
              <a:lnSpc>
                <a:spcPct val="138000"/>
              </a:lnSpc>
              <a:spcBef>
                <a:spcPts val="0"/>
              </a:spcBef>
              <a:spcAft>
                <a:spcPts val="0"/>
              </a:spcAft>
            </a:pPr>
            <a:r>
              <a:rPr sz="1150" b="0" i="0">
                <a:solidFill>
                  <a:srgbClr val="173A3A"/>
                </a:solidFill>
                <a:latin typeface="Segoe UI"/>
              </a:rPr>
              <a:t>Cho hai đội đoán trước khi lật đáp án. Sau mỗi thẻ, hỏi thêm: “vì sao em xếp vào nhóm đó?” — chính câu trả lời ấy mới là phần cần đánh giá. Bản đầy đủ 12 thẻ lật được có trong trang web bài học.</a:t>
            </a:r>
          </a:p>
        </p:txBody>
      </p:sp>
      <p:sp>
        <p:nvSpPr>
          <p:cNvPr id="42" name="TextBox 41"/>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43" name="TextBox 42"/>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18 / 20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19</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Hoạt động nhóm: bốn đội điều tra khí hậu</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Mỗi nhóm 12 phút hoàn thành phần của mình trong phiếu học tập, sau đó trình bày 2 phút</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91640"/>
            <a:ext cx="2599867" cy="3291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91640"/>
            <a:ext cx="2599867" cy="45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22960" y="1938528"/>
            <a:ext cx="1051560" cy="292608"/>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22960" y="1993392"/>
            <a:ext cx="1051560"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NHÓM 1</a:t>
            </a:r>
          </a:p>
        </p:txBody>
      </p:sp>
      <p:sp>
        <p:nvSpPr>
          <p:cNvPr id="10" name="TextBox 9"/>
          <p:cNvSpPr txBox="1"/>
          <p:nvPr/>
        </p:nvSpPr>
        <p:spPr>
          <a:xfrm>
            <a:off x="822960" y="2395728"/>
            <a:ext cx="2087803" cy="310896"/>
          </a:xfrm>
          <a:prstGeom prst="rect">
            <a:avLst/>
          </a:prstGeom>
          <a:noFill/>
        </p:spPr>
        <p:txBody>
          <a:bodyPr wrap="square" lIns="0" rIns="0" tIns="0" bIns="0" anchor="t">
            <a:spAutoFit/>
          </a:bodyPr>
          <a:lstStyle/>
          <a:p>
            <a:pPr algn="l">
              <a:lnSpc>
                <a:spcPct val="120000"/>
              </a:lnSpc>
              <a:spcBef>
                <a:spcPts val="0"/>
              </a:spcBef>
              <a:spcAft>
                <a:spcPts val="0"/>
              </a:spcAft>
            </a:pPr>
            <a:r>
              <a:rPr sz="1600" b="1" i="0">
                <a:solidFill>
                  <a:srgbClr val="173A3A"/>
                </a:solidFill>
                <a:latin typeface="Segoe UI"/>
              </a:rPr>
              <a:t>Đội đo nhiệt</a:t>
            </a:r>
          </a:p>
        </p:txBody>
      </p:sp>
      <p:sp>
        <p:nvSpPr>
          <p:cNvPr id="11" name="TextBox 10"/>
          <p:cNvSpPr txBox="1"/>
          <p:nvPr/>
        </p:nvSpPr>
        <p:spPr>
          <a:xfrm>
            <a:off x="822960" y="2779776"/>
            <a:ext cx="2087803" cy="566928"/>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Tìm bằng chứng cho thấy thành phố đang nóng lên.</a:t>
            </a:r>
          </a:p>
        </p:txBody>
      </p:sp>
      <p:sp>
        <p:nvSpPr>
          <p:cNvPr id="12" name="Rectangle 11"/>
          <p:cNvSpPr/>
          <p:nvPr/>
        </p:nvSpPr>
        <p:spPr>
          <a:xfrm>
            <a:off x="822960" y="3419856"/>
            <a:ext cx="2087803"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3547872"/>
            <a:ext cx="2087803" cy="1188720"/>
          </a:xfrm>
          <a:prstGeom prst="rect">
            <a:avLst/>
          </a:prstGeom>
          <a:noFill/>
        </p:spPr>
        <p:txBody>
          <a:bodyPr wrap="square" lIns="0" rIns="0" tIns="0" bIns="0" anchor="t">
            <a:spAutoFit/>
          </a:bodyPr>
          <a:lstStyle/>
          <a:p>
            <a:pPr algn="l">
              <a:lnSpc>
                <a:spcPct val="128000"/>
              </a:lnSpc>
              <a:spcBef>
                <a:spcPts val="0"/>
              </a:spcBef>
              <a:spcAft>
                <a:spcPts val="500"/>
              </a:spcAft>
            </a:pPr>
            <a:r>
              <a:rPr sz="1000" b="0" i="0">
                <a:solidFill>
                  <a:srgbClr val="173A3A"/>
                </a:solidFill>
                <a:latin typeface="Segoe UI"/>
              </a:rPr>
              <a:t>·  Mức tăng nhiệt độ đến 2030 và 2050</a:t>
            </a:r>
          </a:p>
          <a:p>
            <a:pPr algn="l">
              <a:lnSpc>
                <a:spcPct val="128000"/>
              </a:lnSpc>
              <a:spcBef>
                <a:spcPts val="0"/>
              </a:spcBef>
              <a:spcAft>
                <a:spcPts val="500"/>
              </a:spcAft>
            </a:pPr>
            <a:r>
              <a:rPr sz="1000" b="0" i="0">
                <a:solidFill>
                  <a:srgbClr val="173A3A"/>
                </a:solidFill>
                <a:latin typeface="Segoe UI"/>
              </a:rPr>
              <a:t>·  Số ngày nắng nóng và hiện tượng đảo nhiệt</a:t>
            </a:r>
          </a:p>
          <a:p>
            <a:pPr algn="l">
              <a:lnSpc>
                <a:spcPct val="128000"/>
              </a:lnSpc>
              <a:spcBef>
                <a:spcPts val="0"/>
              </a:spcBef>
              <a:spcAft>
                <a:spcPts val="500"/>
              </a:spcAft>
            </a:pPr>
            <a:r>
              <a:rPr sz="1000" b="0" i="0">
                <a:solidFill>
                  <a:srgbClr val="173A3A"/>
                </a:solidFill>
                <a:latin typeface="Segoe UI"/>
              </a:rPr>
              <a:t>·  Một trải nghiệm nắng nóng của chính nhóm</a:t>
            </a:r>
          </a:p>
        </p:txBody>
      </p:sp>
      <p:sp>
        <p:nvSpPr>
          <p:cNvPr id="14" name="Rounded Rectangle 13"/>
          <p:cNvSpPr/>
          <p:nvPr/>
        </p:nvSpPr>
        <p:spPr>
          <a:xfrm>
            <a:off x="3386251" y="1691640"/>
            <a:ext cx="2599867" cy="3291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3386251" y="1691640"/>
            <a:ext cx="2599867" cy="45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3642283" y="1938528"/>
            <a:ext cx="1051560" cy="292608"/>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642283" y="1993392"/>
            <a:ext cx="1051560"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NHÓM 2</a:t>
            </a:r>
          </a:p>
        </p:txBody>
      </p:sp>
      <p:sp>
        <p:nvSpPr>
          <p:cNvPr id="18" name="TextBox 17"/>
          <p:cNvSpPr txBox="1"/>
          <p:nvPr/>
        </p:nvSpPr>
        <p:spPr>
          <a:xfrm>
            <a:off x="3642283" y="2395728"/>
            <a:ext cx="2087803" cy="310896"/>
          </a:xfrm>
          <a:prstGeom prst="rect">
            <a:avLst/>
          </a:prstGeom>
          <a:noFill/>
        </p:spPr>
        <p:txBody>
          <a:bodyPr wrap="square" lIns="0" rIns="0" tIns="0" bIns="0" anchor="t">
            <a:spAutoFit/>
          </a:bodyPr>
          <a:lstStyle/>
          <a:p>
            <a:pPr algn="l">
              <a:lnSpc>
                <a:spcPct val="120000"/>
              </a:lnSpc>
              <a:spcBef>
                <a:spcPts val="0"/>
              </a:spcBef>
              <a:spcAft>
                <a:spcPts val="0"/>
              </a:spcAft>
            </a:pPr>
            <a:r>
              <a:rPr sz="1600" b="1" i="0">
                <a:solidFill>
                  <a:srgbClr val="173A3A"/>
                </a:solidFill>
                <a:latin typeface="Segoe UI"/>
              </a:rPr>
              <a:t>Đội đo mưa</a:t>
            </a:r>
          </a:p>
        </p:txBody>
      </p:sp>
      <p:sp>
        <p:nvSpPr>
          <p:cNvPr id="19" name="TextBox 18"/>
          <p:cNvSpPr txBox="1"/>
          <p:nvPr/>
        </p:nvSpPr>
        <p:spPr>
          <a:xfrm>
            <a:off x="3642283" y="2779776"/>
            <a:ext cx="2087803" cy="566928"/>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Chỉ ra mưa ở thành phố đã thay đổi thế nào.</a:t>
            </a:r>
          </a:p>
        </p:txBody>
      </p:sp>
      <p:sp>
        <p:nvSpPr>
          <p:cNvPr id="20" name="Rectangle 19"/>
          <p:cNvSpPr/>
          <p:nvPr/>
        </p:nvSpPr>
        <p:spPr>
          <a:xfrm>
            <a:off x="3642283" y="3419856"/>
            <a:ext cx="2087803"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3642283" y="3547872"/>
            <a:ext cx="2087803" cy="1188720"/>
          </a:xfrm>
          <a:prstGeom prst="rect">
            <a:avLst/>
          </a:prstGeom>
          <a:noFill/>
        </p:spPr>
        <p:txBody>
          <a:bodyPr wrap="square" lIns="0" rIns="0" tIns="0" bIns="0" anchor="t">
            <a:spAutoFit/>
          </a:bodyPr>
          <a:lstStyle/>
          <a:p>
            <a:pPr algn="l">
              <a:lnSpc>
                <a:spcPct val="128000"/>
              </a:lnSpc>
              <a:spcBef>
                <a:spcPts val="0"/>
              </a:spcBef>
              <a:spcAft>
                <a:spcPts val="500"/>
              </a:spcAft>
            </a:pPr>
            <a:r>
              <a:rPr sz="1000" b="0" i="0">
                <a:solidFill>
                  <a:srgbClr val="173A3A"/>
                </a:solidFill>
                <a:latin typeface="Segoe UI"/>
              </a:rPr>
              <a:t>·  Mưa cực đoan và mùa mưa dịch chuyển</a:t>
            </a:r>
          </a:p>
          <a:p>
            <a:pPr algn="l">
              <a:lnSpc>
                <a:spcPct val="128000"/>
              </a:lnSpc>
              <a:spcBef>
                <a:spcPts val="0"/>
              </a:spcBef>
              <a:spcAft>
                <a:spcPts val="500"/>
              </a:spcAft>
            </a:pPr>
            <a:r>
              <a:rPr sz="1000" b="0" i="0">
                <a:solidFill>
                  <a:srgbClr val="173A3A"/>
                </a:solidFill>
                <a:latin typeface="Segoe UI"/>
              </a:rPr>
              <a:t>·  Vì sao cống thoát nước không theo kịp</a:t>
            </a:r>
          </a:p>
          <a:p>
            <a:pPr algn="l">
              <a:lnSpc>
                <a:spcPct val="128000"/>
              </a:lnSpc>
              <a:spcBef>
                <a:spcPts val="0"/>
              </a:spcBef>
              <a:spcAft>
                <a:spcPts val="500"/>
              </a:spcAft>
            </a:pPr>
            <a:r>
              <a:rPr sz="1000" b="0" i="0">
                <a:solidFill>
                  <a:srgbClr val="173A3A"/>
                </a:solidFill>
                <a:latin typeface="Segoe UI"/>
              </a:rPr>
              <a:t>·  Một điểm ngập mà nhóm biết rõ</a:t>
            </a:r>
          </a:p>
        </p:txBody>
      </p:sp>
      <p:sp>
        <p:nvSpPr>
          <p:cNvPr id="22" name="Rounded Rectangle 21"/>
          <p:cNvSpPr/>
          <p:nvPr/>
        </p:nvSpPr>
        <p:spPr>
          <a:xfrm>
            <a:off x="6205575" y="1691640"/>
            <a:ext cx="2599867" cy="3291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ctangle 22"/>
          <p:cNvSpPr/>
          <p:nvPr/>
        </p:nvSpPr>
        <p:spPr>
          <a:xfrm>
            <a:off x="6205575" y="1691640"/>
            <a:ext cx="2599867" cy="45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ounded Rectangle 23"/>
          <p:cNvSpPr/>
          <p:nvPr/>
        </p:nvSpPr>
        <p:spPr>
          <a:xfrm>
            <a:off x="6461607" y="1938528"/>
            <a:ext cx="1051560" cy="292608"/>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461607" y="1993392"/>
            <a:ext cx="1051560"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NHÓM 3</a:t>
            </a:r>
          </a:p>
        </p:txBody>
      </p:sp>
      <p:sp>
        <p:nvSpPr>
          <p:cNvPr id="26" name="TextBox 25"/>
          <p:cNvSpPr txBox="1"/>
          <p:nvPr/>
        </p:nvSpPr>
        <p:spPr>
          <a:xfrm>
            <a:off x="6461607" y="2395728"/>
            <a:ext cx="2087803" cy="310896"/>
          </a:xfrm>
          <a:prstGeom prst="rect">
            <a:avLst/>
          </a:prstGeom>
          <a:noFill/>
        </p:spPr>
        <p:txBody>
          <a:bodyPr wrap="square" lIns="0" rIns="0" tIns="0" bIns="0" anchor="t">
            <a:spAutoFit/>
          </a:bodyPr>
          <a:lstStyle/>
          <a:p>
            <a:pPr algn="l">
              <a:lnSpc>
                <a:spcPct val="120000"/>
              </a:lnSpc>
              <a:spcBef>
                <a:spcPts val="0"/>
              </a:spcBef>
              <a:spcAft>
                <a:spcPts val="0"/>
              </a:spcAft>
            </a:pPr>
            <a:r>
              <a:rPr sz="1600" b="1" i="0">
                <a:solidFill>
                  <a:srgbClr val="173A3A"/>
                </a:solidFill>
                <a:latin typeface="Segoe UI"/>
              </a:rPr>
              <a:t>Đội canh triều</a:t>
            </a:r>
          </a:p>
        </p:txBody>
      </p:sp>
      <p:sp>
        <p:nvSpPr>
          <p:cNvPr id="27" name="TextBox 26"/>
          <p:cNvSpPr txBox="1"/>
          <p:nvPr/>
        </p:nvSpPr>
        <p:spPr>
          <a:xfrm>
            <a:off x="6461607" y="2779776"/>
            <a:ext cx="2087803" cy="566928"/>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Theo dõi nước biển dâng và triều cường.</a:t>
            </a:r>
          </a:p>
        </p:txBody>
      </p:sp>
      <p:sp>
        <p:nvSpPr>
          <p:cNvPr id="28" name="Rectangle 27"/>
          <p:cNvSpPr/>
          <p:nvPr/>
        </p:nvSpPr>
        <p:spPr>
          <a:xfrm>
            <a:off x="6461607" y="3419856"/>
            <a:ext cx="2087803"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461607" y="3547872"/>
            <a:ext cx="2087803" cy="1188720"/>
          </a:xfrm>
          <a:prstGeom prst="rect">
            <a:avLst/>
          </a:prstGeom>
          <a:noFill/>
        </p:spPr>
        <p:txBody>
          <a:bodyPr wrap="square" lIns="0" rIns="0" tIns="0" bIns="0" anchor="t">
            <a:spAutoFit/>
          </a:bodyPr>
          <a:lstStyle/>
          <a:p>
            <a:pPr algn="l">
              <a:lnSpc>
                <a:spcPct val="128000"/>
              </a:lnSpc>
              <a:spcBef>
                <a:spcPts val="0"/>
              </a:spcBef>
              <a:spcAft>
                <a:spcPts val="500"/>
              </a:spcAft>
            </a:pPr>
            <a:r>
              <a:rPr sz="1000" b="0" i="0">
                <a:solidFill>
                  <a:srgbClr val="173A3A"/>
                </a:solidFill>
                <a:latin typeface="Segoe UI"/>
              </a:rPr>
              <a:t>·  Ba mốc kỷ lục tại trạm Phú An</a:t>
            </a:r>
          </a:p>
          <a:p>
            <a:pPr algn="l">
              <a:lnSpc>
                <a:spcPct val="128000"/>
              </a:lnSpc>
              <a:spcBef>
                <a:spcPts val="0"/>
              </a:spcBef>
              <a:spcAft>
                <a:spcPts val="500"/>
              </a:spcAft>
            </a:pPr>
            <a:r>
              <a:rPr sz="1000" b="0" i="0">
                <a:solidFill>
                  <a:srgbClr val="173A3A"/>
                </a:solidFill>
                <a:latin typeface="Segoe UI"/>
              </a:rPr>
              <a:t>·  Hiện tượng lún nền đất của thành phố</a:t>
            </a:r>
          </a:p>
          <a:p>
            <a:pPr algn="l">
              <a:lnSpc>
                <a:spcPct val="128000"/>
              </a:lnSpc>
              <a:spcBef>
                <a:spcPts val="0"/>
              </a:spcBef>
              <a:spcAft>
                <a:spcPts val="500"/>
              </a:spcAft>
            </a:pPr>
            <a:r>
              <a:rPr sz="1000" b="0" i="0">
                <a:solidFill>
                  <a:srgbClr val="173A3A"/>
                </a:solidFill>
                <a:latin typeface="Segoe UI"/>
              </a:rPr>
              <a:t>·  Vì sao mưa gặp triều thì ngập nặng hơn</a:t>
            </a:r>
          </a:p>
        </p:txBody>
      </p:sp>
      <p:sp>
        <p:nvSpPr>
          <p:cNvPr id="30" name="Rounded Rectangle 29"/>
          <p:cNvSpPr/>
          <p:nvPr/>
        </p:nvSpPr>
        <p:spPr>
          <a:xfrm>
            <a:off x="9024899" y="1691640"/>
            <a:ext cx="2599867" cy="3291840"/>
          </a:xfrm>
          <a:prstGeom prst="roundRect">
            <a:avLst>
              <a:gd name="adj" fmla="val 7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9024899" y="1691640"/>
            <a:ext cx="2599867" cy="4572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ounded Rectangle 31"/>
          <p:cNvSpPr/>
          <p:nvPr/>
        </p:nvSpPr>
        <p:spPr>
          <a:xfrm>
            <a:off x="9280931" y="1938528"/>
            <a:ext cx="1051560" cy="292608"/>
          </a:xfrm>
          <a:prstGeom prst="roundRect">
            <a:avLst>
              <a:gd name="adj" fmla="val 50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9280931" y="1993392"/>
            <a:ext cx="1051560" cy="201168"/>
          </a:xfrm>
          <a:prstGeom prst="rect">
            <a:avLst/>
          </a:prstGeom>
          <a:noFill/>
        </p:spPr>
        <p:txBody>
          <a:bodyPr wrap="square" lIns="0" rIns="0" tIns="0" bIns="0" anchor="t">
            <a:spAutoFit/>
          </a:bodyPr>
          <a:lstStyle/>
          <a:p>
            <a:pPr algn="ctr">
              <a:lnSpc>
                <a:spcPct val="120000"/>
              </a:lnSpc>
              <a:spcBef>
                <a:spcPts val="0"/>
              </a:spcBef>
              <a:spcAft>
                <a:spcPts val="0"/>
              </a:spcAft>
            </a:pPr>
            <a:r>
              <a:rPr sz="950" b="1" i="0" spc="100">
                <a:solidFill>
                  <a:srgbClr val="B9573E"/>
                </a:solidFill>
                <a:latin typeface="Segoe UI"/>
              </a:rPr>
              <a:t>NHÓM 4</a:t>
            </a:r>
          </a:p>
        </p:txBody>
      </p:sp>
      <p:sp>
        <p:nvSpPr>
          <p:cNvPr id="34" name="TextBox 33"/>
          <p:cNvSpPr txBox="1"/>
          <p:nvPr/>
        </p:nvSpPr>
        <p:spPr>
          <a:xfrm>
            <a:off x="9280931" y="2395728"/>
            <a:ext cx="2087803" cy="310896"/>
          </a:xfrm>
          <a:prstGeom prst="rect">
            <a:avLst/>
          </a:prstGeom>
          <a:noFill/>
        </p:spPr>
        <p:txBody>
          <a:bodyPr wrap="square" lIns="0" rIns="0" tIns="0" bIns="0" anchor="t">
            <a:spAutoFit/>
          </a:bodyPr>
          <a:lstStyle/>
          <a:p>
            <a:pPr algn="l">
              <a:lnSpc>
                <a:spcPct val="120000"/>
              </a:lnSpc>
              <a:spcBef>
                <a:spcPts val="0"/>
              </a:spcBef>
              <a:spcAft>
                <a:spcPts val="0"/>
              </a:spcAft>
            </a:pPr>
            <a:r>
              <a:rPr sz="1600" b="1" i="0">
                <a:solidFill>
                  <a:srgbClr val="173A3A"/>
                </a:solidFill>
                <a:latin typeface="Segoe UI"/>
              </a:rPr>
              <a:t>Đội truy nguyên nhân</a:t>
            </a:r>
          </a:p>
        </p:txBody>
      </p:sp>
      <p:sp>
        <p:nvSpPr>
          <p:cNvPr id="35" name="TextBox 34"/>
          <p:cNvSpPr txBox="1"/>
          <p:nvPr/>
        </p:nvSpPr>
        <p:spPr>
          <a:xfrm>
            <a:off x="9280931" y="2779776"/>
            <a:ext cx="2087803" cy="566928"/>
          </a:xfrm>
          <a:prstGeom prst="rect">
            <a:avLst/>
          </a:prstGeom>
          <a:noFill/>
        </p:spPr>
        <p:txBody>
          <a:bodyPr wrap="square" lIns="0" rIns="0" tIns="0" bIns="0" anchor="t">
            <a:spAutoFit/>
          </a:bodyPr>
          <a:lstStyle/>
          <a:p>
            <a:pPr algn="l">
              <a:lnSpc>
                <a:spcPct val="134000"/>
              </a:lnSpc>
              <a:spcBef>
                <a:spcPts val="0"/>
              </a:spcBef>
              <a:spcAft>
                <a:spcPts val="0"/>
              </a:spcAft>
            </a:pPr>
            <a:r>
              <a:rPr sz="1150" b="0" i="0">
                <a:solidFill>
                  <a:srgbClr val="526D6B"/>
                </a:solidFill>
                <a:latin typeface="Segoe UI"/>
              </a:rPr>
              <a:t>Phân loại và xếp hạng các nguyên nhân.</a:t>
            </a:r>
          </a:p>
        </p:txBody>
      </p:sp>
      <p:sp>
        <p:nvSpPr>
          <p:cNvPr id="36" name="Rectangle 35"/>
          <p:cNvSpPr/>
          <p:nvPr/>
        </p:nvSpPr>
        <p:spPr>
          <a:xfrm>
            <a:off x="9280931" y="3419856"/>
            <a:ext cx="2087803" cy="10972"/>
          </a:xfrm>
          <a:prstGeom prst="rect">
            <a:avLst/>
          </a:prstGeom>
          <a:solidFill>
            <a:srgbClr val="CFE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9280931" y="3547872"/>
            <a:ext cx="2087803" cy="1188720"/>
          </a:xfrm>
          <a:prstGeom prst="rect">
            <a:avLst/>
          </a:prstGeom>
          <a:noFill/>
        </p:spPr>
        <p:txBody>
          <a:bodyPr wrap="square" lIns="0" rIns="0" tIns="0" bIns="0" anchor="t">
            <a:spAutoFit/>
          </a:bodyPr>
          <a:lstStyle/>
          <a:p>
            <a:pPr algn="l">
              <a:lnSpc>
                <a:spcPct val="128000"/>
              </a:lnSpc>
              <a:spcBef>
                <a:spcPts val="0"/>
              </a:spcBef>
              <a:spcAft>
                <a:spcPts val="500"/>
              </a:spcAft>
            </a:pPr>
            <a:r>
              <a:rPr sz="1000" b="0" i="0">
                <a:solidFill>
                  <a:srgbClr val="173A3A"/>
                </a:solidFill>
                <a:latin typeface="Segoe UI"/>
              </a:rPr>
              <a:t>·  Tách nhóm chủ quan và khách quan</a:t>
            </a:r>
          </a:p>
          <a:p>
            <a:pPr algn="l">
              <a:lnSpc>
                <a:spcPct val="128000"/>
              </a:lnSpc>
              <a:spcBef>
                <a:spcPts val="0"/>
              </a:spcBef>
              <a:spcAft>
                <a:spcPts val="500"/>
              </a:spcAft>
            </a:pPr>
            <a:r>
              <a:rPr sz="1000" b="0" i="0">
                <a:solidFill>
                  <a:srgbClr val="173A3A"/>
                </a:solidFill>
                <a:latin typeface="Segoe UI"/>
              </a:rPr>
              <a:t>·  Chọn nguyên nhân nghiêm trọng nhất ở địa phương</a:t>
            </a:r>
          </a:p>
          <a:p>
            <a:pPr algn="l">
              <a:lnSpc>
                <a:spcPct val="128000"/>
              </a:lnSpc>
              <a:spcBef>
                <a:spcPts val="0"/>
              </a:spcBef>
              <a:spcAft>
                <a:spcPts val="500"/>
              </a:spcAft>
            </a:pPr>
            <a:r>
              <a:rPr sz="1000" b="0" i="0">
                <a:solidFill>
                  <a:srgbClr val="173A3A"/>
                </a:solidFill>
                <a:latin typeface="Segoe UI"/>
              </a:rPr>
              <a:t>·  Giải thích vì sao nhóm chọn như vậy</a:t>
            </a:r>
          </a:p>
        </p:txBody>
      </p:sp>
      <p:sp>
        <p:nvSpPr>
          <p:cNvPr id="38" name="Rounded Rectangle 37"/>
          <p:cNvSpPr/>
          <p:nvPr/>
        </p:nvSpPr>
        <p:spPr>
          <a:xfrm>
            <a:off x="566928" y="5138928"/>
            <a:ext cx="11057839" cy="877824"/>
          </a:xfrm>
          <a:prstGeom prst="roundRect">
            <a:avLst>
              <a:gd name="adj" fmla="val 9000"/>
            </a:avLst>
          </a:prstGeom>
          <a:solidFill>
            <a:srgbClr val="173A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Rectangle 38"/>
          <p:cNvSpPr/>
          <p:nvPr/>
        </p:nvSpPr>
        <p:spPr>
          <a:xfrm>
            <a:off x="566928" y="5138928"/>
            <a:ext cx="50292" cy="87782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32688" y="5138928"/>
            <a:ext cx="10326319" cy="877824"/>
          </a:xfrm>
          <a:prstGeom prst="rect">
            <a:avLst/>
          </a:prstGeom>
          <a:noFill/>
        </p:spPr>
        <p:txBody>
          <a:bodyPr wrap="square" lIns="0" rIns="0" tIns="0" bIns="0" anchor="ctr">
            <a:spAutoFit/>
          </a:bodyPr>
          <a:lstStyle/>
          <a:p>
            <a:pPr algn="l">
              <a:lnSpc>
                <a:spcPct val="136000"/>
              </a:lnSpc>
              <a:spcBef>
                <a:spcPts val="0"/>
              </a:spcBef>
              <a:spcAft>
                <a:spcPts val="0"/>
              </a:spcAft>
            </a:pPr>
            <a:r>
              <a:rPr sz="1250" b="1" i="0">
                <a:solidFill>
                  <a:srgbClr val="E9825B"/>
                </a:solidFill>
                <a:latin typeface="Segoe UI"/>
              </a:rPr>
              <a:t>SẢN PHẨM NHÓM  </a:t>
            </a:r>
            <a:r>
              <a:rPr sz="1250" b="0" i="0">
                <a:solidFill>
                  <a:srgbClr val="FFF8EC"/>
                </a:solidFill>
                <a:latin typeface="Segoe UI"/>
              </a:rPr>
              <a:t>Một tờ phiếu học tập hoàn chỉnh, cộng thêm một câu kết luận ngắn viết lên bảng cho cả lớp cùng chép. Các nhóm còn lại ghi nhanh ý chính vào phiếu của mình khi bạn trình bày.</a:t>
            </a:r>
          </a:p>
        </p:txBody>
      </p:sp>
      <p:sp>
        <p:nvSpPr>
          <p:cNvPr id="41" name="TextBox 40"/>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42" name="TextBox 41"/>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19 / 20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AF4F2"/>
        </a:solidFill>
        <a:effectLst/>
      </p:bgPr>
    </p:bg>
    <p:spTree>
      <p:nvGrpSpPr>
        <p:cNvPr id="1" name=""/>
        <p:cNvGrpSpPr/>
        <p:nvPr/>
      </p:nvGrpSpPr>
      <p:grpSpPr/>
      <p:sp>
        <p:nvSpPr>
          <p:cNvPr id="2" name="TextBox 1"/>
          <p:cNvSpPr txBox="1"/>
          <p:nvPr/>
        </p:nvSpPr>
        <p:spPr>
          <a:xfrm>
            <a:off x="566928" y="384048"/>
            <a:ext cx="868680" cy="292608"/>
          </a:xfrm>
          <a:prstGeom prst="rect">
            <a:avLst/>
          </a:prstGeom>
          <a:noFill/>
        </p:spPr>
        <p:txBody>
          <a:bodyPr wrap="square" lIns="0" rIns="0" tIns="0" bIns="0" anchor="t">
            <a:spAutoFit/>
          </a:bodyPr>
          <a:lstStyle/>
          <a:p>
            <a:pPr algn="l">
              <a:lnSpc>
                <a:spcPct val="120000"/>
              </a:lnSpc>
              <a:spcBef>
                <a:spcPts val="0"/>
              </a:spcBef>
              <a:spcAft>
                <a:spcPts val="0"/>
              </a:spcAft>
            </a:pPr>
            <a:r>
              <a:rPr sz="1250" b="1" i="0" spc="160">
                <a:solidFill>
                  <a:srgbClr val="E9825B"/>
                </a:solidFill>
                <a:latin typeface="Segoe UI"/>
              </a:rPr>
              <a:t>20</a:t>
            </a:r>
          </a:p>
        </p:txBody>
      </p:sp>
      <p:sp>
        <p:nvSpPr>
          <p:cNvPr id="3" name="TextBox 2"/>
          <p:cNvSpPr txBox="1"/>
          <p:nvPr/>
        </p:nvSpPr>
        <p:spPr>
          <a:xfrm>
            <a:off x="1243584" y="274320"/>
            <a:ext cx="10381183" cy="640080"/>
          </a:xfrm>
          <a:prstGeom prst="rect">
            <a:avLst/>
          </a:prstGeom>
          <a:noFill/>
        </p:spPr>
        <p:txBody>
          <a:bodyPr wrap="square" lIns="0" rIns="0" tIns="0" bIns="0" anchor="t">
            <a:spAutoFit/>
          </a:bodyPr>
          <a:lstStyle/>
          <a:p>
            <a:pPr algn="l">
              <a:lnSpc>
                <a:spcPct val="105000"/>
              </a:lnSpc>
              <a:spcBef>
                <a:spcPts val="0"/>
              </a:spcBef>
              <a:spcAft>
                <a:spcPts val="0"/>
              </a:spcAft>
            </a:pPr>
            <a:r>
              <a:rPr sz="3000" b="1" i="0">
                <a:solidFill>
                  <a:srgbClr val="173A3A"/>
                </a:solidFill>
                <a:latin typeface="Segoe UI"/>
              </a:rPr>
              <a:t>Ghi nhớ và kiểm tra nhanh</a:t>
            </a:r>
          </a:p>
        </p:txBody>
      </p:sp>
      <p:sp>
        <p:nvSpPr>
          <p:cNvPr id="4" name="TextBox 3"/>
          <p:cNvSpPr txBox="1"/>
          <p:nvPr/>
        </p:nvSpPr>
        <p:spPr>
          <a:xfrm>
            <a:off x="1261872" y="914400"/>
            <a:ext cx="9997135" cy="384048"/>
          </a:xfrm>
          <a:prstGeom prst="rect">
            <a:avLst/>
          </a:prstGeom>
          <a:noFill/>
        </p:spPr>
        <p:txBody>
          <a:bodyPr wrap="square" lIns="0" rIns="0" tIns="0" bIns="0" anchor="t">
            <a:spAutoFit/>
          </a:bodyPr>
          <a:lstStyle/>
          <a:p>
            <a:pPr algn="l">
              <a:lnSpc>
                <a:spcPct val="120000"/>
              </a:lnSpc>
              <a:spcBef>
                <a:spcPts val="0"/>
              </a:spcBef>
              <a:spcAft>
                <a:spcPts val="0"/>
              </a:spcAft>
            </a:pPr>
            <a:r>
              <a:rPr sz="1350" b="0" i="0">
                <a:solidFill>
                  <a:srgbClr val="526D6B"/>
                </a:solidFill>
                <a:latin typeface="Segoe UI"/>
              </a:rPr>
              <a:t>Sáu ý chính cần chép vào vở trước khi rời lớp</a:t>
            </a:r>
          </a:p>
        </p:txBody>
      </p:sp>
      <p:sp>
        <p:nvSpPr>
          <p:cNvPr id="5" name="Rectangle 4"/>
          <p:cNvSpPr/>
          <p:nvPr/>
        </p:nvSpPr>
        <p:spPr>
          <a:xfrm>
            <a:off x="566928" y="1069848"/>
            <a:ext cx="566928" cy="32004"/>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Rounded Rectangle 5"/>
          <p:cNvSpPr/>
          <p:nvPr/>
        </p:nvSpPr>
        <p:spPr>
          <a:xfrm>
            <a:off x="566928" y="1664208"/>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ectangle 6"/>
          <p:cNvSpPr/>
          <p:nvPr/>
        </p:nvSpPr>
        <p:spPr>
          <a:xfrm>
            <a:off x="566928" y="1664208"/>
            <a:ext cx="45720" cy="1078992"/>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41247" y="1865376"/>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01</a:t>
            </a:r>
          </a:p>
        </p:txBody>
      </p:sp>
      <p:sp>
        <p:nvSpPr>
          <p:cNvPr id="9" name="TextBox 8"/>
          <p:cNvSpPr txBox="1"/>
          <p:nvPr/>
        </p:nvSpPr>
        <p:spPr>
          <a:xfrm>
            <a:off x="1353312" y="1837944"/>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Nhiệt độ</a:t>
            </a:r>
          </a:p>
        </p:txBody>
      </p:sp>
      <p:sp>
        <p:nvSpPr>
          <p:cNvPr id="10" name="TextBox 9"/>
          <p:cNvSpPr txBox="1"/>
          <p:nvPr/>
        </p:nvSpPr>
        <p:spPr>
          <a:xfrm>
            <a:off x="841247" y="2194560"/>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Có xu thế tăng, dự báo +0,8°C đến năm 2030; số ngày nắng nóng tăng; nội thành nóng hơn ngoại thành 1 – 3°C do đảo nhiệt đô thị.</a:t>
            </a:r>
          </a:p>
        </p:txBody>
      </p:sp>
      <p:sp>
        <p:nvSpPr>
          <p:cNvPr id="11" name="Rounded Rectangle 10"/>
          <p:cNvSpPr/>
          <p:nvPr/>
        </p:nvSpPr>
        <p:spPr>
          <a:xfrm>
            <a:off x="6223863" y="1664208"/>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ectangle 11"/>
          <p:cNvSpPr/>
          <p:nvPr/>
        </p:nvSpPr>
        <p:spPr>
          <a:xfrm>
            <a:off x="6223863" y="1664208"/>
            <a:ext cx="45720" cy="1078992"/>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6498183" y="1865376"/>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02</a:t>
            </a:r>
          </a:p>
        </p:txBody>
      </p:sp>
      <p:sp>
        <p:nvSpPr>
          <p:cNvPr id="14" name="TextBox 13"/>
          <p:cNvSpPr txBox="1"/>
          <p:nvPr/>
        </p:nvSpPr>
        <p:spPr>
          <a:xfrm>
            <a:off x="7010247" y="1837944"/>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Mưa</a:t>
            </a:r>
          </a:p>
        </p:txBody>
      </p:sp>
      <p:sp>
        <p:nvSpPr>
          <p:cNvPr id="15" name="TextBox 14"/>
          <p:cNvSpPr txBox="1"/>
          <p:nvPr/>
        </p:nvSpPr>
        <p:spPr>
          <a:xfrm>
            <a:off x="6498183" y="2194560"/>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Thất thường, xuất hiện nhiều trận mưa cực đoan vượt khả năng thoát nước của hệ thống cống (85mm/3 giờ).</a:t>
            </a:r>
          </a:p>
        </p:txBody>
      </p:sp>
      <p:sp>
        <p:nvSpPr>
          <p:cNvPr id="16" name="Rounded Rectangle 15"/>
          <p:cNvSpPr/>
          <p:nvPr/>
        </p:nvSpPr>
        <p:spPr>
          <a:xfrm>
            <a:off x="566928" y="2871215"/>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2871215"/>
            <a:ext cx="45720" cy="1078992"/>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072384"/>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03</a:t>
            </a:r>
          </a:p>
        </p:txBody>
      </p:sp>
      <p:sp>
        <p:nvSpPr>
          <p:cNvPr id="19" name="TextBox 18"/>
          <p:cNvSpPr txBox="1"/>
          <p:nvPr/>
        </p:nvSpPr>
        <p:spPr>
          <a:xfrm>
            <a:off x="1353312" y="3044951"/>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Nước biển dâng</a:t>
            </a:r>
          </a:p>
        </p:txBody>
      </p:sp>
      <p:sp>
        <p:nvSpPr>
          <p:cNvPr id="20" name="TextBox 19"/>
          <p:cNvSpPr txBox="1"/>
          <p:nvPr/>
        </p:nvSpPr>
        <p:spPr>
          <a:xfrm>
            <a:off x="841247" y="3401568"/>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Khoảng 3mm/năm; đỉnh triều Phú An liên tục lập kỷ lục 1,68m (2013) → 1,77m (2019) → 1,78m (2025), báo động 3 là 1,50m.</a:t>
            </a:r>
          </a:p>
        </p:txBody>
      </p:sp>
      <p:sp>
        <p:nvSpPr>
          <p:cNvPr id="21" name="Rounded Rectangle 20"/>
          <p:cNvSpPr/>
          <p:nvPr/>
        </p:nvSpPr>
        <p:spPr>
          <a:xfrm>
            <a:off x="6223863" y="2871215"/>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ctangle 21"/>
          <p:cNvSpPr/>
          <p:nvPr/>
        </p:nvSpPr>
        <p:spPr>
          <a:xfrm>
            <a:off x="6223863" y="2871215"/>
            <a:ext cx="45720" cy="1078992"/>
          </a:xfrm>
          <a:prstGeom prst="rect">
            <a:avLst/>
          </a:prstGeom>
          <a:solidFill>
            <a:srgbClr val="2F7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6498183" y="3072384"/>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2F7F7A"/>
                </a:solidFill>
                <a:latin typeface="Segoe UI"/>
              </a:rPr>
              <a:t>04</a:t>
            </a:r>
          </a:p>
        </p:txBody>
      </p:sp>
      <p:sp>
        <p:nvSpPr>
          <p:cNvPr id="24" name="TextBox 23"/>
          <p:cNvSpPr txBox="1"/>
          <p:nvPr/>
        </p:nvSpPr>
        <p:spPr>
          <a:xfrm>
            <a:off x="7010247" y="3044951"/>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Thời tiết cực đoan</a:t>
            </a:r>
          </a:p>
        </p:txBody>
      </p:sp>
      <p:sp>
        <p:nvSpPr>
          <p:cNvPr id="25" name="TextBox 24"/>
          <p:cNvSpPr txBox="1"/>
          <p:nvPr/>
        </p:nvSpPr>
        <p:spPr>
          <a:xfrm>
            <a:off x="6498183" y="3401568"/>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Dông lốc, sét, mưa đá, xâm nhập mặn, sạt lở bờ sông đều gia tăng; bão có xu hướng dịch xuống phía Nam.</a:t>
            </a:r>
          </a:p>
        </p:txBody>
      </p:sp>
      <p:sp>
        <p:nvSpPr>
          <p:cNvPr id="26" name="Rounded Rectangle 25"/>
          <p:cNvSpPr/>
          <p:nvPr/>
        </p:nvSpPr>
        <p:spPr>
          <a:xfrm>
            <a:off x="566928" y="4078224"/>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Rectangle 26"/>
          <p:cNvSpPr/>
          <p:nvPr/>
        </p:nvSpPr>
        <p:spPr>
          <a:xfrm>
            <a:off x="566928" y="4078224"/>
            <a:ext cx="45720" cy="107899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41247" y="4279392"/>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E9825B"/>
                </a:solidFill>
                <a:latin typeface="Segoe UI"/>
              </a:rPr>
              <a:t>05</a:t>
            </a:r>
          </a:p>
        </p:txBody>
      </p:sp>
      <p:sp>
        <p:nvSpPr>
          <p:cNvPr id="29" name="TextBox 28"/>
          <p:cNvSpPr txBox="1"/>
          <p:nvPr/>
        </p:nvSpPr>
        <p:spPr>
          <a:xfrm>
            <a:off x="1353312" y="4251960"/>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Nguyên nhân khách quan</a:t>
            </a:r>
          </a:p>
        </p:txBody>
      </p:sp>
      <p:sp>
        <p:nvSpPr>
          <p:cNvPr id="30" name="TextBox 29"/>
          <p:cNvSpPr txBox="1"/>
          <p:nvPr/>
        </p:nvSpPr>
        <p:spPr>
          <a:xfrm>
            <a:off x="841247" y="4608576"/>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Biến động tự nhiên của khí hậu, vị trí hạ lưu – địa hình thấp – giáp biển, nền đất yếu, nước biển dâng toàn cầu.</a:t>
            </a:r>
          </a:p>
        </p:txBody>
      </p:sp>
      <p:sp>
        <p:nvSpPr>
          <p:cNvPr id="31" name="Rounded Rectangle 30"/>
          <p:cNvSpPr/>
          <p:nvPr/>
        </p:nvSpPr>
        <p:spPr>
          <a:xfrm>
            <a:off x="6223863" y="4078224"/>
            <a:ext cx="5400903" cy="1078992"/>
          </a:xfrm>
          <a:prstGeom prst="roundRect">
            <a:avLst>
              <a:gd name="adj" fmla="val 6000"/>
            </a:avLst>
          </a:prstGeom>
          <a:solidFill>
            <a:srgbClr val="FFFFFF"/>
          </a:solidFill>
          <a:ln w="12700">
            <a:solidFill>
              <a:srgbClr val="CFE2DE"/>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223863" y="4078224"/>
            <a:ext cx="45720" cy="1078992"/>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98183" y="4279392"/>
            <a:ext cx="457200" cy="237744"/>
          </a:xfrm>
          <a:prstGeom prst="rect">
            <a:avLst/>
          </a:prstGeom>
          <a:noFill/>
        </p:spPr>
        <p:txBody>
          <a:bodyPr wrap="square" lIns="0" rIns="0" tIns="0" bIns="0" anchor="t">
            <a:spAutoFit/>
          </a:bodyPr>
          <a:lstStyle/>
          <a:p>
            <a:pPr algn="l">
              <a:lnSpc>
                <a:spcPct val="120000"/>
              </a:lnSpc>
              <a:spcBef>
                <a:spcPts val="0"/>
              </a:spcBef>
              <a:spcAft>
                <a:spcPts val="0"/>
              </a:spcAft>
            </a:pPr>
            <a:r>
              <a:rPr sz="1050" b="1" i="0" spc="140">
                <a:solidFill>
                  <a:srgbClr val="E9825B"/>
                </a:solidFill>
                <a:latin typeface="Segoe UI"/>
              </a:rPr>
              <a:t>06</a:t>
            </a:r>
          </a:p>
        </p:txBody>
      </p:sp>
      <p:sp>
        <p:nvSpPr>
          <p:cNvPr id="34" name="TextBox 33"/>
          <p:cNvSpPr txBox="1"/>
          <p:nvPr/>
        </p:nvSpPr>
        <p:spPr>
          <a:xfrm>
            <a:off x="7010247" y="4251960"/>
            <a:ext cx="4340199" cy="274320"/>
          </a:xfrm>
          <a:prstGeom prst="rect">
            <a:avLst/>
          </a:prstGeom>
          <a:noFill/>
        </p:spPr>
        <p:txBody>
          <a:bodyPr wrap="square" lIns="0" rIns="0" tIns="0" bIns="0" anchor="t">
            <a:spAutoFit/>
          </a:bodyPr>
          <a:lstStyle/>
          <a:p>
            <a:pPr algn="l">
              <a:lnSpc>
                <a:spcPct val="120000"/>
              </a:lnSpc>
              <a:spcBef>
                <a:spcPts val="0"/>
              </a:spcBef>
              <a:spcAft>
                <a:spcPts val="0"/>
              </a:spcAft>
            </a:pPr>
            <a:r>
              <a:rPr sz="1400" b="1" i="0">
                <a:solidFill>
                  <a:srgbClr val="173A3A"/>
                </a:solidFill>
                <a:latin typeface="Segoe UI"/>
              </a:rPr>
              <a:t>Nguyên nhân chủ quan</a:t>
            </a:r>
          </a:p>
        </p:txBody>
      </p:sp>
      <p:sp>
        <p:nvSpPr>
          <p:cNvPr id="35" name="TextBox 34"/>
          <p:cNvSpPr txBox="1"/>
          <p:nvPr/>
        </p:nvSpPr>
        <p:spPr>
          <a:xfrm>
            <a:off x="6498183" y="4608576"/>
            <a:ext cx="4852263" cy="475488"/>
          </a:xfrm>
          <a:prstGeom prst="rect">
            <a:avLst/>
          </a:prstGeom>
          <a:noFill/>
        </p:spPr>
        <p:txBody>
          <a:bodyPr wrap="square" lIns="0" rIns="0" tIns="0" bIns="0" anchor="t">
            <a:spAutoFit/>
          </a:bodyPr>
          <a:lstStyle/>
          <a:p>
            <a:pPr algn="l">
              <a:lnSpc>
                <a:spcPct val="132000"/>
              </a:lnSpc>
              <a:spcBef>
                <a:spcPts val="0"/>
              </a:spcBef>
              <a:spcAft>
                <a:spcPts val="0"/>
              </a:spcAft>
            </a:pPr>
            <a:r>
              <a:rPr sz="1100" b="0" i="0">
                <a:solidFill>
                  <a:srgbClr val="526D6B"/>
                </a:solidFill>
                <a:latin typeface="Segoe UI"/>
              </a:rPr>
              <a:t>Khí nhà kính, bê tông hoá, san lấp kênh rạch, hút nước ngầm, mất rừng ngập mặn, xả rác — nhóm nguyên nhân chính và đổi được.</a:t>
            </a:r>
          </a:p>
        </p:txBody>
      </p:sp>
      <p:sp>
        <p:nvSpPr>
          <p:cNvPr id="36" name="Rounded Rectangle 35"/>
          <p:cNvSpPr/>
          <p:nvPr/>
        </p:nvSpPr>
        <p:spPr>
          <a:xfrm>
            <a:off x="566928" y="5285232"/>
            <a:ext cx="11057839" cy="822960"/>
          </a:xfrm>
          <a:prstGeom prst="roundRect">
            <a:avLst>
              <a:gd name="adj" fmla="val 9000"/>
            </a:avLst>
          </a:prstGeom>
          <a:solidFill>
            <a:srgbClr val="F6E7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ectangle 36"/>
          <p:cNvSpPr/>
          <p:nvPr/>
        </p:nvSpPr>
        <p:spPr>
          <a:xfrm>
            <a:off x="566928" y="5285232"/>
            <a:ext cx="50292" cy="822960"/>
          </a:xfrm>
          <a:prstGeom prst="rect">
            <a:avLst/>
          </a:prstGeom>
          <a:solidFill>
            <a:srgbClr val="E982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932688" y="5285232"/>
            <a:ext cx="10326319" cy="822960"/>
          </a:xfrm>
          <a:prstGeom prst="rect">
            <a:avLst/>
          </a:prstGeom>
          <a:noFill/>
        </p:spPr>
        <p:txBody>
          <a:bodyPr wrap="square" lIns="0" rIns="0" tIns="0" bIns="0" anchor="ctr">
            <a:spAutoFit/>
          </a:bodyPr>
          <a:lstStyle/>
          <a:p>
            <a:pPr algn="l">
              <a:lnSpc>
                <a:spcPct val="132000"/>
              </a:lnSpc>
              <a:spcBef>
                <a:spcPts val="0"/>
              </a:spcBef>
              <a:spcAft>
                <a:spcPts val="0"/>
              </a:spcAft>
            </a:pPr>
            <a:r>
              <a:rPr sz="1250" b="1" i="0">
                <a:solidFill>
                  <a:srgbClr val="B9573E"/>
                </a:solidFill>
                <a:latin typeface="Segoe UI"/>
              </a:rPr>
              <a:t>KIỂM TRA NHANH  </a:t>
            </a:r>
            <a:r>
              <a:rPr sz="1250" b="0" i="0">
                <a:solidFill>
                  <a:srgbClr val="173A3A"/>
                </a:solidFill>
                <a:latin typeface="Segoe UI"/>
              </a:rPr>
              <a:t>Vì sao cùng một cơn mưa mà hôm nay lại ngập sâu hơn mười năm trước? Hãy trả lời bằng ít nhất ba ý trong bài.</a:t>
            </a:r>
          </a:p>
        </p:txBody>
      </p:sp>
      <p:sp>
        <p:nvSpPr>
          <p:cNvPr id="39" name="TextBox 38"/>
          <p:cNvSpPr txBox="1"/>
          <p:nvPr/>
        </p:nvSpPr>
        <p:spPr>
          <a:xfrm>
            <a:off x="566928" y="6391656"/>
            <a:ext cx="6400800" cy="237744"/>
          </a:xfrm>
          <a:prstGeom prst="rect">
            <a:avLst/>
          </a:prstGeom>
          <a:noFill/>
        </p:spPr>
        <p:txBody>
          <a:bodyPr wrap="square" lIns="0" rIns="0" tIns="0" bIns="0" anchor="t">
            <a:spAutoFit/>
          </a:bodyPr>
          <a:lstStyle/>
          <a:p>
            <a:pPr algn="l">
              <a:lnSpc>
                <a:spcPct val="120000"/>
              </a:lnSpc>
              <a:spcBef>
                <a:spcPts val="0"/>
              </a:spcBef>
              <a:spcAft>
                <a:spcPts val="0"/>
              </a:spcAft>
            </a:pPr>
            <a:r>
              <a:rPr sz="850" b="0" i="0" spc="60">
                <a:solidFill>
                  <a:srgbClr val="8AA3A1"/>
                </a:solidFill>
                <a:latin typeface="Segoe UI"/>
              </a:rPr>
              <a:t>GIÁO DỤC ĐỊA PHƯƠNG 10 · CHỦ ĐỀ 1 · BIẾN ĐỔI KHÍ HẬU Ở TP. HỒ CHÍ MINH</a:t>
            </a:r>
          </a:p>
        </p:txBody>
      </p:sp>
      <p:sp>
        <p:nvSpPr>
          <p:cNvPr id="40" name="TextBox 39"/>
          <p:cNvSpPr txBox="1"/>
          <p:nvPr/>
        </p:nvSpPr>
        <p:spPr>
          <a:xfrm>
            <a:off x="9613087" y="6391656"/>
            <a:ext cx="2011680" cy="237744"/>
          </a:xfrm>
          <a:prstGeom prst="rect">
            <a:avLst/>
          </a:prstGeom>
          <a:noFill/>
        </p:spPr>
        <p:txBody>
          <a:bodyPr wrap="square" lIns="0" rIns="0" tIns="0" bIns="0" anchor="t">
            <a:spAutoFit/>
          </a:bodyPr>
          <a:lstStyle/>
          <a:p>
            <a:pPr algn="r">
              <a:lnSpc>
                <a:spcPct val="120000"/>
              </a:lnSpc>
              <a:spcBef>
                <a:spcPts val="0"/>
              </a:spcBef>
              <a:spcAft>
                <a:spcPts val="0"/>
              </a:spcAft>
            </a:pPr>
            <a:r>
              <a:rPr sz="850" b="0" i="0" spc="60">
                <a:solidFill>
                  <a:srgbClr val="8AA3A1"/>
                </a:solidFill>
                <a:latin typeface="Segoe UI"/>
              </a:rPr>
              <a:t>20 / 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