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thiệu: hôm nay lớp là 'đội truyền thông xanh' của thành phố. Bài 1–4 đã biết khí hậu, biến đổi khí hậu, thiên tai; bài 5 trả lời: làm gì và nói sao để mọi người cùng làm.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Gọi 2–3 em chia sẻ. Dẫn vào: một chiến dịch nhớ được thường ngắn, có nhịp, kêu gọi việc làm được ngay — sẽ quay lại ở mục 'Thông điệp tốt'.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Đáp án (slide kế): 1 GT, 2 TƯ, 3 GT, 4 TƯ, 5 GT, 6 TƯ, 7 GT, 8 TƯ.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Phiếu học tập Bài 5 (Phần IV–V) cho các nhóm. Nhóm 1 và 4 có thể dùng Xưởng thông điệp để làm nháp.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Đáp án: 1-B; 2-C; 3-B.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B4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046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E4A23B"/>
                </a:solidFill>
                <a:latin typeface="Segoe UI"/>
              </a:rPr>
              <a:t>GIÁO DỤC ĐỊA PHƯƠNG 10  ·  CHỦ ĐỀ 1  ·  BÀI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170432"/>
            <a:ext cx="822960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TRUYỀN THÔNG GIẢM KHÍ NHÀ KÍNH</a:t>
            </a:r>
          </a:p>
          <a:p>
            <a:pPr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VÀ ỨNG PHÓ BIẾN ĐỔI KHÍ HẬU</a:t>
            </a:r>
          </a:p>
          <a:p>
            <a:pPr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Ở THÀNH PHỐ HỒ CHÍ MINH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4164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DDE8E4"/>
                </a:solidFill>
                <a:latin typeface="Segoe UI"/>
              </a:rPr>
              <a:t>Biết về biến đổi khí hậu thôi chưa đủ — phải nói sao cho người khác hiểu, tin và cùng hành động.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956048"/>
            <a:ext cx="2514600" cy="932688"/>
          </a:xfrm>
          <a:prstGeom prst="rect">
            <a:avLst/>
          </a:prstGeom>
          <a:solidFill>
            <a:srgbClr val="1B4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956048"/>
            <a:ext cx="2514600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E4A23B"/>
                </a:solidFill>
                <a:latin typeface="Segoe UI"/>
              </a:rPr>
              <a:t>2050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DDE8E4"/>
                </a:solidFill>
                <a:latin typeface="Segoe UI"/>
              </a:rPr>
              <a:t>Việt Nam phát thải ròng bằng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448" y="4956048"/>
            <a:ext cx="2514600" cy="932688"/>
          </a:xfrm>
          <a:prstGeom prst="rect">
            <a:avLst/>
          </a:prstGeom>
          <a:solidFill>
            <a:srgbClr val="1B4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4956048"/>
            <a:ext cx="2514600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E4A23B"/>
                </a:solidFill>
                <a:latin typeface="Segoe UI"/>
              </a:rPr>
              <a:t>19,7 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DDE8E4"/>
                </a:solidFill>
                <a:latin typeface="Segoe UI"/>
              </a:rPr>
              <a:t>Metro số 1 Bến Thành – Suối Tiên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4956048"/>
            <a:ext cx="2514600" cy="932688"/>
          </a:xfrm>
          <a:prstGeom prst="rect">
            <a:avLst/>
          </a:prstGeom>
          <a:solidFill>
            <a:srgbClr val="1B4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4956048"/>
            <a:ext cx="2514600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E4A23B"/>
                </a:solidFill>
                <a:latin typeface="Segoe UI"/>
              </a:rPr>
              <a:t>9–10 nghìn tấn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DDE8E4"/>
                </a:solidFill>
                <a:latin typeface="Segoe UI"/>
              </a:rPr>
              <a:t>Rác sinh hoạt mỗi ngày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4956048"/>
            <a:ext cx="2514600" cy="932688"/>
          </a:xfrm>
          <a:prstGeom prst="rect">
            <a:avLst/>
          </a:prstGeom>
          <a:solidFill>
            <a:srgbClr val="1B4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4956048"/>
            <a:ext cx="2514600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E4A23B"/>
                </a:solidFill>
                <a:latin typeface="Segoe UI"/>
              </a:rPr>
              <a:t>5 bước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DDE8E4"/>
                </a:solidFill>
                <a:latin typeface="Segoe UI"/>
              </a:rPr>
              <a:t>Làm một chiến dịch truyền thông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30936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>
                <a:solidFill>
                  <a:srgbClr val="AFC4BE"/>
                </a:solidFill>
                <a:latin typeface="Segoe UI"/>
              </a:rPr>
              <a:t>GV: TĂNG NGỌC PHỤNG  ·  THPT NGUYỄN KHUYẾN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Sau bài học, học sinh làm được bốn việc dưới đây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91640"/>
            <a:ext cx="259689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45720" cy="329184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173A2C"/>
                </a:solidFill>
                <a:latin typeface="Segoe UI"/>
              </a:rPr>
              <a:t>Giải thích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2139696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Hiệu ứng nhà kính và các khí nhà kính chính; kể được nguồn phát thải ở TP.HCM.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1691640"/>
            <a:ext cx="259689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2424" y="1691640"/>
            <a:ext cx="45720" cy="329184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87452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130552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173A2C"/>
                </a:solidFill>
                <a:latin typeface="Segoe UI"/>
              </a:rPr>
              <a:t>Phân biệt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514600"/>
            <a:ext cx="2139696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Giảm thiểu (cắt giảm khí nhà kính) và thích ứng (giảm thiệt hại); lấy ví dụ cho từng hướng.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259689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45720" cy="329184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87452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30552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173A2C"/>
                </a:solidFill>
                <a:latin typeface="Segoe UI"/>
              </a:rPr>
              <a:t>Trình bày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14600"/>
            <a:ext cx="2139696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Năm bước làm một chiến dịch truyền thông và tiêu chí của một thông điệp tốt.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5" y="1691640"/>
            <a:ext cx="259689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5" y="1691640"/>
            <a:ext cx="45720" cy="329184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7" y="187452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7" y="2130552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173A2C"/>
                </a:solidFill>
                <a:latin typeface="Segoe UI"/>
              </a:rPr>
              <a:t>Vận dụng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7" y="2514600"/>
            <a:ext cx="2139696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Thiết kế thông điệp / sản phẩm truyền thông kêu gọi người xung quanh sống xanh.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39496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9496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Tiết học gồm: Khởi động → Phần A (hiểu đúng) → Phần B (truyền thông) → Xưởng thông điệp → Hoạt động nhóm → Trò chơi.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Hai phút suy nghĩ – chia sẻ cặp đôi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110550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64008" cy="237744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2000" b="1">
                <a:solidFill>
                  <a:srgbClr val="173A2C"/>
                </a:solidFill>
                <a:latin typeface="Segoe UI"/>
              </a:rPr>
              <a:t>Em đã từng thấy một khẩu hiệu, video hay chiến dịch nào kêu gọi bảo vệ môi trường?</a:t>
            </a:r>
          </a:p>
          <a:p>
            <a:pPr>
              <a:lnSpc>
                <a:spcPct val="125000"/>
              </a:lnSpc>
            </a:pPr>
            <a:r>
              <a:rPr sz="2000" b="1">
                <a:solidFill>
                  <a:srgbClr val="173A2C"/>
                </a:solidFill>
                <a:latin typeface="Segoe UI"/>
              </a:rPr>
              <a:t>Ví dụ: Giờ Trái Đất, “Nói không với túi ni-lông”…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29768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297680"/>
            <a:ext cx="45720" cy="137160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CÂU HỎI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3659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Điều gì khiến em NHỚ nó?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29768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4297680"/>
            <a:ext cx="45720" cy="137160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448056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3E86A6"/>
                </a:solidFill>
                <a:latin typeface="Segoe UI"/>
              </a:rPr>
              <a:t>CÂU HỎI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473659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Em có LÀM THEO không? Vì sao?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01 · Hiệu ứng nhà kính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Phần A — Hiểu đúng để nói đúng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PHẦN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45720" cy="192024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CƠ CHẾ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Nhà kính của Trái Đất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4937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Ánh nắng xuyên qua khí quyển làm nóng mặt đất; mặt đất toả nhiệt ngược lên. Khí nhà kính giữ lại một phần nhiệt đó, như lớp kính nhà trồng cây.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60020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1600200"/>
            <a:ext cx="45720" cy="192024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7830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3E86A6"/>
                </a:solidFill>
                <a:latin typeface="Segoe UI"/>
              </a:rPr>
              <a:t>KHÍ NHÀ KÍNH CHÍNH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039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CO₂ · CH₄ · N₂O · HFC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23160"/>
            <a:ext cx="4937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CO₂ (cacbonic), CH₄ (mê-tan), N₂O (nitơ ôxit), HFC trong máy lạnh, tủ lạnh.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49039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749039"/>
            <a:ext cx="45720" cy="201168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TỰ NHIÊN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8795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Giúp Trái Đất đủ ấm để sống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493776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Hiệu ứng nhà kính tự nhiên là cần thiết cho sự sống.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7064" y="3749039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3749039"/>
            <a:ext cx="45720" cy="2011680"/>
          </a:xfrm>
          <a:prstGeom prst="rect">
            <a:avLst/>
          </a:prstGeom>
          <a:solidFill>
            <a:srgbClr val="B5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393192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B5533A"/>
                </a:solidFill>
                <a:latin typeface="Segoe UI"/>
              </a:rPr>
              <a:t>KHI QUÁ MỨC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18795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Thải quá nhiều → nóng lên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4572000"/>
            <a:ext cx="493776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Nhiệt bị giữ lại nhiều hơn → Trái Đất nóng lên → biến đổi khí hậu (Bài 2–3) và thiên tai dữ dội hơn (Bài 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02 · Khí nhà kính ở TP.HCM đến từ đâu?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Thành phố đông dân, nhiều hoạt động kinh tế nhất cả nước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PHẦN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21031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2103120" cy="4572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3E86A6"/>
                </a:solidFill>
                <a:latin typeface="Segoe UI"/>
              </a:rPr>
              <a:t>GIAO THÔNG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30552"/>
            <a:ext cx="16459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Xe máy, ô tô chạy xăng dầu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0632"/>
            <a:ext cx="164591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4C6B5E"/>
                </a:solidFill>
                <a:latin typeface="Segoe UI"/>
              </a:rPr>
              <a:t>Hàng triệu phương tiện; kẹt xe giờ cao điểm đốt thêm nhiên liệu.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434840"/>
            <a:ext cx="1005840" cy="310896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CO₂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8064" y="1691640"/>
            <a:ext cx="21031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8064" y="1691640"/>
            <a:ext cx="2103120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4096" y="187452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ĐIỆN NĂNG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2130552"/>
            <a:ext cx="16459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Điện từ than, khí đốt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2770632"/>
            <a:ext cx="164591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4C6B5E"/>
                </a:solidFill>
                <a:latin typeface="Segoe UI"/>
              </a:rPr>
              <a:t>Máy lạnh, đèn, thiết bị dùng hoang phí.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4096" y="4434840"/>
            <a:ext cx="1005840" cy="310896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4096" y="443484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CO₂ · HFC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691640"/>
            <a:ext cx="21031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691640"/>
            <a:ext cx="2103120" cy="45720"/>
          </a:xfrm>
          <a:prstGeom prst="rect">
            <a:avLst/>
          </a:prstGeom>
          <a:solidFill>
            <a:srgbClr val="4C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5232" y="187452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4C6B5E"/>
                </a:solidFill>
                <a:latin typeface="Segoe UI"/>
              </a:rPr>
              <a:t>CÔNG NGHIỆP – XÂY DỰNG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2130552"/>
            <a:ext cx="16459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Nhà máy, khu chế xuất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2770632"/>
            <a:ext cx="164591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4C6B5E"/>
                </a:solidFill>
                <a:latin typeface="Segoe UI"/>
              </a:rPr>
              <a:t>Sản xuất xi măng, thép, vật liệu xây dựng.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85232" y="4434840"/>
            <a:ext cx="1005840" cy="310896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443484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CO₂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0336" y="1691640"/>
            <a:ext cx="21031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0336" y="1691640"/>
            <a:ext cx="2103120" cy="45720"/>
          </a:xfrm>
          <a:prstGeom prst="rect">
            <a:avLst/>
          </a:prstGeom>
          <a:solidFill>
            <a:srgbClr val="B5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187452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B5533A"/>
                </a:solidFill>
                <a:latin typeface="Segoe UI"/>
              </a:rPr>
              <a:t>RÁC THẢI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2130552"/>
            <a:ext cx="16459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9–10 nghìn tấn mỗi ngày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2770632"/>
            <a:ext cx="164591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4C6B5E"/>
                </a:solidFill>
                <a:latin typeface="Segoe UI"/>
              </a:rPr>
              <a:t>Phần lớn chôn lấp → phân huỷ sinh khí mê-tan.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8" y="4434840"/>
            <a:ext cx="1005840" cy="310896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8" y="443484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CH₄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91472" y="1691640"/>
            <a:ext cx="21031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91472" y="1691640"/>
            <a:ext cx="2103120" cy="4572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47503" y="1874520"/>
            <a:ext cx="16459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MẤT CÂY XANH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47503" y="2130552"/>
            <a:ext cx="16459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Bê tông hoá, san lấp kênh rạch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7503" y="2770632"/>
            <a:ext cx="164591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4C6B5E"/>
                </a:solidFill>
                <a:latin typeface="Segoe UI"/>
              </a:rPr>
              <a:t>Giảm “bể chứa” hấp thụ CO₂, tăng đảo nhiệt đô thị.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47503" y="4434840"/>
            <a:ext cx="1005840" cy="310896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47503" y="443484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CO₂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44068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44068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THẢO LUẬN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544068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Em hãy kể: một ngày của em tạo ra khí nhà kính ở những khâu nào? (đi lại, dùng điện, rác…)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03 · Hai hướng ứng phó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Thành phố cần làm cả hai: giảm thiểu để không xấu thêm, thích ứng để bảo vệ người dân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PHẦN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53949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5394960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28800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1">
                <a:solidFill>
                  <a:srgbClr val="2F8F5A"/>
                </a:solidFill>
                <a:latin typeface="Segoe UI"/>
              </a:rPr>
              <a:t>GIẢM THIỂU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03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Cắt giảm khí nhà kính — “chữa tận gốc”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5176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173A2C"/>
                </a:solidFill>
                <a:latin typeface="Segoe UI"/>
              </a:rPr>
              <a:t>·  Đi Metro số 1, xe buýt điện, xe đạp thay xe cá nhân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73A2C"/>
                </a:solidFill>
                <a:latin typeface="Segoe UI"/>
              </a:rPr>
              <a:t>·  Tiết kiệm điện, đèn LED, điện mặt trời áp mái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73A2C"/>
                </a:solidFill>
                <a:latin typeface="Segoe UI"/>
              </a:rPr>
              <a:t>·  Phân loại rác tại nguồn, giảm nhựa dùng một lần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73A2C"/>
                </a:solidFill>
                <a:latin typeface="Segoe UI"/>
              </a:rPr>
              <a:t>·  Trồng và giữ cây xanh, mảng xanh đô thị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600200"/>
            <a:ext cx="53949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1600200"/>
            <a:ext cx="5394960" cy="64008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828800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1">
                <a:solidFill>
                  <a:srgbClr val="3E86A6"/>
                </a:solidFill>
                <a:latin typeface="Segoe UI"/>
              </a:rPr>
              <a:t>THÍCH ỨNG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103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Sống chung, giảm thiệt hại — “phòng thân”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65176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173A2C"/>
                </a:solidFill>
                <a:latin typeface="Segoe UI"/>
              </a:rPr>
              <a:t>·  Xây cống ngăn triều, nâng bờ bao, hồ điều tiết chống ngập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73A2C"/>
                </a:solidFill>
                <a:latin typeface="Segoe UI"/>
              </a:rPr>
              <a:t>·  Bảo vệ rừng ngập mặn Cần Giờ — “lá chắn xanh”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73A2C"/>
                </a:solidFill>
                <a:latin typeface="Segoe UI"/>
              </a:rPr>
              <a:t>·  Chọn giống cây, vật nuôi chịu mặn, chịu hạn ở vùng ven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73A2C"/>
                </a:solidFill>
                <a:latin typeface="Segoe UI"/>
              </a:rPr>
              <a:t>·  Theo dõi cảnh báo sớm, lịch triều cường; kế hoạch sơ tán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44068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GHI NHỚ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44068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Có việc vừa giảm thiểu vừa thích ứng — như trồng rừng ngập mặn (hấp thụ CO₂ và chắn sóng).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Thẻ nhanh: giảm thiểu hay thích ứng?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Cả lớp giơ tay đoán — giảm thiểu (bớt khí nhà kính) hay thích ứng (giảm thiệt hại)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PHẦN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THẺ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Thay bóng đèn cũ bằng đèn LED ở lớp học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164592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2424" y="164592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82880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THẺ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1488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Lắp trạm bơm, cống ngăn triều ở khu hay ngập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82880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THẺ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1488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Đi chung xe, đạp xe hoặc đi xe buýt đến trường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415" y="164592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3415" y="164592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7" y="182880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THẺ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7" y="21488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Làm hồ điều tiết, công viên thấm nước mưa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61188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61188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9476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THẺ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1480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Thu khí mê-tan ở bãi rác để phát điện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2424" y="361188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92424" y="361188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48456" y="379476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THẺ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8456" y="411480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Chuyển sang nuôi trồng loài chịu mặn ở Cần Giờ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61188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61188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79476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THẺ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11480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Để máy lạnh từ 26°C trở lên, tắt khi ra khỏi phòng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3415" y="361188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3415" y="361188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9447" y="379476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THẺ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7" y="411480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73A2C"/>
                </a:solidFill>
                <a:latin typeface="Segoe UI"/>
              </a:rPr>
              <a:t>Lập kế hoạch sơ tán trước mùa mưa bão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Đáp án thẻ nhanh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Xen kẽ giảm thiểu – thích ứng; hỏi thêm “vì sao?” với mỗi thẻ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PHẦN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2596896" cy="4572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GIẢM THIỂU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Thay bóng đèn cũ bằng đèn LED ở lớp học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164592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2424" y="1645920"/>
            <a:ext cx="2596896" cy="4572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82880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3E86A6"/>
                </a:solidFill>
                <a:latin typeface="Segoe UI"/>
              </a:rPr>
              <a:t>THÍCH ỨNG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1488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Lắp trạm bơm, cống ngăn triều ở khu hay ngập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596896" cy="4572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82880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GIẢM THIỂU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1488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Đi chung xe, đạp xe hoặc đi xe buýt đến trường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415" y="164592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3415" y="1645920"/>
            <a:ext cx="2596896" cy="4572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7" y="182880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3E86A6"/>
                </a:solidFill>
                <a:latin typeface="Segoe UI"/>
              </a:rPr>
              <a:t>THÍCH ỨNG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7" y="21488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Làm hồ điều tiết, công viên thấm nước mưa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61188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611880"/>
            <a:ext cx="2596896" cy="4572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9476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GIẢM THIỂU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1480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Thu khí mê-tan ở bãi rác để phát điện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2424" y="361188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92424" y="3611880"/>
            <a:ext cx="2596896" cy="4572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48456" y="379476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3E86A6"/>
                </a:solidFill>
                <a:latin typeface="Segoe UI"/>
              </a:rPr>
              <a:t>THÍCH ỨNG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8456" y="411480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Chuyển sang nuôi trồng loài chịu mặn ở Cần Giờ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61188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611880"/>
            <a:ext cx="2596896" cy="4572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79476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GIẢM THIỂU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11480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Để máy lạnh từ 26°C trở lên, tắt khi ra khỏi phòng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3415" y="3611880"/>
            <a:ext cx="259689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3415" y="3611880"/>
            <a:ext cx="2596896" cy="4572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9447" y="379476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3E86A6"/>
                </a:solidFill>
                <a:latin typeface="Segoe UI"/>
              </a:rPr>
              <a:t>THÍCH ỨNG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7" y="411480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4C6B5E"/>
                </a:solidFill>
                <a:latin typeface="Segoe UI"/>
              </a:rPr>
              <a:t>Lập kế hoạch sơ tán trước mùa mưa bão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66928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66928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MẸO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566928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Mẹo nhớ: GIẢM THIỂU = bớt khí thải ở nguồn;  THÍCH ỨNG = chuẩn bị để bớt thiệt hại khi nó đã xảy 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04 · Truyền thông là gì? Vì sao cần?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Phần B — Nói sao cho mọi người cùng làm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PHẦN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11055096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45720" cy="132588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5978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ĐỊNH NGHĨA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10597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173A2C"/>
                </a:solidFill>
                <a:latin typeface="Segoe UI"/>
              </a:rPr>
              <a:t>Truyền thông: chia sẻ thông tin, ý tưởng để người nghe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957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8A5A12"/>
                </a:solidFill>
                <a:latin typeface="Segoe UI"/>
              </a:rPr>
              <a:t>hiểu  →  thay đổi suy nghĩ  →  thay đổi hành 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15468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54680"/>
            <a:ext cx="45720" cy="233172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VÌ SAO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9359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Đổi thói quen số đông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40"/>
            <a:ext cx="3108960" cy="1399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Phần lớn khí nhà kính đến từ thói quen hằng ngày của hàng triệu người; một thông điệp tốt khiến cả khu phố cùng đổi.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315468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3154680"/>
            <a:ext cx="45720" cy="233172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3375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3E86A6"/>
                </a:solidFill>
                <a:latin typeface="Segoe UI"/>
              </a:rPr>
              <a:t>VÌ SAO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9359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Giúp người dân tự bảo vệ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77640"/>
            <a:ext cx="3108960" cy="1399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Biết xem lịch triều cường, phòng sốc nhiệt, chuẩn bị khi có bão.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5864" y="315468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5864" y="3154680"/>
            <a:ext cx="45720" cy="2331720"/>
          </a:xfrm>
          <a:prstGeom prst="rect">
            <a:avLst/>
          </a:prstGeom>
          <a:solidFill>
            <a:srgbClr val="B5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33375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B5533A"/>
                </a:solidFill>
                <a:latin typeface="Segoe UI"/>
              </a:rPr>
              <a:t>CHIẾN DỊCH QUEN THUỘC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359359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Ở TP.HCM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3977640"/>
            <a:ext cx="3108960" cy="1399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4C6B5E"/>
                </a:solidFill>
                <a:latin typeface="Segoe UI"/>
              </a:rPr>
              <a:t>Giờ Trái Đất (tắt đèn 1 giờ tối thứ Bảy cuối tháng 3), Ngày Chủ nhật xanh, phân loại rác tại nguồn, tuyên truyền đi Metro, xe buýt điện.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76072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HỎI NHANH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76072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Chiến dịch nào ở trên em đã tham gia hoặc từng thấy? Nó dùng kênh nào?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05 · Năm bước làm một chiến dịch truyền thông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Đi đủ năm bước thì thông điệp mới đến đúng người, đúng lúc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PHẦN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2103120" cy="77724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3736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BƯỚC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14600"/>
            <a:ext cx="2103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514600"/>
            <a:ext cx="2103120" cy="4572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16459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173A2C"/>
                </a:solidFill>
                <a:latin typeface="Segoe UI"/>
              </a:rPr>
              <a:t>Tìm hiểu vấn đề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81528"/>
            <a:ext cx="1645919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Vấn đề gì? Nguyên nhân? Số liệu, nguồn tin đáng tin cậy.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8064" y="1737360"/>
            <a:ext cx="2103120" cy="77724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173736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BƯỚC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8064" y="2514600"/>
            <a:ext cx="2103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8064" y="2514600"/>
            <a:ext cx="2103120" cy="4572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697480"/>
            <a:ext cx="16459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173A2C"/>
                </a:solidFill>
                <a:latin typeface="Segoe UI"/>
              </a:rPr>
              <a:t>Chọn đối tượng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081528"/>
            <a:ext cx="1645919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Nói với ai? Họ quan tâm điều gì, thường xem gì?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737360"/>
            <a:ext cx="2103120" cy="77724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173736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BƯỚC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514600"/>
            <a:ext cx="2103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2514600"/>
            <a:ext cx="2103120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5232" y="2697480"/>
            <a:ext cx="16459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173A2C"/>
                </a:solidFill>
                <a:latin typeface="Segoe UI"/>
              </a:rPr>
              <a:t>Thiết kế thông điệp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3337560"/>
            <a:ext cx="1645919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Một ý chính, ngắn gọn, kêu gọi một hành động cụ thể.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0336" y="1737360"/>
            <a:ext cx="2103120" cy="777240"/>
          </a:xfrm>
          <a:prstGeom prst="rect">
            <a:avLst/>
          </a:prstGeom>
          <a:solidFill>
            <a:srgbClr val="B5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173736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BƯỚC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0336" y="2514600"/>
            <a:ext cx="2103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0336" y="2514600"/>
            <a:ext cx="2103120" cy="45720"/>
          </a:xfrm>
          <a:prstGeom prst="rect">
            <a:avLst/>
          </a:prstGeom>
          <a:solidFill>
            <a:srgbClr val="B5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2697480"/>
            <a:ext cx="16459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173A2C"/>
                </a:solidFill>
                <a:latin typeface="Segoe UI"/>
              </a:rPr>
              <a:t>Chọn kênh &amp; lan toả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3337560"/>
            <a:ext cx="1645919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Poster, video ngắn, loa phường, ngày hội… đúng nơi đối tượng hay có mặt.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91472" y="1737360"/>
            <a:ext cx="2103120" cy="777240"/>
          </a:xfrm>
          <a:prstGeom prst="rect">
            <a:avLst/>
          </a:prstGeom>
          <a:solidFill>
            <a:srgbClr val="4C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74351" y="173736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BƯỚC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91472" y="2514600"/>
            <a:ext cx="2103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91472" y="2514600"/>
            <a:ext cx="2103120" cy="45720"/>
          </a:xfrm>
          <a:prstGeom prst="rect">
            <a:avLst/>
          </a:prstGeom>
          <a:solidFill>
            <a:srgbClr val="4C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47503" y="2697480"/>
            <a:ext cx="16459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1">
                <a:solidFill>
                  <a:srgbClr val="173A2C"/>
                </a:solidFill>
                <a:latin typeface="Segoe UI"/>
              </a:rPr>
              <a:t>Đánh giá kết quả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7503" y="3081528"/>
            <a:ext cx="1645919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Bao nhiêu người biết, làm theo? Rút kinh nghiệm cho lần sau.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48640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48640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VÍ DỤ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48640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Ví dụ xuyên suốt: chiến dịch “Tắt một bóng đèn – Thêm một phần xanh” cho học sinh toàn trường.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06 · Một thông điệp tốt trông thế nào?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Năm tiêu chí — cũng là bảng kiểm khi chấm sản phẩm của nhóm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PHẦN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5212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45720" cy="64008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173A2C"/>
                </a:solidFill>
                <a:latin typeface="Segoe UI"/>
              </a:rPr>
              <a:t>Ngắn gọn, dễ nhớ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4C6B5E"/>
                </a:solidFill>
                <a:latin typeface="Segoe UI"/>
              </a:rPr>
              <a:t>Đọc một lần là nhớ; nên có vần, nhịp.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13432"/>
            <a:ext cx="5212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313432"/>
            <a:ext cx="45720" cy="64008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591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173A2C"/>
                </a:solidFill>
                <a:latin typeface="Segoe UI"/>
              </a:rPr>
              <a:t>Đúng khoa học, có nguồn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4C6B5E"/>
                </a:solidFill>
                <a:latin typeface="Segoe UI"/>
              </a:rPr>
              <a:t>Số liệu từ cơ quan nhà nước, báo chí chính thống.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26664"/>
            <a:ext cx="5212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026664"/>
            <a:ext cx="45720" cy="64008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723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173A2C"/>
                </a:solidFill>
                <a:latin typeface="Segoe UI"/>
              </a:rPr>
              <a:t>Một hành động cụ thể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649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4C6B5E"/>
                </a:solidFill>
                <a:latin typeface="Segoe UI"/>
              </a:rPr>
              <a:t>Người nghe làm được ngay.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39896"/>
            <a:ext cx="5212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739896"/>
            <a:ext cx="45720" cy="64008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8561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173A2C"/>
                </a:solidFill>
                <a:latin typeface="Segoe UI"/>
              </a:rPr>
              <a:t>Tích cực, truyền cảm hứng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7822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4C6B5E"/>
                </a:solidFill>
                <a:latin typeface="Segoe UI"/>
              </a:rPr>
              <a:t>Không hù doạ, không đổ lỗi.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453128"/>
            <a:ext cx="5212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453128"/>
            <a:ext cx="45720" cy="64008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988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173A2C"/>
                </a:solidFill>
                <a:latin typeface="Segoe UI"/>
              </a:rPr>
              <a:t>Hợp đối tượng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914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4C6B5E"/>
                </a:solidFill>
                <a:latin typeface="Segoe UI"/>
              </a:rPr>
              <a:t>Nói với học sinh khác với người cao tuổi.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600200"/>
            <a:ext cx="55869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600200"/>
            <a:ext cx="45720" cy="1600200"/>
          </a:xfrm>
          <a:prstGeom prst="rect">
            <a:avLst/>
          </a:prstGeom>
          <a:solidFill>
            <a:srgbClr val="B5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1783080"/>
            <a:ext cx="5129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B5533A"/>
                </a:solidFill>
                <a:latin typeface="Segoe UI"/>
              </a:rPr>
              <a:t>✗ CHƯA HIỆU QUẢ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10312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“Biến đổi khí hậu là hiện tượng nghiêm trọng do phát thải khí nhà kính gây ra, chúng ta cần nâng cao nhận thức!”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383280"/>
            <a:ext cx="55869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3383280"/>
            <a:ext cx="45720" cy="160020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3566160"/>
            <a:ext cx="5129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✓ HIỆU QUẢ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862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173A2C"/>
                </a:solidFill>
                <a:latin typeface="Segoe UI"/>
              </a:rPr>
              <a:t>“Tắt một bóng đèn – Thêm một phần xanh”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Ngắn, có nhịp, chỉ ra đúng một việc làm được ngay.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25780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25780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TỈNH TÁO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525780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Trước khi chia sẻ tin về khí hậu: Ai đưa tin? Có nguồn không? Có giật gân quá không? Không lan truyền tin chưa kiểm chứng.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>
                <a:solidFill>
                  <a:srgbClr val="4C6B5E"/>
                </a:solidFill>
                <a:latin typeface="Segoe UI"/>
              </a:rPr>
              <a:t>Kênh gợi ý:  Poster, infographic  ·  Video ngắn  ·  Loa phát thanh  ·  Tiểu phẩm  ·  Podcast  ·  Ngày hội, triển lãm  ·  Nhóm Zalo, fanpage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Xưởng thông điệp: thiết kế poster của lớp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Làm trực tiếp trên trang bài giảng — 5 lựa chọn, poster cập nhật ngay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XƯỞNG THÔNG ĐIỆP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56692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640080" cy="64008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002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Nói với ai?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31720"/>
            <a:ext cx="56692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331720"/>
            <a:ext cx="640080" cy="64008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3317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3317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Kêu gọi hành động gì?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63240"/>
            <a:ext cx="56692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063240"/>
            <a:ext cx="640080" cy="64008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63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Khẩu hiệu (≤ 12 chữ)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94760"/>
            <a:ext cx="56692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794760"/>
            <a:ext cx="640080" cy="64008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794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947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Kênh truyền thông (chọn 1–3)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526280"/>
            <a:ext cx="56692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526280"/>
            <a:ext cx="640080" cy="64008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526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5262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Tên lớp / nhóm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600200"/>
            <a:ext cx="512978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1600200"/>
            <a:ext cx="45720" cy="356616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1783080"/>
            <a:ext cx="46725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BẢNG KIỂM CẢ LỚP CÙNG XÁC NHẬN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2039112"/>
            <a:ext cx="4672584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4C6B5E"/>
                </a:solidFill>
                <a:latin typeface="Segoe UI"/>
              </a:rPr>
              <a:t>✓  Ngắn gọn: khẩu hiệu không quá 12 chữ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4C6B5E"/>
                </a:solidFill>
                <a:latin typeface="Segoe UI"/>
              </a:rPr>
              <a:t>✓  Kêu gọi một hành động cụ thể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4C6B5E"/>
                </a:solidFill>
                <a:latin typeface="Segoe UI"/>
              </a:rPr>
              <a:t>✓  Kênh truyền thông hợp với đối tượng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4C6B5E"/>
                </a:solidFill>
                <a:latin typeface="Segoe UI"/>
              </a:rPr>
              <a:t>✓  Thông tin đúng, có nguồn đáng tin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4C6B5E"/>
                </a:solidFill>
                <a:latin typeface="Segoe UI"/>
              </a:rPr>
              <a:t>✓  Tích cực, không hù doạ, không đổ lỗi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48640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48640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THỰC HÀNH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48640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Mở bài giảng → mục “Xưởng thông điệp” → in poster ra giấy A4 và dán lên bảng lớp.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Hoạt động nhóm: bốn đội truyền thông xanh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15 phút làm, 2 phút trình bày; các nhóm khác chấm theo bảng kiểm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NHÓM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2596896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051560" cy="29260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8A5A12"/>
                </a:solidFill>
                <a:latin typeface="Segoe UI"/>
              </a:rPr>
              <a:t>NHÓM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Đội poster – infographic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Đối tượng: học sinh trong trường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>
                <a:solidFill>
                  <a:srgbClr val="4C6B5E"/>
                </a:solidFill>
                <a:latin typeface="Segoe UI"/>
              </a:rPr>
              <a:t>Poster A3 / infographic kêu gọi đi xe đạp, xe buýt, Metro đến trường; có ít nhất một số liệu kèm nguồn.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2424" y="1600200"/>
            <a:ext cx="2596896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2424" y="160020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8456" y="1828800"/>
            <a:ext cx="1051560" cy="29260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182880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8A5A12"/>
                </a:solidFill>
                <a:latin typeface="Segoe UI"/>
              </a:rPr>
              <a:t>NHÓM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28600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Đội video ngắn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80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Đối tượng: bạn bè trên mạng xã hội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456" y="338328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>
                <a:solidFill>
                  <a:srgbClr val="4C6B5E"/>
                </a:solidFill>
                <a:latin typeface="Segoe UI"/>
              </a:rPr>
              <a:t>Kịch bản video 30–60 giây cho thử thách “7 ngày sống xanh” (tiết kiệm điện, nói không với ống hút nhựa…).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600200"/>
            <a:ext cx="2596896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0020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3952" y="1828800"/>
            <a:ext cx="1051560" cy="29260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82880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8A5A12"/>
                </a:solidFill>
                <a:latin typeface="Segoe UI"/>
              </a:rPr>
              <a:t>NHÓM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28600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Đội phát thanh khu phố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2880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Đối tượng: người dân, người cao tuổi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38328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>
                <a:solidFill>
                  <a:srgbClr val="4C6B5E"/>
                </a:solidFill>
                <a:latin typeface="Segoe UI"/>
              </a:rPr>
              <a:t>Bản tin loa phường khoảng 1 phút: phòng sốc nhiệt mùa nắng nóng và theo dõi lịch triều cường.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3415" y="1600200"/>
            <a:ext cx="2596896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3415" y="1600200"/>
            <a:ext cx="259689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99447" y="1828800"/>
            <a:ext cx="1051560" cy="29260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7" y="182880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8A5A12"/>
                </a:solidFill>
                <a:latin typeface="Segoe UI"/>
              </a:rPr>
              <a:t>NHÓM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7" y="228600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Đội ngày hội xanh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7" y="2880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Đối tượng: toàn trường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7" y="338328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>
                <a:solidFill>
                  <a:srgbClr val="4C6B5E"/>
                </a:solidFill>
                <a:latin typeface="Segoe UI"/>
              </a:rPr>
              <a:t>Kế hoạch “Ngày hội sống xanh”: hoạt động (đổi giấy vụn lấy cây, phân loại rác…), thời gian, người phụ trách, cách đo kết quả.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44068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44068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CHẤM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544068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Chấm nhanh (10 điểm): đúng vấn đề, có nguồn 2đ · đúng đối tượng 2đ · thông điệp ngắn, hành động cụ thể 3đ · kênh phù hợp, sáng tạo 2đ · cách đánh giá kết quả 1đ.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Trò chơi ôn tập: Chiến dịch Sài Gòn Xanh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Ba màn chơi không trắc nghiệm — mở trò chơi trên trang bài giảng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4C6B5E"/>
                </a:solidFill>
                <a:latin typeface="Segoe UI"/>
              </a:rPr>
              <a:t>TRÒ CHƠI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35570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3557016" cy="4572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MÀN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3055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173A2C"/>
                </a:solidFill>
                <a:latin typeface="Segoe UI"/>
              </a:rPr>
              <a:t>Phân loại tính giờ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3099816" cy="1810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4C6B5E"/>
                </a:solidFill>
                <a:latin typeface="Segoe UI"/>
              </a:rPr>
              <a:t>Xếp việc làm vào giảm thiểu hoặc thích ứng trước khi hết giờ.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91640"/>
            <a:ext cx="35570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691640"/>
            <a:ext cx="3557016" cy="4572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2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3E86A6"/>
                </a:solidFill>
                <a:latin typeface="Segoe UI"/>
              </a:rPr>
              <a:t>MÀN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3055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173A2C"/>
                </a:solidFill>
                <a:latin typeface="Segoe UI"/>
              </a:rPr>
              <a:t>Nối đối tượng với kênh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099816" cy="1810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4C6B5E"/>
                </a:solidFill>
                <a:latin typeface="Segoe UI"/>
              </a:rPr>
              <a:t>Nối đúng người nhận thông điệp với kênh truyền thông hợp nhất.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7" y="1691640"/>
            <a:ext cx="35570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7" y="1691640"/>
            <a:ext cx="3557016" cy="4572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187452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E4A23B"/>
                </a:solidFill>
                <a:latin typeface="Segoe UI"/>
              </a:rPr>
              <a:t>MÀN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13055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173A2C"/>
                </a:solidFill>
                <a:latin typeface="Segoe UI"/>
              </a:rPr>
              <a:t>Điều hành chiến dịch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2514600"/>
            <a:ext cx="3099816" cy="1810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4C6B5E"/>
                </a:solidFill>
                <a:latin typeface="Segoe UI"/>
              </a:rPr>
              <a:t>Tự phân bổ ngân sách có hạn cho các bước của chiến dịch.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84632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4632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LUẬT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84632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Cách chơi: chia lớp 4 đội, mỗi màn mỗi đội cử một đại diện; cộng điểm đội trên bảng. Đội cao điểm nhất nhận danh hiệu “Đại sứ Sài Gòn Xanh”.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Năm ý chính cần chép vào vở trước khi rời lớp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509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45720" cy="777240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Hiệu ứng nhà kính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55448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Khí nhà kính (CO₂, CH₄, N₂O…) giữ nhiệt; con người thải quá nhiều làm Trái Đất nóng lên.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23160"/>
            <a:ext cx="1105509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423160"/>
            <a:ext cx="45720" cy="777240"/>
          </a:xfrm>
          <a:prstGeom prst="rect">
            <a:avLst/>
          </a:prstGeom>
          <a:solidFill>
            <a:srgbClr val="3E8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Nguồn phát thải ở TP.HCM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Giao thông, điện năng, công nghiệp – xây dựng, rác thải chôn lấp, mất cây xanh.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91839"/>
            <a:ext cx="1105509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291839"/>
            <a:ext cx="45720" cy="777240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91839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Hai hướng ứng phó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291839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Giảm thiểu (cắt giảm khí nhà kính) và thích ứng (giảm thiệt hại) — làm song song.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60520"/>
            <a:ext cx="1105509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160520"/>
            <a:ext cx="45720" cy="777240"/>
          </a:xfrm>
          <a:prstGeom prst="rect">
            <a:avLst/>
          </a:prstGeom>
          <a:solidFill>
            <a:srgbClr val="B5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Truyền thông 5 bước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16052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Tìm hiểu vấn đề → chọn đối tượng → thiết kế thông điệp → chọn kênh, lan toả → đánh giá.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029200"/>
            <a:ext cx="1105509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029200"/>
            <a:ext cx="45720" cy="777240"/>
          </a:xfrm>
          <a:prstGeom prst="rect">
            <a:avLst/>
          </a:prstGeom>
          <a:solidFill>
            <a:srgbClr val="4C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2920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73A2C"/>
                </a:solidFill>
                <a:latin typeface="Segoe UI"/>
              </a:rPr>
              <a:t>Thông điệp tốt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02920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Ngắn gọn, đúng khoa học, có nguồn, tích cực, một hành động cụ thể, hợp đối tượng; không lan truyền tin chưa kiểm chứng.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E4A23B"/>
                </a:solidFill>
                <a:latin typeface="Segoe U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73A2C"/>
                </a:solidFill>
                <a:latin typeface="Segoe UI"/>
              </a:rPr>
              <a:t>Kiểm tra nhanh &amp; nhiệm vụ về nhà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4C6B5E"/>
                </a:solidFill>
                <a:latin typeface="Segoe UI"/>
              </a:rPr>
              <a:t>Ba câu hỏi — giơ bảng A, B, 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68580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45720" cy="987552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173A2C"/>
                </a:solidFill>
                <a:latin typeface="Segoe UI"/>
              </a:rPr>
              <a:t>Câu 1. Khí nào sinh ra nhiều từ rác thải chôn lấp?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4C6B5E"/>
                </a:solidFill>
                <a:latin typeface="Segoe UI"/>
              </a:rPr>
              <a:t>A. CO₂     B. CH₄     C. N₂O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51760"/>
            <a:ext cx="68580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651760"/>
            <a:ext cx="45720" cy="987552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173A2C"/>
                </a:solidFill>
                <a:latin typeface="Segoe UI"/>
              </a:rPr>
              <a:t>Câu 2. Trồng và bảo vệ rừng ngập mặn Cần Giờ thuộc hướng nào?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4C6B5E"/>
                </a:solidFill>
                <a:latin typeface="Segoe UI"/>
              </a:rPr>
              <a:t>A. Chỉ giảm thiểu     B. Chỉ thích ứng     C. Cả hai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749039"/>
            <a:ext cx="68580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749039"/>
            <a:ext cx="45720" cy="987552"/>
          </a:xfrm>
          <a:prstGeom prst="rect">
            <a:avLst/>
          </a:prstGeom>
          <a:solidFill>
            <a:srgbClr val="E4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4047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173A2C"/>
                </a:solidFill>
                <a:latin typeface="Segoe UI"/>
              </a:rPr>
              <a:t>Câu 3. Bước ĐẦU TIÊN của một chiến dịch truyền thông là gì?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5195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4C6B5E"/>
                </a:solidFill>
                <a:latin typeface="Segoe UI"/>
              </a:rPr>
              <a:t>A. Chọn kênh     B. Tìm hiểu vấn đề     C. Thiết kế poster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554480"/>
            <a:ext cx="3941063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3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554480"/>
            <a:ext cx="45720" cy="3182112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1737360"/>
            <a:ext cx="34838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8F5A"/>
                </a:solidFill>
                <a:latin typeface="Segoe UI"/>
              </a:rPr>
              <a:t>VỀ NHÀ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1993391"/>
            <a:ext cx="348386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73A2C"/>
                </a:solidFill>
                <a:latin typeface="Segoe UI"/>
              </a:rPr>
              <a:t>Thử thách “Thông điệp xanh”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2377439"/>
            <a:ext cx="3483863" cy="2249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4C6B5E"/>
                </a:solidFill>
                <a:latin typeface="Segoe UI"/>
              </a:rPr>
              <a:t>Chọn một thói quen của gia đình có thể giảm khí nhà kính; viết khẩu hiệu ≤ 12 chữ + một hành động cụ thể; thử làm 3 ngày và ghi lại kết quả.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212080"/>
            <a:ext cx="11055096" cy="566928"/>
          </a:xfrm>
          <a:prstGeom prst="rect">
            <a:avLst/>
          </a:prstGeom>
          <a:solidFill>
            <a:srgbClr val="F8E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CHUẨN BỊ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21208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173A2C"/>
                </a:solidFill>
                <a:latin typeface="Segoe UI"/>
              </a:rPr>
              <a:t>Chuẩn bị bài 6: hỏi ông bà, cha mẹ gia đình mình cúng giỗ vào những dịp nào.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