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bài bằng bức ảnh: hỏi nhanh 'đêm có triều cường, nhà em hay đường em đi học có bị ngập không?'. Nối với Bài 2–3: ta đã biết khí hậu đổi khác thế nào và vì sao; hôm nay trả lời câu hỏi 'vậy thì sao — nó gây ra hậu quả gì cho thành phố và cho chính mình?'.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nhanh bốn mục tiêu. Nhấn mạnh mục tiêu 04: cuối giờ mỗi em phải kể được một chuỗi tác động có thật ở khu phố mình, không chỉ học thuộc.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Tổng 45 phút. Hoạt động nhóm là trọng tâm (20 phút). Nếu thiếu thời gian, rút gọn phần báo cáo còn 1 phút/nhóm.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1–2 phút video. Ghi nhanh các câu trả lời lên bảng thành ba cột nhưng CHƯA đặt tên cột (tự nhiên / kinh tế / xã hội). Đến Phần B mới đặt tên — học sinh sẽ thấy mình đã tự phân loại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phần. Gợi ý nhóm thiên tai theo bốn 'nguồn': nước (ngập, triều, mặn), nhiệt (nắng nóng, hạn), đất (sạt lở), gió (dông lốc, bão).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cần học thuộc tháng; chỉ cần nhớ mùa mưa – ngập &amp; triều, mùa khô – nắng nóng &amp; mặn. Hỏi: 'Thiên tai nào em gặp nhiều nhất?' — thường là ngập và nắng nóng.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ý: thiên tai thì thành phố vốn đã có, nhưng biến đổi khí hậu làm nó dày, mạnh và khó đoán hơn; cộng thêm hơn chục triệu dân sống dày đặc nên cùng một trận mưa, thiệt hại lớn hơn nhiều so với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Quay lại ba cột trên bảng từ phần khởi động và đặt tên: Tự nhiên – Kinh tế – Xã hội. Học sinh đã tự phân loại gần đúng.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vì sao mặn ở sông lại liên quan đến vòi nước nhà em? — Nhà máy nước lấy nước thô từ sông; khi độ mặn vượt ngưỡng phải ngừng hoặc giảm bơm. Rừng ngập mặn Cần Giờ vừa bị tác động vừa là lá chắn giảm tác động (gợi mở bài sau).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mở: 'Nếu không phải chi 10.000 tỷ cho chống ngập, thành phố có thể xây bao nhiêu trường học?' — giúp học sinh hiểu tác động kinh tế không chỉ là thiệt hại trực tiếp mà còn là cơ hội bị mất.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Mời 1–2 học sinh kể trải nghiệm thật (lội nước đi học, mất điện, người thân say nắng). Video gợi ý: 'Nắng nóng gay gắt, mưu sinh nhọc nhằn giữa trưa gần 38 độ ở TP.HCM' (youtube.com/watch?v=yEbw7m4XS_A).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thảo luận nhanh: 'Trong gia đình em, ai là người dễ bị tổn thương nhất khi có nắng nóng? Em có thể làm gì cho người đó?' — chuẩn bị cho phần vận dụng.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học sinh đọc chuỗi từ trái sang phải, rồi mời 2–3 em bổ sung bước 6. Nhấn: một thiên tai đi qua cả ba lĩnh vực — đó là lí do gọi là 'vòng sóng'.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sánh với chuỗi 1: ngập thì ai cũng thấy, còn mặn là thiên tai 'im lặng'. Hỏi: nhóm người dễ tổn thương nào (slide 12) sẽ chịu nặng nhất trong chuỗi này?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ÁN — Tự nhiên: 3, 6, 9, 12. Kinh tế: 1, 4, 7, 10. Xã hội: 2, 5, 8, 11. Lưu ý thảo luận: nhiều tác động chạm tới hai lĩnh vực (VD thẻ 1 vừa kinh tế vừa là đất bị nhiễm mặn) — chấp nhận nếu học sinh lập luận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phiếu học tập. Mỗi nhóm cử thư kí và người báo cáo. Gợi ý video cho Nhóm 1 và 4: 'Sạt lở tại TP.HCM kỳ 1: Người đã di cư, người nặng lòng ở lại!' (Báo Thanh Niên, youtube.com/watch?v=lBsAf5gw79Y).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dẫn bên phải để mở video. Nên kiểm tra kết nối mạng và tua sẵn đoạn cần chiếu trước giờ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học sinh chép sáu ý vào vở. Có thể dùng trang bài giảng trên web (mục Ghi nhớ) để học sinh xem lại ở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ÁN: Câu 1 – B; Câu 2 – C; Câu 3 – B. Nhiệm vụ về nhà nối trực tiếp sang bài phòng, chống thiên tai.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otUYNCrMulw" TargetMode="External"/><Relationship Id="rId3" Type="http://schemas.openxmlformats.org/officeDocument/2006/relationships/hyperlink" Target="https://www.youtube.com/watch?v=lBsAf5gw79Y" TargetMode="External"/><Relationship Id="rId4" Type="http://schemas.openxmlformats.org/officeDocument/2006/relationships/hyperlink" Target="https://www.youtube.com/watch?v=yEbw7m4XS_A" TargetMode="External"/><Relationship Id="rId5" Type="http://schemas.openxmlformats.org/officeDocument/2006/relationships/hyperlink" Target="https://www.youtube.com/watch?v=Xt6RAY5Y9FU" TargetMode="Externa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321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0467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E9825B"/>
                </a:solidFill>
                <a:latin typeface="Segoe UI"/>
              </a:rPr>
              <a:t>GIÁO DỤC ĐỊA PHƯƠNG 10  ·  CHỦ ĐỀ 1  ·  BÀI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170432"/>
            <a:ext cx="822960" cy="411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100" b="1">
                <a:solidFill>
                  <a:srgbClr val="FFF8EC"/>
                </a:solidFill>
                <a:latin typeface="Segoe UI"/>
              </a:rPr>
              <a:t>TÁC ĐỘNG CỦA THIÊN TAI</a:t>
            </a:r>
          </a:p>
          <a:p>
            <a:pPr algn="l">
              <a:lnSpc>
                <a:spcPct val="100000"/>
              </a:lnSpc>
            </a:pPr>
            <a:r>
              <a:rPr sz="4100" b="1">
                <a:solidFill>
                  <a:srgbClr val="FFF8EC"/>
                </a:solidFill>
                <a:latin typeface="Segoe UI"/>
              </a:rPr>
              <a:t>VÀ BIẾN ĐỔI KHÍ HẬU</a:t>
            </a:r>
          </a:p>
          <a:p>
            <a:pPr algn="l">
              <a:lnSpc>
                <a:spcPct val="100000"/>
              </a:lnSpc>
            </a:pPr>
            <a:r>
              <a:rPr sz="4100" b="1">
                <a:solidFill>
                  <a:srgbClr val="E9825B"/>
                </a:solidFill>
                <a:latin typeface="Segoe UI"/>
              </a:rPr>
              <a:t>Ở THÀNH PHỐ HỒ CHÍ MINH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41648"/>
            <a:ext cx="740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5E4E1"/>
                </a:solidFill>
                <a:latin typeface="Segoe UI"/>
              </a:rPr>
              <a:t>Một đêm triều cường không chỉ làm ướt con đường — nó làm xe chết máy, cửa hàng đóng cửa, học sinh đến lớp muộn. Bài học lần theo những “vòng sóng” lan ra từ mỗi trận thiên tai.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956048"/>
            <a:ext cx="2514600" cy="93268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956048"/>
            <a:ext cx="2514600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FFF8EC"/>
                </a:solidFill>
                <a:latin typeface="Segoe UI"/>
              </a:rPr>
              <a:t>1,78m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AFC5C2"/>
                </a:solidFill>
                <a:latin typeface="Segoe UI"/>
              </a:rPr>
              <a:t>Đỉnh triều kỷ lục 11/2025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4956048"/>
            <a:ext cx="2514600" cy="93268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4956048"/>
            <a:ext cx="2514600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FFF8EC"/>
                </a:solidFill>
                <a:latin typeface="Segoe UI"/>
              </a:rPr>
              <a:t>35–37°C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AFC5C2"/>
                </a:solidFill>
                <a:latin typeface="Segoe UI"/>
              </a:rPr>
              <a:t>Nắng nóng cao điểm mùa khô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4956048"/>
            <a:ext cx="2514600" cy="93268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4956048"/>
            <a:ext cx="2514600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FFF8EC"/>
                </a:solidFill>
                <a:latin typeface="Segoe UI"/>
              </a:rPr>
              <a:t>~10.000 tỷ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AFC5C2"/>
                </a:solidFill>
                <a:latin typeface="Segoe UI"/>
              </a:rPr>
              <a:t>Dự án chống ngập do triều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4956048"/>
            <a:ext cx="2514600" cy="93268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4956048"/>
            <a:ext cx="2514600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FFF8EC"/>
                </a:solidFill>
                <a:latin typeface="Segoe UI"/>
              </a:rPr>
              <a:t>3 lĩnh vực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AFC5C2"/>
                </a:solidFill>
                <a:latin typeface="Segoe UI"/>
              </a:rPr>
              <a:t>Tự nhiên · Kinh tế · Xã hội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236208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AFC5C2"/>
                </a:solidFill>
                <a:latin typeface="Segoe UI"/>
              </a:rPr>
              <a:t>GV: TĂNG NGỌC PHỤNG  ·  THPT NGUYỄN KHUYẾN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015" y="623620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AFC5C2"/>
                </a:solidFill>
                <a:latin typeface="Segoe UI"/>
              </a:rPr>
              <a:t>Ảnh: mây dông phủ trên sông Sài Gòn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Sau bài học, học sinh có thể làm được bốn việc dưới đây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173A3A"/>
                </a:solidFill>
                <a:latin typeface="Segoe UI"/>
              </a:rPr>
              <a:t>Nhận diện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Kể tên các loại thiên tai thường gặp ở Thành phố Hồ Chí Minh và mùa xuất hiện của chúng.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3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63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89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9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173A3A"/>
                </a:solidFill>
                <a:latin typeface="Segoe UI"/>
              </a:rPr>
              <a:t>Phân tích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Trình bày tác động của thiên tai và biến đổi khí hậu đến tự nhiên, kinh tế, xã hội của thành phố.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7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83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3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173A3A"/>
                </a:solidFill>
                <a:latin typeface="Segoe UI"/>
              </a:rPr>
              <a:t>Nhìn thấy con người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Chỉ ra những nhóm người dễ bị tổn thương nhất và giải thích vì sao.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173A3A"/>
                </a:solidFill>
                <a:latin typeface="Segoe UI"/>
              </a:rPr>
              <a:t>Liên hệ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Vẽ được chuỗi tác động của một thiên tai từng xảy ra ở nơi em sống và nêu cách giảm thiệt hại.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Lộ trình tiết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Năm chặng — em luôn biết mình đang ở đâu trong bài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029968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2029968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103120"/>
            <a:ext cx="640080" cy="64008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B9573E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240280"/>
            <a:ext cx="92996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E9825B"/>
                </a:solidFill>
                <a:latin typeface="Segoe UI"/>
              </a:rPr>
              <a:t>4'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17520"/>
            <a:ext cx="148132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KHỞI ĐỘNG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474720"/>
            <a:ext cx="1481328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611880"/>
            <a:ext cx="1481328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Một đêm triều cường: ai bị ảnh hưởng, mất những gì?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3896" y="1828800"/>
            <a:ext cx="2029968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3896" y="1828800"/>
            <a:ext cx="2029968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216" y="2103120"/>
            <a:ext cx="640080" cy="64008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821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B9573E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9736" y="2240280"/>
            <a:ext cx="92996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E9825B"/>
                </a:solidFill>
                <a:latin typeface="Segoe UI"/>
              </a:rPr>
              <a:t>5'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8216" y="3017520"/>
            <a:ext cx="148132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PHẦN 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8216" y="3474720"/>
            <a:ext cx="1481328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8216" y="3611880"/>
            <a:ext cx="1481328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Thành phố thường gặp những thiên tai nào?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0864" y="1828800"/>
            <a:ext cx="2029968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0864" y="1828800"/>
            <a:ext cx="2029968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55184" y="2103120"/>
            <a:ext cx="640080" cy="64008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518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B9573E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6704" y="2240280"/>
            <a:ext cx="92996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E9825B"/>
                </a:solidFill>
                <a:latin typeface="Segoe UI"/>
              </a:rPr>
              <a:t>12'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5184" y="3017520"/>
            <a:ext cx="148132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PHẦN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55184" y="3474720"/>
            <a:ext cx="1481328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55184" y="3611880"/>
            <a:ext cx="1481328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Tác động đến tự nhiên, kinh tế, xã hội và chuỗi domino.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37832" y="1828800"/>
            <a:ext cx="2029968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37832" y="1828800"/>
            <a:ext cx="2029968" cy="4572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12152" y="2103120"/>
            <a:ext cx="640080" cy="64008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2152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B9573E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3672" y="2240280"/>
            <a:ext cx="92996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E9825B"/>
                </a:solidFill>
                <a:latin typeface="Segoe UI"/>
              </a:rPr>
              <a:t>20'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2152" y="3017520"/>
            <a:ext cx="148132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HOẠT ĐỘNG NHÓM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12152" y="3474720"/>
            <a:ext cx="1481328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2152" y="3611880"/>
            <a:ext cx="1481328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Bốn đội đánh giá thiệt hại: 12' làm phiếu + 8' báo cáo.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94800" y="1828800"/>
            <a:ext cx="2029968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94800" y="1828800"/>
            <a:ext cx="2029968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69120" y="2103120"/>
            <a:ext cx="640080" cy="64008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6912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B9573E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0640" y="2240280"/>
            <a:ext cx="92996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E9825B"/>
                </a:solidFill>
                <a:latin typeface="Segoe UI"/>
              </a:rPr>
              <a:t>4'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9120" y="3017520"/>
            <a:ext cx="1481328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TỔNG KẾT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69120" y="3474720"/>
            <a:ext cx="1481328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69120" y="3611880"/>
            <a:ext cx="1481328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Ghi nhớ, kiểm tra nhanh và nhiệm vụ về nhà.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Khởi động: một đêm triều cường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Xem đoạn video ngắn rồi trả lời ba câu hỏi — dựa vào những gì em thấy và từng trải qua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3974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45720" cy="27432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95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21992"/>
            <a:ext cx="2954528" cy="20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73A3A"/>
                </a:solidFill>
                <a:latin typeface="Segoe UI"/>
              </a:rPr>
              <a:t>Ai bị ảnh hưởng?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Trong video, em thấy những ai gặp khó khăn? Người đi đường, người bán hàng, học sinh, người già…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128" y="1691640"/>
            <a:ext cx="353974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6128" y="1691640"/>
            <a:ext cx="45720" cy="27432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8736" y="1947672"/>
            <a:ext cx="295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8736" y="2221992"/>
            <a:ext cx="2954528" cy="20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73A3A"/>
                </a:solidFill>
                <a:latin typeface="Segoe UI"/>
              </a:rPr>
              <a:t>Họ mất những gì?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Thời gian, tiền bạc, sức khoẻ, đồ đạc… Hãy kể càng nhiều loại “mất mát” càng tốt.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5328" y="1691640"/>
            <a:ext cx="353974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5328" y="1691640"/>
            <a:ext cx="45720" cy="27432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7936" y="1947672"/>
            <a:ext cx="295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7936" y="2221992"/>
            <a:ext cx="2954528" cy="20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73A3A"/>
                </a:solidFill>
                <a:latin typeface="Segoe UI"/>
              </a:rPr>
              <a:t>Có ai giống mình không?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Em hoặc người thân đã từng gặp tình huống tương tự chưa? Chuyện gì đã xảy ra?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09160"/>
            <a:ext cx="11058144" cy="868680"/>
          </a:xfrm>
          <a:prstGeom prst="roundRect">
            <a:avLst>
              <a:gd name="adj" fmla="val 6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10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9573E"/>
                </a:solidFill>
                <a:latin typeface="Segoe UI"/>
              </a:rPr>
              <a:t>VIDEO GỢI Ý  </a:t>
            </a:r>
            <a:r>
              <a:rPr sz="1250" b="1">
                <a:solidFill>
                  <a:srgbClr val="173A3A"/>
                </a:solidFill>
                <a:latin typeface="Segoe UI"/>
              </a:rPr>
              <a:t>Toàn cảnh TP.HCM ngập sâu do triều cường vượt mốc lịch sử, cuộc sống người dân đảo lộn — Tin24h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youtube.com/watch?v=otUYNCrMulw  ·  chiếu khoảng 2 phút đầu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E9825B"/>
                </a:solidFill>
                <a:latin typeface="Segoe UI"/>
              </a:rPr>
              <a:t>PHẦN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810512"/>
            <a:ext cx="822960" cy="411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9500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FFF8EC"/>
                </a:solidFill>
                <a:latin typeface="Segoe UI"/>
              </a:rPr>
              <a:t>Thành phố thường gặp</a:t>
            </a:r>
          </a:p>
          <a:p>
            <a:pPr algn="l">
              <a:lnSpc>
                <a:spcPct val="100000"/>
              </a:lnSpc>
            </a:pPr>
            <a:r>
              <a:rPr sz="3700" b="1">
                <a:solidFill>
                  <a:srgbClr val="FFF8EC"/>
                </a:solidFill>
                <a:latin typeface="Segoe UI"/>
              </a:rPr>
              <a:t>những thiên tai nào?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22191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FB8B5"/>
                </a:solidFill>
                <a:latin typeface="Segoe UI"/>
              </a:rPr>
              <a:t>Tám loại thiên tai “quen mặt” — biến đổi khí hậu khiến chúng đến dày hơn, mạnh hơn và khó đoán hơn.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800600"/>
            <a:ext cx="2599867" cy="841248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800600"/>
            <a:ext cx="41148" cy="8412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800600"/>
            <a:ext cx="214266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01  Nước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6251" y="4800600"/>
            <a:ext cx="2599867" cy="841248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6251" y="4800600"/>
            <a:ext cx="41148" cy="8412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0571" y="4800600"/>
            <a:ext cx="214266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02  Nhiệt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4" y="4800600"/>
            <a:ext cx="2599867" cy="841248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4" y="4800600"/>
            <a:ext cx="41148" cy="8412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894" y="4800600"/>
            <a:ext cx="214266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03  Đất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4897" y="4800600"/>
            <a:ext cx="2599867" cy="841248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24897" y="4800600"/>
            <a:ext cx="41148" cy="8412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217" y="4800600"/>
            <a:ext cx="214266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04  Gió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Tám thiên tai thường gặp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Mỗi loại có “mùa” riêng — biết trước mùa là bước đầu để phòng tránh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45720" cy="160020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013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2F8F8A"/>
                </a:solidFill>
                <a:latin typeface="Segoe UI"/>
              </a:rPr>
              <a:t>NƯỚC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Mưa lớn – ngập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Mùa mưa, tháng 5 –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9376" y="16002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9376" y="1600200"/>
            <a:ext cx="45720" cy="160020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408" y="18013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2F8F8A"/>
                </a:solidFill>
                <a:latin typeface="Segoe UI"/>
              </a:rPr>
              <a:t>NƯỚC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408" y="20756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Triều cường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5408" y="26060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Cao điểm cuối năm, tháng 9 – 12 âm lịch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1824" y="16002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1824" y="1600200"/>
            <a:ext cx="45720" cy="160020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7856" y="18013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2F8F8A"/>
                </a:solidFill>
                <a:latin typeface="Segoe UI"/>
              </a:rPr>
              <a:t>NƯỚC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856" y="20756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Xâm nhập mặn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856" y="26060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Mùa khô, tháng 2 –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6002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4272" y="1600200"/>
            <a:ext cx="45720" cy="1600200"/>
          </a:xfrm>
          <a:prstGeom prst="rect">
            <a:avLst/>
          </a:prstGeom>
          <a:solidFill>
            <a:srgbClr val="8A6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8013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8A6A3C"/>
                </a:solidFill>
                <a:latin typeface="Segoe UI"/>
              </a:rPr>
              <a:t>ĐẤT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0756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Sạt lở bờ sông, bờ biển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6060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Quanh năm, mạnh khi triều cường, mưa lũ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290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429000"/>
            <a:ext cx="45720" cy="16002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6301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E9825B"/>
                </a:solidFill>
                <a:latin typeface="Segoe UI"/>
              </a:rPr>
              <a:t>NHIỆT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044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Nắng nóng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4348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Tháng 3 – 5, có ngày 35 – 37°C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9376" y="34290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9376" y="3429000"/>
            <a:ext cx="45720" cy="16002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45408" y="36301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E9825B"/>
                </a:solidFill>
                <a:latin typeface="Segoe UI"/>
              </a:rPr>
              <a:t>NHIỆT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45408" y="39044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Hạn hán cục bộ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5408" y="44348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Mùa khô ở vùng ven, ngoại thành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1824" y="34290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1824" y="3429000"/>
            <a:ext cx="45720" cy="1600200"/>
          </a:xfrm>
          <a:prstGeom prst="rect">
            <a:avLst/>
          </a:prstGeom>
          <a:solidFill>
            <a:srgbClr val="5B6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7856" y="36301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5B6F9A"/>
                </a:solidFill>
                <a:latin typeface="Segoe UI"/>
              </a:rPr>
              <a:t>GIÓ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7856" y="39044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Dông, lốc, sét, mưa đá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7856" y="44348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Đầu và cuối mùa mưa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4272" y="3429000"/>
            <a:ext cx="25938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34272" y="3429000"/>
            <a:ext cx="45720" cy="1600200"/>
          </a:xfrm>
          <a:prstGeom prst="rect">
            <a:avLst/>
          </a:prstGeom>
          <a:solidFill>
            <a:srgbClr val="5B6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0304" y="3630168"/>
            <a:ext cx="2173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5B6F9A"/>
                </a:solidFill>
                <a:latin typeface="Segoe UI"/>
              </a:rPr>
              <a:t>GIÓ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3904488"/>
            <a:ext cx="2173848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Bão, áp thấp nhiệt đới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4434840"/>
            <a:ext cx="2173848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Hiếm nhưng thiệt hại lớn, cuối năm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Biến đổi khí hậu “tiếp sức” cho thiên 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Nhắc lại Bài 2 – 3: nhiệt độ tăng, mưa cực đoan, nước biển dâng — và đây là hệ quả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39744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45720" cy="265176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95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DÀY HƠN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21992"/>
            <a:ext cx="2954528" cy="19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73A3A"/>
                </a:solidFill>
                <a:latin typeface="Segoe UI"/>
              </a:rPr>
              <a:t>Thường xuyên hơn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Triều cường vượt báo động 3 gần như năm nào cũng có; số ngày nắng nóng tăng.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128" y="1691640"/>
            <a:ext cx="3539744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6128" y="1691640"/>
            <a:ext cx="45720" cy="265176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8736" y="1947672"/>
            <a:ext cx="295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MẠNH HƠN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8736" y="2221992"/>
            <a:ext cx="2954528" cy="19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73A3A"/>
                </a:solidFill>
                <a:latin typeface="Segoe UI"/>
              </a:rPr>
              <a:t>Dữ dội hơn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Đỉnh triều liên tục lập kỷ lục: 1,68m (2013) → 1,77m (2019) → 1,78m (11/2025). Mưa trên 100mm chỉ trong 1 – 2 giờ.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5328" y="1691640"/>
            <a:ext cx="3539744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5328" y="1691640"/>
            <a:ext cx="45720" cy="265176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7936" y="1947672"/>
            <a:ext cx="2954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KHÓ ĐOÁN HƠN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7936" y="2221992"/>
            <a:ext cx="2954528" cy="19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73A3A"/>
                </a:solidFill>
                <a:latin typeface="Segoe UI"/>
              </a:rPr>
              <a:t>Bất thường hơn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Mùa mưa đến và kết thúc thất thường; bão có xu hướng dịch chuyển xuống phía Nam.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72000"/>
            <a:ext cx="11058144" cy="1005840"/>
          </a:xfrm>
          <a:prstGeom prst="roundRect">
            <a:avLst>
              <a:gd name="adj" fmla="val 6000"/>
            </a:avLst>
          </a:prstGeom>
          <a:solidFill>
            <a:srgbClr val="17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500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8EC"/>
                </a:solidFill>
                <a:latin typeface="Segoe UI"/>
              </a:rPr>
              <a:t>Thiên tai + biến đổi khí hậu + đô thị đông dân  </a:t>
            </a:r>
            <a:r>
              <a:rPr sz="1500" b="1">
                <a:solidFill>
                  <a:srgbClr val="E9825B"/>
                </a:solidFill>
                <a:latin typeface="Segoe UI"/>
              </a:rPr>
              <a:t>=  tác động bị nhân lên nhiều lần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E9825B"/>
                </a:solidFill>
                <a:latin typeface="Segoe UI"/>
              </a:rPr>
              <a:t>PHẦN 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810512"/>
            <a:ext cx="822960" cy="411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9500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FFF8EC"/>
                </a:solidFill>
                <a:latin typeface="Segoe UI"/>
              </a:rPr>
              <a:t>Tác động — vòng sóng</a:t>
            </a:r>
          </a:p>
          <a:p>
            <a:pPr algn="l">
              <a:lnSpc>
                <a:spcPct val="100000"/>
              </a:lnSpc>
            </a:pPr>
            <a:r>
              <a:rPr sz="3700" b="1">
                <a:solidFill>
                  <a:srgbClr val="FFF8EC"/>
                </a:solidFill>
                <a:latin typeface="Segoe UI"/>
              </a:rPr>
              <a:t>lan ra ba lĩnh vực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22191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9FB8B5"/>
                </a:solidFill>
                <a:latin typeface="Segoe UI"/>
              </a:rPr>
              <a:t>Như ném hòn đá xuống hồ: thiên tai là tâm, tác động lan dần từ tự nhiên sang kinh tế rồi tới đời sống mỗi người.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800600"/>
            <a:ext cx="3474720" cy="841248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800600"/>
            <a:ext cx="41148" cy="841248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800600"/>
            <a:ext cx="31000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01  Tự nhiên – môi trường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6928" y="4800600"/>
            <a:ext cx="3474720" cy="841248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6928" y="4800600"/>
            <a:ext cx="41148" cy="841248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248" y="4800600"/>
            <a:ext cx="31000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02  Kinh tế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6928" y="4800600"/>
            <a:ext cx="3474720" cy="841248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6928" y="4800600"/>
            <a:ext cx="41148" cy="841248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1248" y="4800600"/>
            <a:ext cx="31000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03  Xã hội – đời sống</a:t>
            </a:r>
          </a:p>
        </p:txBody>
      </p:sp>
      <p:sp>
        <p:nvSpPr>
          <p:cNvPr id="15" name="Oval 14"/>
          <p:cNvSpPr/>
          <p:nvPr/>
        </p:nvSpPr>
        <p:spPr>
          <a:xfrm>
            <a:off x="9006840" y="1371600"/>
            <a:ext cx="2560320" cy="2560320"/>
          </a:xfrm>
          <a:prstGeom prst="ellipse">
            <a:avLst/>
          </a:prstGeom>
          <a:noFill/>
          <a:ln w="19050">
            <a:solidFill>
              <a:srgbClr val="E9825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0" y="1691640"/>
            <a:ext cx="1920240" cy="1920240"/>
          </a:xfrm>
          <a:prstGeom prst="ellipse">
            <a:avLst/>
          </a:prstGeom>
          <a:noFill/>
          <a:ln w="19050">
            <a:solidFill>
              <a:srgbClr val="E4A2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6920" y="2011680"/>
            <a:ext cx="1280160" cy="1280160"/>
          </a:xfrm>
          <a:prstGeom prst="ellipse">
            <a:avLst/>
          </a:prstGeom>
          <a:noFill/>
          <a:ln w="19050">
            <a:solidFill>
              <a:srgbClr val="2F8F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2331720"/>
            <a:ext cx="640080" cy="640080"/>
          </a:xfrm>
          <a:prstGeom prst="ellipse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2331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800" b="1">
                <a:solidFill>
                  <a:srgbClr val="0E2726"/>
                </a:solidFill>
                <a:latin typeface="Segoe UI"/>
              </a:rPr>
              <a:t>THIÊN</a:t>
            </a:r>
          </a:p>
          <a:p>
            <a:pPr algn="ctr">
              <a:lnSpc>
                <a:spcPct val="90000"/>
              </a:lnSpc>
            </a:pPr>
            <a:r>
              <a:rPr sz="800" b="1">
                <a:solidFill>
                  <a:srgbClr val="0E2726"/>
                </a:solidFill>
                <a:latin typeface="Segoe UI"/>
              </a:rPr>
              <a:t>TAI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Tác động 1 — Tự nhiên và môi trường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Nước, đất và hệ sinh thái là những thứ “chịu đòn” đầu tiên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600200"/>
            <a:ext cx="3669792" cy="2446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0" y="4114800"/>
            <a:ext cx="3669792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6D6B"/>
                </a:solidFill>
                <a:latin typeface="Segoe UI"/>
              </a:rPr>
              <a:t>Rừng ngập mặn Cần Giờ — “lá chắn xanh” đang chịu sức ép từ nước biển dâng và xói lở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7132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45720" cy="141732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18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F8F8A"/>
                </a:solidFill>
                <a:latin typeface="Segoe UI"/>
              </a:rPr>
              <a:t>NGUỒN NƯỚC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57400"/>
            <a:ext cx="19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Nhiễm mặn và ô nhiễm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4572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Mùa khô, độ mặn tại các điểm lấy nước thô trên sông Sài Gòn – Đồng Nai có lúc vượt ngưỡng. Nước ngập cuốn rác, nước thải làm bẩn kênh rạch.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7132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00400"/>
            <a:ext cx="45720" cy="141732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83280"/>
            <a:ext cx="18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F8F8A"/>
                </a:solidFill>
                <a:latin typeface="Segoe UI"/>
              </a:rPr>
              <a:t>ĐẤT ĐAI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657600"/>
            <a:ext cx="19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Mất đất, đất thoái hoá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83280"/>
            <a:ext cx="4572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Sạt lở làm mất đất ven sông, ven biển; đất nông nghiệp vùng ven bị nhiễm mặn, nhiễm phèn.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00600"/>
            <a:ext cx="7132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800600"/>
            <a:ext cx="45720" cy="141732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983480"/>
            <a:ext cx="18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F8F8A"/>
                </a:solidFill>
                <a:latin typeface="Segoe UI"/>
              </a:rPr>
              <a:t>HỆ SINH THÁI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257800"/>
            <a:ext cx="19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Suy giảm, xáo trộn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983480"/>
            <a:ext cx="4572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6D6B"/>
                </a:solidFill>
                <a:latin typeface="Segoe UI"/>
              </a:rPr>
              <a:t>Rừng ngập mặn Cần Giờ bị sóng và nước dâng xâm thực; sinh vật thay đổi nơi sống; cây xanh đô thị gãy đổ sau dông lốc.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Tác động 2 —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Mỗi trận ngập, mỗi đợt nắng nóng đều có một “hoá đơn” mà cả thành phố phải trả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45720" cy="320040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F8F8A"/>
                </a:solidFill>
                <a:latin typeface="Segoe UI"/>
              </a:rPr>
              <a:t>NÔNG NGHIỆP – THUỶ SẢN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Mất mùa, mất vụ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Lúa, rau màu vùng ven thiệt hại vì mặn và hạn; tôm, cá nuôi ở Cần Giờ, Nhà Bè chết khi độ mặn, nhiệt độ nước thay đổi đột ngột.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3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6328" y="1691640"/>
            <a:ext cx="45720" cy="320040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89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4A23B"/>
                </a:solidFill>
                <a:latin typeface="Segoe UI"/>
              </a:rPr>
              <a:t>GIAO THÔNG – HẠ TẦNG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9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Tắc đường, hư hỏng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Đường ngập gây ùn tắc, xe chết máy; mặt đường, cống, bờ kè nhanh xuống cấp; sét và cây đổ gây mất điện.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7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83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SẢN XUẤT – DỊCH VỤ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3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Gián đoạn, giảm năng suất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Cửa hàng, nhà xưởng đóng cửa, hàng hoá hư hỏng; nắng nóng làm lao động giảm năng suất, điện tiêu thụ tăng vọt.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691640"/>
            <a:ext cx="45720" cy="3200400"/>
          </a:xfrm>
          <a:prstGeom prst="rect">
            <a:avLst/>
          </a:prstGeom>
          <a:solidFill>
            <a:srgbClr val="5B6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5B6F9A"/>
                </a:solidFill>
                <a:latin typeface="Segoe UI"/>
              </a:rPr>
              <a:t>NGÂN SÁCH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Chi phí khắc phục khổng lồ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Hàng chục nghìn tỷ đồng cho đê bao, cống ngăn triều, nâng đường — riêng dự án chống ngập do triều đã khoảng 10.000 tỷ.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Tác động 3 — Xã hội và đời sống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Cuối cùng, mọi tác động đều chạm tới con người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SỨC KHOẺ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Bệnh tật gia tăng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Nắng nóng gây say nắng, sốc nhiệt, làm nặng bệnh tim mạch – hô hấp. Sau ngập dễ bùng phát sốt xuất huyết, bệnh ngoài da, tiêu hoá.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3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63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89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AN TOÀN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9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Đe doạ tính mạng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Điện giật khi ngập, đuối nước, cây đổ, sét đánh; nhà ven sông có thể bị sạt lở cuốn trôi.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7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83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HỌC TẬP – SINH HOẠT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3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Cuộc sống đảo lộn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Học sinh lội nước, đến trường muộn hoặc nghỉ học; đồ đạc hư hỏng; nước sinh hoạt bị gián đoạn.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691640"/>
            <a:ext cx="259994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691640"/>
            <a:ext cx="45720" cy="32004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947672"/>
            <a:ext cx="2014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SINH KẾ – DI CƯ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221992"/>
            <a:ext cx="2014728" cy="25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73A3A"/>
                </a:solidFill>
                <a:latin typeface="Segoe UI"/>
              </a:rPr>
              <a:t>Mất thu nhập, mất nhà</a:t>
            </a:r>
          </a:p>
          <a:p>
            <a:pPr algn="l">
              <a:lnSpc>
                <a:spcPct val="112000"/>
              </a:lnSpc>
            </a:pPr>
            <a:r>
              <a:rPr sz="500" b="0">
                <a:solidFill>
                  <a:srgbClr val="173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Người buôn bán nhỏ, tài xế công nghệ mất thu nhập những ngày ngập; nhiều hộ ven sông phải di dời.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Ai chịu thiệt nặng nhất?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Thiên tai không “chia đều” thiệt hại — có những người khó ứng phó hơn hẳn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419344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057400"/>
            <a:ext cx="822960" cy="82296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B9573E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8" y="1965960"/>
            <a:ext cx="3819344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Người cao tuổi, trẻ nhỏ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2423160"/>
            <a:ext cx="3819344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Cơ thể khó thích nghi với nắng nóng, dễ mắc bệnh sau ngập.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728" y="1600200"/>
            <a:ext cx="5419344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0048" y="2057400"/>
            <a:ext cx="822960" cy="82296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48" y="20574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B9573E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1608" y="1965960"/>
            <a:ext cx="3819344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Lao động ngoài trời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1608" y="2423160"/>
            <a:ext cx="3819344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Shipper, công nhân xây dựng, người bán hàng rong — không thể “trốn nắng, tránh mưa”.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7016"/>
            <a:ext cx="5419344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014216"/>
            <a:ext cx="822960" cy="82296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01421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B9573E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3922776"/>
            <a:ext cx="3819344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Hộ ở vùng trũng, ven sông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4379976"/>
            <a:ext cx="3819344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Ngập thường xuyên nhất, trực tiếp đối mặt nguy cơ sạt lở.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5728" y="3557016"/>
            <a:ext cx="5419344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0048" y="4014216"/>
            <a:ext cx="822960" cy="822960"/>
          </a:xfrm>
          <a:prstGeom prst="ellipse">
            <a:avLst/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48" y="401421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B9573E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1608" y="3922776"/>
            <a:ext cx="3819344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Hộ thu nhập thấp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1608" y="4379976"/>
            <a:ext cx="3819344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6D6B"/>
                </a:solidFill>
                <a:latin typeface="Segoe UI"/>
              </a:rPr>
              <a:t>Ít điều kiện nâng nền, sửa nhà, mua bảo hiểm, chữa bệnh.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Chuỗi domino 1 — Mưa lớn gặp triều cường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Một trận mưa buổi chiều có thể kéo theo cả tuần khó khăn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566928" y="1828800"/>
            <a:ext cx="2304288" cy="1371600"/>
          </a:xfrm>
          <a:prstGeom prst="homePlate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6928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Mưa trên 100mm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trùng lúc đỉnh triều vượt báo động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6928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928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2F8F8A"/>
                </a:solidFill>
                <a:latin typeface="Segoe UI"/>
              </a:rPr>
              <a:t>TỰ NHIÊN</a:t>
            </a:r>
          </a:p>
        </p:txBody>
      </p:sp>
      <p:sp>
        <p:nvSpPr>
          <p:cNvPr id="10" name="Chevron 9"/>
          <p:cNvSpPr/>
          <p:nvPr/>
        </p:nvSpPr>
        <p:spPr>
          <a:xfrm>
            <a:off x="2752344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2344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Nước không thoát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cống quá tải, nước sông tràn bờ bao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2344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2344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2F8F8A"/>
                </a:solidFill>
                <a:latin typeface="Segoe UI"/>
              </a:rPr>
              <a:t>TỰ NHIÊN</a:t>
            </a:r>
          </a:p>
        </p:txBody>
      </p:sp>
      <p:sp>
        <p:nvSpPr>
          <p:cNvPr id="14" name="Chevron 13"/>
          <p:cNvSpPr/>
          <p:nvPr/>
        </p:nvSpPr>
        <p:spPr>
          <a:xfrm>
            <a:off x="4937760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7760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Đường ngập sâu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xe chết máy, ùn tắc hàng giờ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7760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8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7760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7A5210"/>
                </a:solidFill>
                <a:latin typeface="Segoe UI"/>
              </a:rPr>
              <a:t>KINH TẾ</a:t>
            </a:r>
          </a:p>
        </p:txBody>
      </p:sp>
      <p:sp>
        <p:nvSpPr>
          <p:cNvPr id="18" name="Chevron 17"/>
          <p:cNvSpPr/>
          <p:nvPr/>
        </p:nvSpPr>
        <p:spPr>
          <a:xfrm>
            <a:off x="7123176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3176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Cửa hàng đóng cửa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hàng hoá ngấm nước, mất thu nhập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3176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8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3176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7A5210"/>
                </a:solidFill>
                <a:latin typeface="Segoe UI"/>
              </a:rPr>
              <a:t>KINH TẾ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8592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8592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Dịch bệnh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FFF8EC"/>
                </a:solidFill>
                <a:latin typeface="Segoe UI"/>
              </a:rPr>
              <a:t>nước đọng, muỗi sinh sôi → sốt xuất huyết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8592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8592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B9573E"/>
                </a:solidFill>
                <a:latin typeface="Segoe UI"/>
              </a:rPr>
              <a:t>XÃ HỘI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40"/>
            <a:ext cx="1105814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206240"/>
            <a:ext cx="45720" cy="13716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389120"/>
            <a:ext cx="10400000" cy="10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BƯỚC 6 LÀ GÌ?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73A3A"/>
                </a:solidFill>
                <a:latin typeface="Segoe UI"/>
              </a:rPr>
              <a:t>Học sinh nghỉ học, phụ huynh nghỉ làm để chăm con ốm… — hãy tự kể tiếp chuỗi này theo trải nghiệm của 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Chuỗi domino 2 — Xâm nhập mặn mùa khô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Thiên tai “im lặng” — không ồn ào như ngập nhưng ảnh hưởng tới từng vòi nước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566928" y="1828800"/>
            <a:ext cx="2304288" cy="1371600"/>
          </a:xfrm>
          <a:prstGeom prst="homePlate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6928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Sông cạn, mặn lấn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nước biển theo sông Sài Gòn – Đồng Nai vào sâu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6928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928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2F8F8A"/>
                </a:solidFill>
                <a:latin typeface="Segoe UI"/>
              </a:rPr>
              <a:t>TỰ NHIÊN</a:t>
            </a:r>
          </a:p>
        </p:txBody>
      </p:sp>
      <p:sp>
        <p:nvSpPr>
          <p:cNvPr id="10" name="Chevron 9"/>
          <p:cNvSpPr/>
          <p:nvPr/>
        </p:nvSpPr>
        <p:spPr>
          <a:xfrm>
            <a:off x="2752344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2344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Nước thô nhiễm mặn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độ mặn điểm lấy nước có lúc vượt ngưỡng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2344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2344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2F8F8A"/>
                </a:solidFill>
                <a:latin typeface="Segoe UI"/>
              </a:rPr>
              <a:t>TỰ NHIÊN</a:t>
            </a:r>
          </a:p>
        </p:txBody>
      </p:sp>
      <p:sp>
        <p:nvSpPr>
          <p:cNvPr id="14" name="Chevron 13"/>
          <p:cNvSpPr/>
          <p:nvPr/>
        </p:nvSpPr>
        <p:spPr>
          <a:xfrm>
            <a:off x="4937760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7760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Nhà máy giảm bơm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ruộng vườn ven sông bị nhiễm mặn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7760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8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7760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7A5210"/>
                </a:solidFill>
                <a:latin typeface="Segoe UI"/>
              </a:rPr>
              <a:t>KINH TẾ</a:t>
            </a:r>
          </a:p>
        </p:txBody>
      </p:sp>
      <p:sp>
        <p:nvSpPr>
          <p:cNvPr id="18" name="Chevron 17"/>
          <p:cNvSpPr/>
          <p:nvPr/>
        </p:nvSpPr>
        <p:spPr>
          <a:xfrm>
            <a:off x="7123176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3176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Nông dân mất mùa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526D6B"/>
                </a:solidFill>
                <a:latin typeface="Segoe UI"/>
              </a:rPr>
              <a:t>thu nhập giảm, chi phí tưới tăng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3176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8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3176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7A5210"/>
                </a:solidFill>
                <a:latin typeface="Segoe UI"/>
              </a:rPr>
              <a:t>KINH TẾ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8592" y="1828800"/>
            <a:ext cx="2304288" cy="1371600"/>
          </a:xfrm>
          <a:prstGeom prst="chevron">
            <a:avLst>
              <a:gd name="adj" fmla="val 30000"/>
            </a:avLst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8592" y="1990000"/>
            <a:ext cx="140000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Thiếu nước sạch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FFF8EC"/>
                </a:solidFill>
                <a:latin typeface="Segoe UI"/>
              </a:rPr>
              <a:t>sinh hoạt, vệ sinh gặp khó khăn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8592" y="3337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8592" y="33375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B9573E"/>
                </a:solidFill>
                <a:latin typeface="Segoe UI"/>
              </a:rPr>
              <a:t>XÃ HỘI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40"/>
            <a:ext cx="1105814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206240"/>
            <a:ext cx="45720" cy="137160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389120"/>
            <a:ext cx="10400000" cy="10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BƯỚC 6 LÀ GÌ?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73A3A"/>
                </a:solidFill>
                <a:latin typeface="Segoe UI"/>
              </a:rPr>
              <a:t>Người dân phải mua nước, tích trữ nước… — theo em, gia đình nào sẽ chịu ảnh hưởng nhiều nhất?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Trò chơi: tác động này thuộc lĩnh vực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Chia lớp ba đội — Tự nhiên, Kinh tế, Xã hội. Thẻ thuộc lĩnh vực đội nào, đội đó giơ tay trước được 1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19072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74480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Ruộng lúa ở vùng ven bị nhiễm mặn, mất mùa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9376" y="1554480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7976" y="1719072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7976" y="1974480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Số ca sốt xuất huyết tăng sau những đợt ngập kéo dài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1824" y="1554480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0424" y="1719072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0424" y="1974480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Bờ sông bị xói lở, mất dần đất ven sông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4272" y="1554480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719072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1974480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Cửa hàng phải đóng cửa, hàng hoá ngấm nước hư hỏng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53512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118104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373512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Học sinh lội nước, đến trường muộn hoặc phải nghỉ học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9376" y="2953512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7976" y="3118104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7976" y="3373512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Nước ngập cuốn rác, nước thải làm ô nhiễm kênh rạch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1824" y="2953512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0424" y="3118104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0424" y="3373512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Đường ngập gây ùn tắc, xe chết máy hàng loạt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4272" y="2953512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118104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3373512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Người già bị say nắng, sốc nhiệt trong đợt nắng nóng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52544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517136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4772544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Rừng ngập mặn Cần Giờ bị sóng và nước dâng xâm thực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9376" y="4352544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7976" y="4517136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7976" y="4772544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Tôm nuôi chết hàng loạt khi độ mặn thay đổi đột ngột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1824" y="4352544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0424" y="4517136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0424" y="4772544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Hộ dân ven sông phải di dời vì nhà có nguy cơ sụp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4272" y="4352544"/>
            <a:ext cx="2593848" cy="1216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4517136"/>
            <a:ext cx="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2872" y="4772544"/>
            <a:ext cx="2173848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73A3A"/>
                </a:solidFill>
                <a:latin typeface="Segoe UI"/>
              </a:rPr>
              <a:t>Nước sông bị nhiễm mặn vào mùa khô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760720"/>
            <a:ext cx="11058144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6D6B"/>
                </a:solidFill>
                <a:latin typeface="Segoe UI"/>
              </a:rPr>
              <a:t>Đáp án nằm trong ghi chú của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Hoạt động nhóm: bốn đội đánh giá thiệt hại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Mỗi nhóm 12 phút hoàn thành phần của mình trong phiếu học tập, sau đó trình bày 2 phút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259986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2599867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38528"/>
            <a:ext cx="1051560" cy="292608"/>
          </a:xfrm>
          <a:prstGeom prst="roundRect">
            <a:avLst>
              <a:gd name="adj" fmla="val 30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B9573E"/>
                </a:solidFill>
                <a:latin typeface="Segoe UI"/>
              </a:rPr>
              <a:t>NHÓM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20878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Đội môi trường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9776"/>
            <a:ext cx="2087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Tác động đến nguồn nước, đất đai, hệ sinh thái.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19856"/>
            <a:ext cx="2087803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47872"/>
            <a:ext cx="208780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Xâm nhập mặn và nước sinh hoạt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Sạt lở, đất nhiễm mặn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Rừng ngập mặn Cần Giờ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1691640"/>
            <a:ext cx="259986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6251" y="1691640"/>
            <a:ext cx="2599867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42283" y="1938528"/>
            <a:ext cx="1051560" cy="292608"/>
          </a:xfrm>
          <a:prstGeom prst="roundRect">
            <a:avLst>
              <a:gd name="adj" fmla="val 30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2283" y="193852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B9573E"/>
                </a:solidFill>
                <a:latin typeface="Segoe UI"/>
              </a:rPr>
              <a:t>NHÓM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2283" y="2395728"/>
            <a:ext cx="20878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Đội kinh tế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283" y="2779776"/>
            <a:ext cx="2087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Thiệt hại cho sản xuất và chi phí của thành phố.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2283" y="3419856"/>
            <a:ext cx="2087803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2283" y="3547872"/>
            <a:ext cx="208780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Nông nghiệp – thuỷ sản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Giao thông – hạ tầng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Vì sao chi phí chống ngập lớn?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5574" y="1691640"/>
            <a:ext cx="259986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5574" y="1691640"/>
            <a:ext cx="2599867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1606" y="1938528"/>
            <a:ext cx="1051560" cy="292608"/>
          </a:xfrm>
          <a:prstGeom prst="roundRect">
            <a:avLst>
              <a:gd name="adj" fmla="val 30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6" y="193852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B9573E"/>
                </a:solidFill>
                <a:latin typeface="Segoe UI"/>
              </a:rPr>
              <a:t>NHÓM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6" y="2395728"/>
            <a:ext cx="20878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Đội đời sống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6" y="2779776"/>
            <a:ext cx="2087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Tác động đến sức khoẻ, an toàn, học tập, sinh kế.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1606" y="3419856"/>
            <a:ext cx="2087803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6" y="3547872"/>
            <a:ext cx="208780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Bệnh do nắng nóng, sau ngập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Nguy cơ mất an toàn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Nhóm dễ bị tổn thương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4897" y="1691640"/>
            <a:ext cx="259986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4897" y="1691640"/>
            <a:ext cx="2599867" cy="45720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80929" y="1938528"/>
            <a:ext cx="1051560" cy="292608"/>
          </a:xfrm>
          <a:prstGeom prst="roundRect">
            <a:avLst>
              <a:gd name="adj" fmla="val 30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0929" y="193852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B9573E"/>
                </a:solidFill>
                <a:latin typeface="Segoe UI"/>
              </a:rPr>
              <a:t>NHÓM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0929" y="2395728"/>
            <a:ext cx="20878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73A3A"/>
                </a:solidFill>
                <a:latin typeface="Segoe UI"/>
              </a:rPr>
              <a:t>Đội bản đồ rủi 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0929" y="2779776"/>
            <a:ext cx="2087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Vẽ chuỗi domino từ một thiên tai có thật gần trường.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0929" y="3419856"/>
            <a:ext cx="2087803" cy="10972"/>
          </a:xfrm>
          <a:prstGeom prst="rect">
            <a:avLst/>
          </a:prstGeom>
          <a:solidFill>
            <a:srgbClr val="CF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0929" y="3547872"/>
            <a:ext cx="208780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Ít nhất 4 bước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Ghi lĩnh vực cho từng bước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73A3A"/>
                </a:solidFill>
                <a:latin typeface="Segoe UI"/>
              </a:rPr>
              <a:t>·  Đề xuất 1 cách cắt chuỗi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66360"/>
            <a:ext cx="11058144" cy="640080"/>
          </a:xfrm>
          <a:prstGeom prst="roundRect">
            <a:avLst>
              <a:gd name="adj" fmla="val 6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16636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B9573E"/>
                </a:solidFill>
                <a:latin typeface="Segoe UI"/>
              </a:rPr>
              <a:t>SẢN PHẨM  </a:t>
            </a:r>
            <a:r>
              <a:rPr sz="1250" b="0">
                <a:solidFill>
                  <a:srgbClr val="173A3A"/>
                </a:solidFill>
                <a:latin typeface="Segoe UI"/>
              </a:rPr>
              <a:t>Phiếu học tập nhóm — Phần I. Các nhóm còn lại ghi ý chính vào Phần II khi nghe báo cáo.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Video tham khảo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Dùng trong tiết hoặc giao học sinh xem trước ở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10581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992960" y="1956800"/>
            <a:ext cx="160000" cy="200000"/>
          </a:xfrm>
          <a:prstGeom prst="triangl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746504"/>
            <a:ext cx="72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73A3A"/>
                </a:solidFill>
                <a:latin typeface="Segoe UI"/>
              </a:rPr>
              <a:t>Toàn cảnh TP.HCM ngập sâu do triều cường vượt mốc lịch sử, cuộc sống người dân đảo lộn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Tin24h  ·  Khởi động, tác động đời sống – giao thông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746504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2F8F8A"/>
                </a:solidFill>
                <a:latin typeface="Segoe UI"/>
                <a:hlinkClick r:id="rId2"/>
              </a:rPr>
              <a:t>youtube.com/watch?v=otUYNCrMulw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1760"/>
            <a:ext cx="110581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992960" y="3008360"/>
            <a:ext cx="160000" cy="200000"/>
          </a:xfrm>
          <a:prstGeom prst="triangl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798064"/>
            <a:ext cx="72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73A3A"/>
                </a:solidFill>
                <a:latin typeface="Segoe UI"/>
              </a:rPr>
              <a:t>Sạt lở tại TP.HCM kỳ 1: Người đã di cư, người nặng lòng ở lại!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Báo Thanh Niên  ·  Tác động đến đất đai, di dời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98064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2F8F8A"/>
                </a:solidFill>
                <a:latin typeface="Segoe UI"/>
                <a:hlinkClick r:id="rId3"/>
              </a:rPr>
              <a:t>youtube.com/watch?v=lBsAf5gw79Y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03320"/>
            <a:ext cx="110581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992960" y="4059920"/>
            <a:ext cx="160000" cy="200000"/>
          </a:xfrm>
          <a:prstGeom prst="triangl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49624"/>
            <a:ext cx="72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73A3A"/>
                </a:solidFill>
                <a:latin typeface="Segoe UI"/>
              </a:rPr>
              <a:t>Nắng nóng gay gắt, mưu sinh nhọc nhằn giữa trưa gần 38 độ ở TP.HCM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Tác động đến sức khoẻ, lao động ngoài trời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9624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2F8F8A"/>
                </a:solidFill>
                <a:latin typeface="Segoe UI"/>
                <a:hlinkClick r:id="rId4"/>
              </a:rPr>
              <a:t>youtube.com/watch?v=yEbw7m4XS_A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54880"/>
            <a:ext cx="110581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992960" y="5111480"/>
            <a:ext cx="160000" cy="200000"/>
          </a:xfrm>
          <a:prstGeom prst="triangl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901184"/>
            <a:ext cx="72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73A3A"/>
                </a:solidFill>
                <a:latin typeface="Segoe UI"/>
              </a:rPr>
              <a:t>Giải pháp thích ứng biến đổi khí hậu tại đô thị ven biển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6D6B"/>
                </a:solidFill>
                <a:latin typeface="Segoe UI"/>
              </a:rPr>
              <a:t>Gợi mở vận dụng và bài phòng, chống thiên tai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901184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2F8F8A"/>
                </a:solidFill>
                <a:latin typeface="Segoe UI"/>
                <a:hlinkClick r:id="rId5"/>
              </a:rPr>
              <a:t>youtube.com/watch?v=Xt6RAY5Y9FU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Sáu ý chính cần chép vào vở trước khi rời lớp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08760"/>
            <a:ext cx="541934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E9825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91640"/>
            <a:ext cx="4269344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Thiên tai thường gặp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039112"/>
            <a:ext cx="4269344" cy="7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Ngập lụt, triều cường, nắng nóng – hạn hán, xâm nhập mặn, sạt lở, dông lốc – sét, bão; biến đổi khí hậu làm chúng dày và mạnh hơn.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5728" y="1508760"/>
            <a:ext cx="541934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760" y="1709928"/>
            <a:ext cx="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E9825B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0128" y="1691640"/>
            <a:ext cx="4269344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Tự nhiên – môi trường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0128" y="2039112"/>
            <a:ext cx="4269344" cy="7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Nguồn nước nhiễm mặn, ô nhiễm; đất sạt lở, nhiễm mặn; hệ sinh thái, nhất là rừng ngập mặn Cần Giờ, bị suy giảm.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71800"/>
            <a:ext cx="541934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72968"/>
            <a:ext cx="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E9825B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154680"/>
            <a:ext cx="4269344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Kinh tế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02152"/>
            <a:ext cx="4269344" cy="7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Nông nghiệp – thuỷ sản mất mùa; giao thông ùn tắc, hạ tầng hư hỏng; sản xuất gián đoạn; chi phí khắc phục rất lớn.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728" y="2971800"/>
            <a:ext cx="541934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760" y="3172968"/>
            <a:ext cx="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E9825B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0128" y="3154680"/>
            <a:ext cx="4269344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Xã hội – đời sống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0128" y="3502152"/>
            <a:ext cx="4269344" cy="7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Ảnh hưởng sức khoẻ (sốc nhiệt, dịch bệnh), an toàn tính mạng, việc học, sinh kế; một số hộ phải di dời.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34840"/>
            <a:ext cx="541934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36008"/>
            <a:ext cx="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E9825B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617720"/>
            <a:ext cx="4269344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Nhóm dễ bị tổn thương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965192"/>
            <a:ext cx="4269344" cy="7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Người cao tuổi, trẻ nhỏ, lao động ngoài trời, hộ vùng trũng ven sông, hộ thu nhập thấp.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5728" y="4434840"/>
            <a:ext cx="541934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760" y="4636008"/>
            <a:ext cx="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E9825B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0128" y="4617720"/>
            <a:ext cx="4269344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73A3A"/>
                </a:solidFill>
                <a:latin typeface="Segoe UI"/>
              </a:rPr>
              <a:t>Tác động nối thành chuỗi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0128" y="4965192"/>
            <a:ext cx="4269344" cy="7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Lan từ tự nhiên sang kinh tế rồi tới đời sống — phòng ngừa sớm luôn ít tốn kém hơn khắc phục.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E9825B"/>
                </a:solidFill>
                <a:latin typeface="Segoe U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81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73A3A"/>
                </a:solidFill>
                <a:latin typeface="Segoe UI"/>
              </a:rPr>
              <a:t>Kiểm tra nhanh &amp; nhiệm vụ về nhà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71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26D6B"/>
                </a:solidFill>
                <a:latin typeface="Segoe UI"/>
              </a:rPr>
              <a:t>Ba câu hỏi — giơ bảng A, B, C, 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200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7040880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45720" cy="87782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66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Câu 1. Thiên tai nào thường xảy ra vào mùa khô ở Thành phố Hồ Chí Minh?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A. Triều cường   B. Xâm nhập mặn   C. Dông lốc   D. Mưa đá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60320"/>
            <a:ext cx="7040880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60320"/>
            <a:ext cx="45720" cy="87782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79192"/>
            <a:ext cx="66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Câu 2. “Học sinh phải nghỉ học vì đường ngập” là tác động đến lĩnh vực nào?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A. Tự nhiên   B. Kinh tế   C. Xã hội – đời sống   D. Môi trường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66160"/>
            <a:ext cx="7040880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566160"/>
            <a:ext cx="45720" cy="877824"/>
          </a:xfrm>
          <a:prstGeom prst="rect">
            <a:avLst/>
          </a:prstGeom>
          <a:solidFill>
            <a:srgbClr val="E98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5032"/>
            <a:ext cx="66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73A3A"/>
                </a:solidFill>
                <a:latin typeface="Segoe UI"/>
              </a:rPr>
              <a:t>Câu 3. Nhóm nào sau đây dễ bị tổn thương nhất khi có nắng nóng gay gắt?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6D6B"/>
                </a:solidFill>
                <a:latin typeface="Segoe UI"/>
              </a:rPr>
              <a:t>A. Nhân viên văn phòng   B. Người lao động ngoài trời   C. Học sinh trong lớp có quạt   D. Người đi ô tô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554480"/>
            <a:ext cx="3761232" cy="2889504"/>
          </a:xfrm>
          <a:prstGeom prst="roundRect">
            <a:avLst>
              <a:gd name="adj" fmla="val 6000"/>
            </a:avLst>
          </a:prstGeom>
          <a:solidFill>
            <a:srgbClr val="17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200400" cy="2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E9825B"/>
                </a:solidFill>
                <a:latin typeface="Segoe UI"/>
              </a:rPr>
              <a:t>VỀ NHÀ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FFF8EC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8EC"/>
                </a:solidFill>
                <a:latin typeface="Segoe UI"/>
              </a:rPr>
              <a:t>Hỏi ông bà, cha mẹ về một trận thiên tai đáng nhớ nhất ở khu phố mình.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FFF8EC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AFC5C2"/>
                </a:solidFill>
                <a:latin typeface="Segoe UI"/>
              </a:rPr>
              <a:t>Vẽ chuỗi domino tác động của trận thiên tai đó và hoàn thành Phần IV của phiếu học tập.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58144" cy="868680"/>
          </a:xfrm>
          <a:prstGeom prst="roundRect">
            <a:avLst>
              <a:gd name="adj" fmla="val 6000"/>
            </a:avLst>
          </a:prstGeom>
          <a:solidFill>
            <a:srgbClr val="F6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10500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B9573E"/>
                </a:solidFill>
                <a:latin typeface="Segoe UI"/>
              </a:rPr>
              <a:t>BÀI SAU  </a:t>
            </a:r>
            <a:r>
              <a:rPr sz="1250" b="0">
                <a:solidFill>
                  <a:srgbClr val="173A3A"/>
                </a:solidFill>
                <a:latin typeface="Segoe UI"/>
              </a:rPr>
              <a:t>Tác động đã rõ — vậy thành phố và mỗi chúng ta cần làm gì để phòng, chống thiên tai và thích ứng với biến đổi khí hậu?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