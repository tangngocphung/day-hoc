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Nguồn nội dung: Tài liệu GDĐP TP.HCM lớp 10, Chủ đề 2. Tên quận, huyện, thành phố Thủ Đức giữ theo tài liệu (trước khi sắp xếp đơn vị hành chính năm 2025).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Gợi ý để HS kể: giỗ ông bà, lễ Kỳ yên ở đình, giỗ Tổ Hùng Vương, giỗ Đức Thánh Trần, thắp hương đền liệt sĩ…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Phát Phiếu học tập Bài 6 (Phần IV) cho các nhóm lập dàn ý 2 phút.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Đáp án: 1-A; 2-B; 3-A.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A1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595360" y="0"/>
            <a:ext cx="3596335" cy="6858000"/>
          </a:xfrm>
          <a:prstGeom prst="rect">
            <a:avLst/>
          </a:prstGeom>
          <a:solidFill>
            <a:srgbClr val="6226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804672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150" b="1">
                <a:solidFill>
                  <a:srgbClr val="D9A441"/>
                </a:solidFill>
                <a:latin typeface="Segoe UI"/>
              </a:rPr>
              <a:t>GIÁO DỤC ĐỊA PHƯƠNG 10  ·  CHỦ ĐỀ 2  ·  BÀI 6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170432"/>
            <a:ext cx="822960" cy="36576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81328"/>
            <a:ext cx="1060704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Segoe UI"/>
              </a:rPr>
              <a:t>“UỐNG NƯỚC NHỚ NGUỒN”</a:t>
            </a:r>
          </a:p>
          <a:p>
            <a:pPr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Segoe UI"/>
              </a:rPr>
              <a:t>QUA CÁC NGHI LỄ DÂN GIAN</a:t>
            </a:r>
          </a:p>
          <a:p>
            <a:pPr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Segoe UI"/>
              </a:rPr>
              <a:t>Ở THÀNH PHỐ HỒ CHÍ MINH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4041648"/>
            <a:ext cx="73152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500" b="0">
                <a:solidFill>
                  <a:srgbClr val="DDE8E4"/>
                </a:solidFill>
                <a:latin typeface="Segoe UI"/>
              </a:rPr>
              <a:t>Giữa phố thị ồn ào vẫn còn gần 300 ngôi đình, hơn 400 ngôi miếu và nhiều đền thờ — nơi người Sài Gòn trở về để nói lời biết ơn.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4956048"/>
            <a:ext cx="2514600" cy="932688"/>
          </a:xfrm>
          <a:prstGeom prst="rect">
            <a:avLst/>
          </a:prstGeom>
          <a:solidFill>
            <a:srgbClr val="6226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4956048"/>
            <a:ext cx="2514600" cy="36576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88136" y="512064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2000" b="1">
                <a:solidFill>
                  <a:srgbClr val="D9A441"/>
                </a:solidFill>
                <a:latin typeface="Segoe UI"/>
              </a:rPr>
              <a:t>299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" y="5504688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050" b="0">
                <a:solidFill>
                  <a:srgbClr val="DDE8E4"/>
                </a:solidFill>
                <a:latin typeface="Segoe UI"/>
              </a:rPr>
              <a:t>Ngôi đình còn hoạt động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84448" y="4956048"/>
            <a:ext cx="2514600" cy="932688"/>
          </a:xfrm>
          <a:prstGeom prst="rect">
            <a:avLst/>
          </a:prstGeom>
          <a:solidFill>
            <a:srgbClr val="6226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84448" y="4956048"/>
            <a:ext cx="2514600" cy="36576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03904" y="512064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2000" b="1">
                <a:solidFill>
                  <a:srgbClr val="D9A441"/>
                </a:solidFill>
                <a:latin typeface="Segoe UI"/>
              </a:rPr>
              <a:t>53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03904" y="5504688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050" b="0">
                <a:solidFill>
                  <a:srgbClr val="DDE8E4"/>
                </a:solidFill>
                <a:latin typeface="Segoe UI"/>
              </a:rPr>
              <a:t>Đình xếp hạng di tích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0216" y="4956048"/>
            <a:ext cx="2514600" cy="932688"/>
          </a:xfrm>
          <a:prstGeom prst="rect">
            <a:avLst/>
          </a:prstGeom>
          <a:solidFill>
            <a:srgbClr val="6226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0216" y="4956048"/>
            <a:ext cx="2514600" cy="36576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19672" y="512064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2000" b="1">
                <a:solidFill>
                  <a:srgbClr val="D9A441"/>
                </a:solidFill>
                <a:latin typeface="Segoe UI"/>
              </a:rPr>
              <a:t>448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9672" y="5504688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050" b="0">
                <a:solidFill>
                  <a:srgbClr val="DDE8E4"/>
                </a:solidFill>
                <a:latin typeface="Segoe UI"/>
              </a:rPr>
              <a:t>Ngôi miếu trên địa bàn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5984" y="4956048"/>
            <a:ext cx="2514600" cy="932688"/>
          </a:xfrm>
          <a:prstGeom prst="rect">
            <a:avLst/>
          </a:prstGeom>
          <a:solidFill>
            <a:srgbClr val="6226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15984" y="4956048"/>
            <a:ext cx="2514600" cy="36576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35440" y="512064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2000" b="1">
                <a:solidFill>
                  <a:srgbClr val="D9A441"/>
                </a:solidFill>
                <a:latin typeface="Segoe UI"/>
              </a:rPr>
              <a:t>285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5504688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050" b="0">
                <a:solidFill>
                  <a:srgbClr val="DDE8E4"/>
                </a:solidFill>
                <a:latin typeface="Segoe UI"/>
              </a:rPr>
              <a:t>Miếu thờ Ngũ Hành Nương Nương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6309360"/>
            <a:ext cx="64008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000" b="0">
                <a:solidFill>
                  <a:srgbClr val="AFC4BE"/>
                </a:solidFill>
                <a:latin typeface="Segoe UI"/>
              </a:rPr>
              <a:t>GV: TĂNG NGỌC PHỤNG  ·  THPT NGUYỄN KHUYẾN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3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8686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250" b="1">
                <a:solidFill>
                  <a:srgbClr val="D9A441"/>
                </a:solidFill>
                <a:latin typeface="Segoe UI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43584" y="274320"/>
            <a:ext cx="103784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2000"/>
              </a:lnSpc>
            </a:pPr>
            <a:r>
              <a:rPr sz="3000" b="1">
                <a:solidFill>
                  <a:srgbClr val="3B1D14"/>
                </a:solidFill>
                <a:latin typeface="Segoe UI"/>
              </a:rPr>
              <a:t>Mục tiêu bài học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61872" y="914400"/>
            <a:ext cx="999439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350" b="0">
                <a:solidFill>
                  <a:srgbClr val="765548"/>
                </a:solidFill>
                <a:latin typeface="Segoe UI"/>
              </a:rPr>
              <a:t>Sau bài học, học sinh làm được bốn việc dưới đây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069848"/>
            <a:ext cx="566928" cy="36576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691640"/>
            <a:ext cx="2596896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E6D6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691640"/>
            <a:ext cx="45720" cy="329184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74520"/>
            <a:ext cx="213969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950" b="1">
                <a:solidFill>
                  <a:srgbClr val="D9A441"/>
                </a:solidFill>
                <a:latin typeface="Segoe U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30552"/>
            <a:ext cx="213969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600" b="1">
                <a:solidFill>
                  <a:srgbClr val="3B1D14"/>
                </a:solidFill>
                <a:latin typeface="Segoe UI"/>
              </a:rPr>
              <a:t>Giải thích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514600"/>
            <a:ext cx="2139696" cy="23591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250" b="0">
                <a:solidFill>
                  <a:srgbClr val="765548"/>
                </a:solidFill>
                <a:latin typeface="Segoe UI"/>
              </a:rPr>
              <a:t>Ý nghĩa câu “Uống nước nhớ nguồn” và vì sao đây là bài học nhân cách.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92424" y="1691640"/>
            <a:ext cx="2596896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E6D6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92424" y="1691640"/>
            <a:ext cx="45720" cy="329184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48456" y="1874520"/>
            <a:ext cx="213969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950" b="1">
                <a:solidFill>
                  <a:srgbClr val="D9A441"/>
                </a:solidFill>
                <a:latin typeface="Segoe U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48456" y="2130552"/>
            <a:ext cx="213969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600" b="1">
                <a:solidFill>
                  <a:srgbClr val="3B1D14"/>
                </a:solidFill>
                <a:latin typeface="Segoe UI"/>
              </a:rPr>
              <a:t>Trình bày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48456" y="2514600"/>
            <a:ext cx="2139696" cy="23591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250" b="0">
                <a:solidFill>
                  <a:srgbClr val="765548"/>
                </a:solidFill>
                <a:latin typeface="Segoe UI"/>
              </a:rPr>
              <a:t>Đình, miếu, đền thờ ai; chức năng của đình; lễ Kỳ yên (phần lễ – phần hội).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691640"/>
            <a:ext cx="2596896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E6D6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1691640"/>
            <a:ext cx="45720" cy="329184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73952" y="1874520"/>
            <a:ext cx="213969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950" b="1">
                <a:solidFill>
                  <a:srgbClr val="D9A441"/>
                </a:solidFill>
                <a:latin typeface="Segoe U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2130552"/>
            <a:ext cx="213969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600" b="1">
                <a:solidFill>
                  <a:srgbClr val="3B1D14"/>
                </a:solidFill>
                <a:latin typeface="Segoe UI"/>
              </a:rPr>
              <a:t>Nêu được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3952" y="2514600"/>
            <a:ext cx="2139696" cy="23591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250" b="0">
                <a:solidFill>
                  <a:srgbClr val="765548"/>
                </a:solidFill>
                <a:latin typeface="Segoe UI"/>
              </a:rPr>
              <a:t>Ý nghĩa thờ cúng tổ tiên và Tổ nghề trong gia đình, cộng đồng nghề nghiệp ở TP.HCM.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43415" y="1691640"/>
            <a:ext cx="2596896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E6D6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43415" y="1691640"/>
            <a:ext cx="45720" cy="329184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99447" y="1874520"/>
            <a:ext cx="213969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950" b="1">
                <a:solidFill>
                  <a:srgbClr val="D9A441"/>
                </a:solidFill>
                <a:latin typeface="Segoe UI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99447" y="2130552"/>
            <a:ext cx="213969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600" b="1">
                <a:solidFill>
                  <a:srgbClr val="3B1D14"/>
                </a:solidFill>
                <a:latin typeface="Segoe UI"/>
              </a:rPr>
              <a:t>Vận dụng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99447" y="2514600"/>
            <a:ext cx="2139696" cy="23591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250" b="0">
                <a:solidFill>
                  <a:srgbClr val="765548"/>
                </a:solidFill>
                <a:latin typeface="Segoe UI"/>
              </a:rPr>
              <a:t>Giới thiệu một nghi lễ như hướng dẫn viên nhí; thể hiện lòng biết ơn bằng việc làm cụ thể.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5394960"/>
            <a:ext cx="11055096" cy="566928"/>
          </a:xfrm>
          <a:prstGeom prst="rect">
            <a:avLst/>
          </a:prstGeom>
          <a:solidFill>
            <a:srgbClr val="F3E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5394960"/>
            <a:ext cx="105156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2000"/>
              </a:lnSpc>
            </a:pPr>
            <a:r>
              <a:rPr sz="1150" b="0">
                <a:solidFill>
                  <a:srgbClr val="3B1D14"/>
                </a:solidFill>
                <a:latin typeface="Segoe UI"/>
              </a:rPr>
              <a:t>Tiết học gồm: Khởi động → A (nghĩa của câu tục ngữ) → B (nghi lễ cộng đồng) → C (nghi lễ gia đình) → Hướng dẫn viên nhí → Trò chơi.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3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8686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250" b="1">
                <a:solidFill>
                  <a:srgbClr val="D9A441"/>
                </a:solidFill>
                <a:latin typeface="Segoe UI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43584" y="274320"/>
            <a:ext cx="103784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2000"/>
              </a:lnSpc>
            </a:pPr>
            <a:r>
              <a:rPr sz="3000" b="1">
                <a:solidFill>
                  <a:srgbClr val="3B1D14"/>
                </a:solidFill>
                <a:latin typeface="Segoe UI"/>
              </a:rPr>
              <a:t>Khởi động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61872" y="914400"/>
            <a:ext cx="999439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350" b="0">
                <a:solidFill>
                  <a:srgbClr val="765548"/>
                </a:solidFill>
                <a:latin typeface="Segoe UI"/>
              </a:rPr>
              <a:t>Hai phút suy nghĩ – chia sẻ cặp đôi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069848"/>
            <a:ext cx="566928" cy="36576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645920"/>
            <a:ext cx="11055096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E6D6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645920"/>
            <a:ext cx="64008" cy="237744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74519"/>
            <a:ext cx="1033272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2200" b="1">
                <a:solidFill>
                  <a:srgbClr val="3B1D14"/>
                </a:solidFill>
                <a:latin typeface="Segoe UI"/>
              </a:rPr>
              <a:t>Hãy kể tên một số nghi lễ dân gian thể hiện đạo lí “Uống nước nhớ nguồn” ở Thành phố Hồ Chí Minh mà em biết.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4297680"/>
            <a:ext cx="539496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6D6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4297680"/>
            <a:ext cx="45720" cy="1371600"/>
          </a:xfrm>
          <a:prstGeom prst="rect">
            <a:avLst/>
          </a:prstGeom>
          <a:solidFill>
            <a:srgbClr val="A04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480560"/>
            <a:ext cx="4937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950" b="1">
                <a:solidFill>
                  <a:srgbClr val="A0432F"/>
                </a:solidFill>
                <a:latin typeface="Segoe UI"/>
              </a:rPr>
              <a:t>CÂU HỎI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736592"/>
            <a:ext cx="49377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500" b="1">
                <a:solidFill>
                  <a:srgbClr val="3B1D14"/>
                </a:solidFill>
                <a:latin typeface="Segoe UI"/>
              </a:rPr>
              <a:t>Em thích nhất nghi lễ nào?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27064" y="4297680"/>
            <a:ext cx="539496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6D6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27064" y="4297680"/>
            <a:ext cx="45720" cy="1371600"/>
          </a:xfrm>
          <a:prstGeom prst="rect">
            <a:avLst/>
          </a:prstGeom>
          <a:solidFill>
            <a:srgbClr val="2F6F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3096" y="4480560"/>
            <a:ext cx="4937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950" b="1">
                <a:solidFill>
                  <a:srgbClr val="2F6F6A"/>
                </a:solidFill>
                <a:latin typeface="Segoe UI"/>
              </a:rPr>
              <a:t>CÂU HỎI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3096" y="4736592"/>
            <a:ext cx="49377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500" b="1">
                <a:solidFill>
                  <a:srgbClr val="3B1D14"/>
                </a:solidFill>
                <a:latin typeface="Segoe UI"/>
              </a:rPr>
              <a:t>Vì sao em thích nghi lễ đó?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3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8686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250" b="1">
                <a:solidFill>
                  <a:srgbClr val="D9A441"/>
                </a:solidFill>
                <a:latin typeface="Segoe UI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43584" y="274320"/>
            <a:ext cx="103784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2000"/>
              </a:lnSpc>
            </a:pPr>
            <a:r>
              <a:rPr sz="3000" b="1">
                <a:solidFill>
                  <a:srgbClr val="3B1D14"/>
                </a:solidFill>
                <a:latin typeface="Segoe UI"/>
              </a:rPr>
              <a:t>A · “Uống nước nhớ nguồn” nghĩa là gì?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61872" y="914400"/>
            <a:ext cx="999439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350" b="0">
                <a:solidFill>
                  <a:srgbClr val="765548"/>
                </a:solidFill>
                <a:latin typeface="Segoe UI"/>
              </a:rPr>
              <a:t>Ba lớp nghĩa của một câu tục ngữ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069848"/>
            <a:ext cx="566928" cy="36576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0" y="91440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>
                <a:solidFill>
                  <a:srgbClr val="765548"/>
                </a:solidFill>
                <a:latin typeface="Segoe UI"/>
              </a:rPr>
              <a:t>PHẦN A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691640"/>
            <a:ext cx="3557016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E6D6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691640"/>
            <a:ext cx="3557016" cy="45720"/>
          </a:xfrm>
          <a:prstGeom prst="rect">
            <a:avLst/>
          </a:prstGeom>
          <a:solidFill>
            <a:srgbClr val="2F6F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874520"/>
            <a:ext cx="309981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950" b="1">
                <a:solidFill>
                  <a:srgbClr val="2F6F6A"/>
                </a:solidFill>
                <a:latin typeface="Segoe UI"/>
              </a:rPr>
              <a:t>UỐNG NƯỚC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130552"/>
            <a:ext cx="309981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600" b="1">
                <a:solidFill>
                  <a:srgbClr val="3B1D14"/>
                </a:solidFill>
                <a:latin typeface="Segoe UI"/>
              </a:rPr>
              <a:t>Ta đang “uống” những gì?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514600"/>
            <a:ext cx="3099816" cy="21762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300" b="0">
                <a:solidFill>
                  <a:srgbClr val="765548"/>
                </a:solidFill>
                <a:latin typeface="Segoe UI"/>
              </a:rPr>
              <a:t>Sự thừa hưởng, sử dụng những thành quả lao động về vật chất và tinh thần của các thế hệ trước.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15968" y="1691640"/>
            <a:ext cx="3557016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E6D6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15968" y="1691640"/>
            <a:ext cx="3557016" cy="45720"/>
          </a:xfrm>
          <a:prstGeom prst="rect">
            <a:avLst/>
          </a:prstGeom>
          <a:solidFill>
            <a:srgbClr val="A04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1874520"/>
            <a:ext cx="309981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950" b="1">
                <a:solidFill>
                  <a:srgbClr val="A0432F"/>
                </a:solidFill>
                <a:latin typeface="Segoe UI"/>
              </a:rPr>
              <a:t>NHỚ NGUỒN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130552"/>
            <a:ext cx="309981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600" b="1">
                <a:solidFill>
                  <a:srgbClr val="3B1D14"/>
                </a:solidFill>
                <a:latin typeface="Segoe UI"/>
              </a:rPr>
              <a:t>“Nguồn” là ai?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514600"/>
            <a:ext cx="3099816" cy="21762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300" b="0">
                <a:solidFill>
                  <a:srgbClr val="765548"/>
                </a:solidFill>
                <a:latin typeface="Segoe UI"/>
              </a:rPr>
              <a:t>Sự tri ân, giữ gìn, phát huy những thành quả của những người đi trước.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65007" y="1691640"/>
            <a:ext cx="3557016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E6D6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65007" y="1691640"/>
            <a:ext cx="3557016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39" y="1874520"/>
            <a:ext cx="309981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950" b="1">
                <a:solidFill>
                  <a:srgbClr val="D9A441"/>
                </a:solidFill>
                <a:latin typeface="Segoe UI"/>
              </a:rPr>
              <a:t>Ý NGHĨA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39" y="2130552"/>
            <a:ext cx="309981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600" b="1">
                <a:solidFill>
                  <a:srgbClr val="3B1D14"/>
                </a:solidFill>
                <a:latin typeface="Segoe UI"/>
              </a:rPr>
              <a:t>Câu tục ngữ dạy ta điều gì?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39" y="2514600"/>
            <a:ext cx="3099816" cy="21762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300" b="0">
                <a:solidFill>
                  <a:srgbClr val="765548"/>
                </a:solidFill>
                <a:latin typeface="Segoe UI"/>
              </a:rPr>
              <a:t>Bài học về nhân cách làm người: dạy con người lòng biết ơn — truyền thống sâu sắc của người Việt Nam.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5166360"/>
            <a:ext cx="11055096" cy="566928"/>
          </a:xfrm>
          <a:prstGeom prst="rect">
            <a:avLst/>
          </a:prstGeom>
          <a:solidFill>
            <a:srgbClr val="F3E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5166360"/>
            <a:ext cx="14630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2000"/>
              </a:lnSpc>
            </a:pPr>
            <a:r>
              <a:rPr sz="1050" b="1">
                <a:solidFill>
                  <a:srgbClr val="8A5A12"/>
                </a:solidFill>
                <a:latin typeface="Segoe UI"/>
              </a:rPr>
              <a:t>CÂU TƯƠNG TỰ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94560" y="5166360"/>
            <a:ext cx="92354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2000"/>
              </a:lnSpc>
            </a:pPr>
            <a:r>
              <a:rPr sz="1150" b="0">
                <a:solidFill>
                  <a:srgbClr val="3B1D14"/>
                </a:solidFill>
                <a:latin typeface="Segoe UI"/>
              </a:rPr>
              <a:t>Câu tương tự: “Ăn quả nhớ kẻ trồng cây”,  “Cây có cội, nước có nguồn”.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3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8686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250" b="1">
                <a:solidFill>
                  <a:srgbClr val="D9A441"/>
                </a:solidFill>
                <a:latin typeface="Segoe UI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43584" y="274320"/>
            <a:ext cx="103784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2000"/>
              </a:lnSpc>
            </a:pPr>
            <a:r>
              <a:rPr sz="3000" b="1">
                <a:solidFill>
                  <a:srgbClr val="3B1D14"/>
                </a:solidFill>
                <a:latin typeface="Segoe UI"/>
              </a:rPr>
              <a:t>B1 · Đình — thờ Thành Hoàng làng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61872" y="914400"/>
            <a:ext cx="999439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350" b="0">
                <a:solidFill>
                  <a:srgbClr val="765548"/>
                </a:solidFill>
                <a:latin typeface="Segoe UI"/>
              </a:rPr>
              <a:t>Nghi lễ cộng đồng: thờ cúng tại đình, miếu, đền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069848"/>
            <a:ext cx="566928" cy="36576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0" y="91440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>
                <a:solidFill>
                  <a:srgbClr val="765548"/>
                </a:solidFill>
                <a:latin typeface="Segoe UI"/>
              </a:rPr>
              <a:t>PHẦN B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600200"/>
            <a:ext cx="539496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E6D6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600200"/>
            <a:ext cx="45720" cy="2148840"/>
          </a:xfrm>
          <a:prstGeom prst="rect">
            <a:avLst/>
          </a:prstGeom>
          <a:solidFill>
            <a:srgbClr val="A04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783080"/>
            <a:ext cx="4937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950" b="1">
                <a:solidFill>
                  <a:srgbClr val="A0432F"/>
                </a:solidFill>
                <a:latin typeface="Segoe UI"/>
              </a:rPr>
              <a:t>NGUỒN GỐC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039112"/>
            <a:ext cx="49377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500" b="1">
                <a:solidFill>
                  <a:srgbClr val="3B1D14"/>
                </a:solidFill>
                <a:latin typeface="Segoe UI"/>
              </a:rPr>
              <a:t>Dân làng góp sức dựng đình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423160"/>
            <a:ext cx="4937760" cy="12161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200" b="0">
                <a:solidFill>
                  <a:srgbClr val="765548"/>
                </a:solidFill>
                <a:latin typeface="Segoe UI"/>
              </a:rPr>
              <a:t>Trong quá trình Nam tiến, cư dân khai khẩn Nam Bộ; khi làng xã ổn định, họ góp đất, tiền, công sức dựng đình. Theo truyền thống, mỗi làng chỉ có một đình.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27064" y="1600200"/>
            <a:ext cx="539496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E6D6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27064" y="1600200"/>
            <a:ext cx="45720" cy="2148840"/>
          </a:xfrm>
          <a:prstGeom prst="rect">
            <a:avLst/>
          </a:prstGeom>
          <a:solidFill>
            <a:srgbClr val="2F6F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3096" y="1783080"/>
            <a:ext cx="4937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950" b="1">
                <a:solidFill>
                  <a:srgbClr val="2F6F6A"/>
                </a:solidFill>
                <a:latin typeface="Segoe UI"/>
              </a:rPr>
              <a:t>THỜ AI?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83096" y="2039112"/>
            <a:ext cx="49377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500" b="1">
                <a:solidFill>
                  <a:srgbClr val="3B1D14"/>
                </a:solidFill>
                <a:latin typeface="Segoe UI"/>
              </a:rPr>
              <a:t>Thành Hoàng, Tiền hiền, Hậu hiền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3096" y="2423160"/>
            <a:ext cx="4937760" cy="12161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200" b="0">
                <a:solidFill>
                  <a:srgbClr val="765548"/>
                </a:solidFill>
                <a:latin typeface="Segoe UI"/>
              </a:rPr>
              <a:t>Thành Hoàng là vị thần được sắc phong, phù hộ cư dân một làng; ngoài ra thờ thần linh, danh nhân lịch sử, những người có công lập làng, xây dựng làng.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3977639"/>
            <a:ext cx="3557016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6D6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" y="3977639"/>
            <a:ext cx="3557016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16052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2200" b="1">
                <a:solidFill>
                  <a:srgbClr val="8A5A12"/>
                </a:solidFill>
                <a:latin typeface="Segoe UI"/>
              </a:rPr>
              <a:t>100 – 300+ năm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681728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200" b="0">
                <a:solidFill>
                  <a:srgbClr val="765548"/>
                </a:solidFill>
                <a:latin typeface="Segoe UI"/>
              </a:rPr>
              <a:t>Tuổi của các ngôi đình ở TP.HCM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15968" y="3977639"/>
            <a:ext cx="3557016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6D6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15968" y="3977639"/>
            <a:ext cx="3557016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0" y="416052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2200" b="1">
                <a:solidFill>
                  <a:srgbClr val="8A5A12"/>
                </a:solidFill>
                <a:latin typeface="Segoe UI"/>
              </a:rPr>
              <a:t>60 đình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4681728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200" b="0">
                <a:solidFill>
                  <a:srgbClr val="765548"/>
                </a:solidFill>
                <a:latin typeface="Segoe UI"/>
              </a:rPr>
              <a:t>Bình Chánh — nhiều nhất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65007" y="3977639"/>
            <a:ext cx="3557016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6D6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65007" y="3977639"/>
            <a:ext cx="3557016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1039" y="416052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2200" b="1">
                <a:solidFill>
                  <a:srgbClr val="8A5A12"/>
                </a:solidFill>
                <a:latin typeface="Segoe UI"/>
              </a:rPr>
              <a:t>1 đình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39" y="4681728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200" b="0">
                <a:solidFill>
                  <a:srgbClr val="765548"/>
                </a:solidFill>
                <a:latin typeface="Segoe UI"/>
              </a:rPr>
              <a:t>Phú Nhuận — ít nhất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" y="5486400"/>
            <a:ext cx="11055096" cy="566928"/>
          </a:xfrm>
          <a:prstGeom prst="rect">
            <a:avLst/>
          </a:prstGeom>
          <a:solidFill>
            <a:srgbClr val="F3E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5486400"/>
            <a:ext cx="14630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2000"/>
              </a:lnSpc>
            </a:pPr>
            <a:r>
              <a:rPr sz="1050" b="1">
                <a:solidFill>
                  <a:srgbClr val="8A5A12"/>
                </a:solidFill>
                <a:latin typeface="Segoe UI"/>
              </a:rPr>
              <a:t>HỎI NHANH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94560" y="5486400"/>
            <a:ext cx="92354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2000"/>
              </a:lnSpc>
            </a:pPr>
            <a:r>
              <a:rPr sz="1150" b="0">
                <a:solidFill>
                  <a:srgbClr val="3B1D14"/>
                </a:solidFill>
                <a:latin typeface="Segoe UI"/>
              </a:rPr>
              <a:t>Vì sao đình thường dựng ở nơi cao ráo, tiện đi lại?  (Gợi ý: để cả làng dễ tới họp, tế lễ, tránh ngập.)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3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8686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250" b="1">
                <a:solidFill>
                  <a:srgbClr val="D9A441"/>
                </a:solidFill>
                <a:latin typeface="Segoe UI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43584" y="274320"/>
            <a:ext cx="103784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2000"/>
              </a:lnSpc>
            </a:pPr>
            <a:r>
              <a:rPr sz="3000" b="1">
                <a:solidFill>
                  <a:srgbClr val="3B1D14"/>
                </a:solidFill>
                <a:latin typeface="Segoe UI"/>
              </a:rPr>
              <a:t>B1 · Chức năng của đình và lễ Kỳ yên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61872" y="914400"/>
            <a:ext cx="999439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350" b="0">
                <a:solidFill>
                  <a:srgbClr val="765548"/>
                </a:solidFill>
                <a:latin typeface="Segoe UI"/>
              </a:rPr>
              <a:t>Ba chức năng xưa — một ngày hội lớn của làng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069848"/>
            <a:ext cx="566928" cy="36576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0" y="91440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>
                <a:solidFill>
                  <a:srgbClr val="765548"/>
                </a:solidFill>
                <a:latin typeface="Segoe UI"/>
              </a:rPr>
              <a:t>PHẦN B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600200"/>
            <a:ext cx="3557016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E6D6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600200"/>
            <a:ext cx="3557016" cy="45720"/>
          </a:xfrm>
          <a:prstGeom prst="rect">
            <a:avLst/>
          </a:prstGeom>
          <a:solidFill>
            <a:srgbClr val="A04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783080"/>
            <a:ext cx="309981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950" b="1">
                <a:solidFill>
                  <a:srgbClr val="A0432F"/>
                </a:solidFill>
                <a:latin typeface="Segoe UI"/>
              </a:rPr>
              <a:t>CHỨC NĂNG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039112"/>
            <a:ext cx="309981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600" b="1">
                <a:solidFill>
                  <a:srgbClr val="3B1D14"/>
                </a:solidFill>
                <a:latin typeface="Segoe UI"/>
              </a:rPr>
              <a:t>Tín ngưỡng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423160"/>
            <a:ext cx="3099816" cy="667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200" b="0">
                <a:solidFill>
                  <a:srgbClr val="765548"/>
                </a:solidFill>
                <a:latin typeface="Segoe UI"/>
              </a:rPr>
              <a:t>Thờ Thành Hoàng, tổ chức lễ Kỳ yên và lễ hội của làng.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15968" y="1600200"/>
            <a:ext cx="3557016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E6D6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15968" y="1600200"/>
            <a:ext cx="3557016" cy="45720"/>
          </a:xfrm>
          <a:prstGeom prst="rect">
            <a:avLst/>
          </a:prstGeom>
          <a:solidFill>
            <a:srgbClr val="2F6F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1783080"/>
            <a:ext cx="309981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950" b="1">
                <a:solidFill>
                  <a:srgbClr val="2F6F6A"/>
                </a:solidFill>
                <a:latin typeface="Segoe UI"/>
              </a:rPr>
              <a:t>CHỨC NĂNG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039112"/>
            <a:ext cx="309981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600" b="1">
                <a:solidFill>
                  <a:srgbClr val="3B1D14"/>
                </a:solidFill>
                <a:latin typeface="Segoe UI"/>
              </a:rPr>
              <a:t>Hành chính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423160"/>
            <a:ext cx="3099816" cy="667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200" b="0">
                <a:solidFill>
                  <a:srgbClr val="765548"/>
                </a:solidFill>
                <a:latin typeface="Segoe UI"/>
              </a:rPr>
              <a:t>Nơi hội họp, làm việc của hương chức; dân làng nghe phổ biến chủ trương.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65007" y="1600200"/>
            <a:ext cx="3557016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E6D6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65007" y="1600200"/>
            <a:ext cx="3557016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39" y="1783080"/>
            <a:ext cx="309981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950" b="1">
                <a:solidFill>
                  <a:srgbClr val="D9A441"/>
                </a:solidFill>
                <a:latin typeface="Segoe UI"/>
              </a:rPr>
              <a:t>CHỨC NĂNG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39" y="2039112"/>
            <a:ext cx="309981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600" b="1">
                <a:solidFill>
                  <a:srgbClr val="3B1D14"/>
                </a:solidFill>
                <a:latin typeface="Segoe UI"/>
              </a:rPr>
              <a:t>Văn hoá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39" y="2423160"/>
            <a:ext cx="3099816" cy="667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200" b="0">
                <a:solidFill>
                  <a:srgbClr val="765548"/>
                </a:solidFill>
                <a:latin typeface="Segoe UI"/>
              </a:rPr>
              <a:t>Nơi sinh hoạt cộng đồng, diễn tuồng, vui chơi ngày hội.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3429000"/>
            <a:ext cx="3557016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E6D6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6928" y="3429000"/>
            <a:ext cx="45720" cy="2240280"/>
          </a:xfrm>
          <a:prstGeom prst="rect">
            <a:avLst/>
          </a:prstGeom>
          <a:solidFill>
            <a:srgbClr val="A04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3611880"/>
            <a:ext cx="309981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950" b="1">
                <a:solidFill>
                  <a:srgbClr val="A0432F"/>
                </a:solidFill>
                <a:latin typeface="Segoe UI"/>
              </a:rPr>
              <a:t>LỄ KỲ YÊN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3867912"/>
            <a:ext cx="309981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500" b="1">
                <a:solidFill>
                  <a:srgbClr val="3B1D14"/>
                </a:solidFill>
                <a:latin typeface="Segoe UI"/>
              </a:rPr>
              <a:t>Cầu an lớn nhất năm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4251960"/>
            <a:ext cx="3099816" cy="13075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200" b="0">
                <a:solidFill>
                  <a:srgbClr val="765548"/>
                </a:solidFill>
                <a:latin typeface="Segoe UI"/>
              </a:rPr>
              <a:t>Mỗi đình có ngày cúng riêng; thường kéo dài 3 ngày, cầu mưa thuận gió hoà, xóm làng yên ổn, mùa màng bội thu.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15968" y="3429000"/>
            <a:ext cx="3557016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E6D6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15968" y="3429000"/>
            <a:ext cx="45720" cy="2240280"/>
          </a:xfrm>
          <a:prstGeom prst="rect">
            <a:avLst/>
          </a:prstGeom>
          <a:solidFill>
            <a:srgbClr val="2F6F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0" y="3611880"/>
            <a:ext cx="309981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950" b="1">
                <a:solidFill>
                  <a:srgbClr val="2F6F6A"/>
                </a:solidFill>
                <a:latin typeface="Segoe UI"/>
              </a:rPr>
              <a:t>PHẦN LỄ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3867912"/>
            <a:ext cx="309981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500" b="1">
                <a:solidFill>
                  <a:srgbClr val="3B1D14"/>
                </a:solidFill>
                <a:latin typeface="Segoe UI"/>
              </a:rPr>
              <a:t>Trang trọng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4251960"/>
            <a:ext cx="3099816" cy="13075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200" b="0">
                <a:solidFill>
                  <a:srgbClr val="765548"/>
                </a:solidFill>
                <a:latin typeface="Segoe UI"/>
              </a:rPr>
              <a:t>Nghi thức tế thần Thành Hoàng được tiến hành trang trọng.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55864" y="3429000"/>
            <a:ext cx="356616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E6D6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55864" y="3429000"/>
            <a:ext cx="45720" cy="224028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11896" y="3611880"/>
            <a:ext cx="31089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950" b="1">
                <a:solidFill>
                  <a:srgbClr val="D9A441"/>
                </a:solidFill>
                <a:latin typeface="Segoe UI"/>
              </a:rPr>
              <a:t>PHẦN HỘI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11896" y="3867912"/>
            <a:ext cx="31089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500" b="1">
                <a:solidFill>
                  <a:srgbClr val="3B1D14"/>
                </a:solidFill>
                <a:latin typeface="Segoe UI"/>
              </a:rPr>
              <a:t>Sôi động, đông vui nhất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11896" y="4251960"/>
            <a:ext cx="3108960" cy="13075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200" b="0">
                <a:solidFill>
                  <a:srgbClr val="765548"/>
                </a:solidFill>
                <a:latin typeface="Segoe UI"/>
              </a:rPr>
              <a:t>Diễn trò, diễn tuồng, chọi gà, kéo co, thi bắt vịt, đấu vật…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3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8686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250" b="1">
                <a:solidFill>
                  <a:srgbClr val="D9A441"/>
                </a:solidFill>
                <a:latin typeface="Segoe UI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43584" y="274320"/>
            <a:ext cx="103784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2000"/>
              </a:lnSpc>
            </a:pPr>
            <a:r>
              <a:rPr sz="3000" b="1">
                <a:solidFill>
                  <a:srgbClr val="3B1D14"/>
                </a:solidFill>
                <a:latin typeface="Segoe UI"/>
              </a:rPr>
              <a:t>B1 · Ý nghĩa của việc thờ Thành Hoàng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61872" y="914400"/>
            <a:ext cx="999439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350" b="0">
                <a:solidFill>
                  <a:srgbClr val="765548"/>
                </a:solidFill>
                <a:latin typeface="Segoe UI"/>
              </a:rPr>
              <a:t>Đình không chỉ là nơi thờ cúng — còn là “sợi dây vô hình” của làng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069848"/>
            <a:ext cx="566928" cy="36576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0" y="91440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>
                <a:solidFill>
                  <a:srgbClr val="765548"/>
                </a:solidFill>
                <a:latin typeface="Segoe UI"/>
              </a:rPr>
              <a:t>PHẦN B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645920"/>
            <a:ext cx="539496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E6D6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645920"/>
            <a:ext cx="45720" cy="2926080"/>
          </a:xfrm>
          <a:prstGeom prst="rect">
            <a:avLst/>
          </a:prstGeom>
          <a:solidFill>
            <a:srgbClr val="A04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828800"/>
            <a:ext cx="4937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950" b="1">
                <a:solidFill>
                  <a:srgbClr val="A0432F"/>
                </a:solidFill>
                <a:latin typeface="Segoe UI"/>
              </a:rPr>
              <a:t>Ý NGHĨA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084832"/>
            <a:ext cx="49377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700" b="1">
                <a:solidFill>
                  <a:srgbClr val="3B1D14"/>
                </a:solidFill>
                <a:latin typeface="Segoe UI"/>
              </a:rPr>
              <a:t>Biết ơn người có công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468880"/>
            <a:ext cx="4937760" cy="19933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400" b="0">
                <a:solidFill>
                  <a:srgbClr val="765548"/>
                </a:solidFill>
                <a:latin typeface="Segoe UI"/>
              </a:rPr>
              <a:t>Thể hiện lòng biết ơn những người có công với làng xã; ôn lại truyền thống ông cha khai hoang lập ấp.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27064" y="1645920"/>
            <a:ext cx="539496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E6D6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27064" y="1645920"/>
            <a:ext cx="45720" cy="2926080"/>
          </a:xfrm>
          <a:prstGeom prst="rect">
            <a:avLst/>
          </a:prstGeom>
          <a:solidFill>
            <a:srgbClr val="2F6F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3096" y="1828800"/>
            <a:ext cx="4937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950" b="1">
                <a:solidFill>
                  <a:srgbClr val="2F6F6A"/>
                </a:solidFill>
                <a:latin typeface="Segoe UI"/>
              </a:rPr>
              <a:t>Ý NGHĨA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83096" y="2084832"/>
            <a:ext cx="49377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700" b="1">
                <a:solidFill>
                  <a:srgbClr val="3B1D14"/>
                </a:solidFill>
                <a:latin typeface="Segoe UI"/>
              </a:rPr>
              <a:t>Giữ nề nếp, đoàn kết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3096" y="2468880"/>
            <a:ext cx="4937760" cy="19933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400" b="0">
                <a:solidFill>
                  <a:srgbClr val="765548"/>
                </a:solidFill>
                <a:latin typeface="Segoe UI"/>
              </a:rPr>
              <a:t>Giữ gìn luật lệ, nề nếp của làng; là sợi dây vô hình giúp dân làng đoàn kết, gắn bó cộng đồng.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4937760"/>
            <a:ext cx="11055096" cy="566928"/>
          </a:xfrm>
          <a:prstGeom prst="rect">
            <a:avLst/>
          </a:prstGeom>
          <a:solidFill>
            <a:srgbClr val="F3E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937760"/>
            <a:ext cx="14630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2000"/>
              </a:lnSpc>
            </a:pPr>
            <a:r>
              <a:rPr sz="1050" b="1">
                <a:solidFill>
                  <a:srgbClr val="8A5A12"/>
                </a:solidFill>
                <a:latin typeface="Segoe UI"/>
              </a:rPr>
              <a:t>VÍ DỤ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4560" y="4937760"/>
            <a:ext cx="92354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2000"/>
              </a:lnSpc>
            </a:pPr>
            <a:r>
              <a:rPr sz="1150" b="0">
                <a:solidFill>
                  <a:srgbClr val="3B1D14"/>
                </a:solidFill>
                <a:latin typeface="Segoe UI"/>
              </a:rPr>
              <a:t>Ví dụ đình ở TP.HCM trong tài liệu: đình Phong Phú, đình Trường Thọ (Thủ Đức), đình Bình Đông (Q.8).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3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8686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250" b="1">
                <a:solidFill>
                  <a:srgbClr val="D9A441"/>
                </a:solidFill>
                <a:latin typeface="Segoe UI"/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43584" y="274320"/>
            <a:ext cx="103784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2000"/>
              </a:lnSpc>
            </a:pPr>
            <a:r>
              <a:rPr sz="3000" b="1">
                <a:solidFill>
                  <a:srgbClr val="3B1D14"/>
                </a:solidFill>
                <a:latin typeface="Segoe UI"/>
              </a:rPr>
              <a:t>B2 · Miếu (miễu) — thờ các vị thần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61872" y="914400"/>
            <a:ext cx="999439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350" b="0">
                <a:solidFill>
                  <a:srgbClr val="765548"/>
                </a:solidFill>
                <a:latin typeface="Segoe UI"/>
              </a:rPr>
              <a:t>Quy mô nhỏ hơn đình và đền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069848"/>
            <a:ext cx="566928" cy="36576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0" y="91440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>
                <a:solidFill>
                  <a:srgbClr val="765548"/>
                </a:solidFill>
                <a:latin typeface="Segoe UI"/>
              </a:rPr>
              <a:t>PHẦN B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600200"/>
            <a:ext cx="539496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6D6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600200"/>
            <a:ext cx="45720" cy="2011680"/>
          </a:xfrm>
          <a:prstGeom prst="rect">
            <a:avLst/>
          </a:prstGeom>
          <a:solidFill>
            <a:srgbClr val="A04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783080"/>
            <a:ext cx="4937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950" b="1">
                <a:solidFill>
                  <a:srgbClr val="A0432F"/>
                </a:solidFill>
                <a:latin typeface="Segoe UI"/>
              </a:rPr>
              <a:t>TÊN GỌI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039112"/>
            <a:ext cx="49377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500" b="1">
                <a:solidFill>
                  <a:srgbClr val="3B1D14"/>
                </a:solidFill>
                <a:latin typeface="Segoe UI"/>
              </a:rPr>
              <a:t>Gọi theo vị được thờ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423160"/>
            <a:ext cx="4937760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250" b="0">
                <a:solidFill>
                  <a:srgbClr val="765548"/>
                </a:solidFill>
                <a:latin typeface="Segoe UI"/>
              </a:rPr>
              <a:t>Miếu Cô, miếu Cậu, miếu Sơn thần, miếu Hà Bá (Thuỷ thần)…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27064" y="1600200"/>
            <a:ext cx="539496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6D6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27064" y="1600200"/>
            <a:ext cx="45720" cy="2011680"/>
          </a:xfrm>
          <a:prstGeom prst="rect">
            <a:avLst/>
          </a:prstGeom>
          <a:solidFill>
            <a:srgbClr val="2F6F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3096" y="1783080"/>
            <a:ext cx="4937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950" b="1">
                <a:solidFill>
                  <a:srgbClr val="2F6F6A"/>
                </a:solidFill>
                <a:latin typeface="Segoe UI"/>
              </a:rPr>
              <a:t>VỊ TRÍ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83096" y="2039112"/>
            <a:ext cx="49377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500" b="1">
                <a:solidFill>
                  <a:srgbClr val="3B1D14"/>
                </a:solidFill>
                <a:latin typeface="Segoe UI"/>
              </a:rPr>
              <a:t>Nơi yên tĩnh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3096" y="2423160"/>
            <a:ext cx="4937760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250" b="0">
                <a:solidFill>
                  <a:srgbClr val="765548"/>
                </a:solidFill>
                <a:latin typeface="Segoe UI"/>
              </a:rPr>
              <a:t>Thường dựng trên gò cao, bờ sông, đầu làng hoặc cuối làng.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3840480"/>
            <a:ext cx="3557016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6D6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" y="3840480"/>
            <a:ext cx="3557016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977639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2400" b="1">
                <a:solidFill>
                  <a:srgbClr val="8A5A12"/>
                </a:solidFill>
                <a:latin typeface="Segoe UI"/>
              </a:rPr>
              <a:t>448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526280"/>
            <a:ext cx="310896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150" b="0">
                <a:solidFill>
                  <a:srgbClr val="765548"/>
                </a:solidFill>
                <a:latin typeface="Segoe UI"/>
              </a:rPr>
              <a:t>Ngôi miếu ở TP.HCM, ngoại thành nhiều hơn nội thành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15968" y="3840480"/>
            <a:ext cx="3557016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6D6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15968" y="3840480"/>
            <a:ext cx="3557016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0" y="3977639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2400" b="1">
                <a:solidFill>
                  <a:srgbClr val="8A5A12"/>
                </a:solidFill>
                <a:latin typeface="Segoe UI"/>
              </a:rPr>
              <a:t>285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4526280"/>
            <a:ext cx="310896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150" b="0">
                <a:solidFill>
                  <a:srgbClr val="765548"/>
                </a:solidFill>
                <a:latin typeface="Segoe UI"/>
              </a:rPr>
              <a:t>Miếu thờ Ngũ Hành Nương Nương — nữ thần hợp mọi ngành nghề, mọi lứa tuổi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65007" y="3840480"/>
            <a:ext cx="3557016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6D6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65007" y="3840480"/>
            <a:ext cx="3557016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1039" y="3977639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2400" b="1">
                <a:solidFill>
                  <a:srgbClr val="8A5A12"/>
                </a:solidFill>
                <a:latin typeface="Segoe UI"/>
              </a:rPr>
              <a:t>29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39" y="4526280"/>
            <a:ext cx="310896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150" b="0">
                <a:solidFill>
                  <a:srgbClr val="765548"/>
                </a:solidFill>
                <a:latin typeface="Segoe UI"/>
              </a:rPr>
              <a:t>Miếu thờ Chúa Xứ Thánh Mẫu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" y="5486400"/>
            <a:ext cx="11055096" cy="566928"/>
          </a:xfrm>
          <a:prstGeom prst="rect">
            <a:avLst/>
          </a:prstGeom>
          <a:solidFill>
            <a:srgbClr val="F3E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5486400"/>
            <a:ext cx="14630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2000"/>
              </a:lnSpc>
            </a:pPr>
            <a:r>
              <a:rPr sz="1050" b="1">
                <a:solidFill>
                  <a:srgbClr val="8A5A12"/>
                </a:solidFill>
                <a:latin typeface="Segoe UI"/>
              </a:rPr>
              <a:t>LỄ CÚNG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94560" y="5486400"/>
            <a:ext cx="92354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2000"/>
              </a:lnSpc>
            </a:pPr>
            <a:r>
              <a:rPr sz="1150" b="0">
                <a:solidFill>
                  <a:srgbClr val="3B1D14"/>
                </a:solidFill>
                <a:latin typeface="Segoe UI"/>
              </a:rPr>
              <a:t>Lễ cúng miếu: đa số cúng 1 lần/năm trong 1 ngày; có nơi rước thần từ miếu về đình tế lễ rồi rước về miếu. Ví dụ: Miếu Bà xã đảo Thạnh An (Cần Giờ).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3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8686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250" b="1">
                <a:solidFill>
                  <a:srgbClr val="D9A441"/>
                </a:solidFill>
                <a:latin typeface="Segoe UI"/>
              </a:rP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43584" y="274320"/>
            <a:ext cx="103784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2000"/>
              </a:lnSpc>
            </a:pPr>
            <a:r>
              <a:rPr sz="3000" b="1">
                <a:solidFill>
                  <a:srgbClr val="3B1D14"/>
                </a:solidFill>
                <a:latin typeface="Segoe UI"/>
              </a:rPr>
              <a:t>B3 · Đền — thờ danh nhân, anh hùng dân tộc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61872" y="914400"/>
            <a:ext cx="999439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350" b="0">
                <a:solidFill>
                  <a:srgbClr val="765548"/>
                </a:solidFill>
                <a:latin typeface="Segoe UI"/>
              </a:rPr>
              <a:t>Gắn với truyền thống yêu nước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069848"/>
            <a:ext cx="566928" cy="36576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0" y="91440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>
                <a:solidFill>
                  <a:srgbClr val="765548"/>
                </a:solidFill>
                <a:latin typeface="Segoe UI"/>
              </a:rPr>
              <a:t>PHẦN B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600200"/>
            <a:ext cx="539496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6D6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600200"/>
            <a:ext cx="45720" cy="2103120"/>
          </a:xfrm>
          <a:prstGeom prst="rect">
            <a:avLst/>
          </a:prstGeom>
          <a:solidFill>
            <a:srgbClr val="A04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783080"/>
            <a:ext cx="4937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950" b="1">
                <a:solidFill>
                  <a:srgbClr val="A0432F"/>
                </a:solidFill>
                <a:latin typeface="Segoe UI"/>
              </a:rPr>
              <a:t>THỜ AI?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039112"/>
            <a:ext cx="49377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500" b="1">
                <a:solidFill>
                  <a:srgbClr val="3B1D14"/>
                </a:solidFill>
                <a:latin typeface="Segoe UI"/>
              </a:rPr>
              <a:t>Thánh, nhân vật lịch sử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423160"/>
            <a:ext cx="4937760" cy="11704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250" b="0">
                <a:solidFill>
                  <a:srgbClr val="765548"/>
                </a:solidFill>
                <a:latin typeface="Segoe UI"/>
              </a:rPr>
              <a:t>Đền thờ Vua Hùng, đền thờ Trần Hưng Đạo, đền thờ Đức Lễ Thành Hầu Nguyễn Hữu Cảnh (Thủ Đức)…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27064" y="1600200"/>
            <a:ext cx="539496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6D6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27064" y="1600200"/>
            <a:ext cx="45720" cy="2103120"/>
          </a:xfrm>
          <a:prstGeom prst="rect">
            <a:avLst/>
          </a:prstGeom>
          <a:solidFill>
            <a:srgbClr val="2F6F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3096" y="1783080"/>
            <a:ext cx="4937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950" b="1">
                <a:solidFill>
                  <a:srgbClr val="2F6F6A"/>
                </a:solidFill>
                <a:latin typeface="Segoe UI"/>
              </a:rPr>
              <a:t>THỜ LIỆT SĨ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83096" y="2039112"/>
            <a:ext cx="49377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500" b="1">
                <a:solidFill>
                  <a:srgbClr val="3B1D14"/>
                </a:solidFill>
                <a:latin typeface="Segoe UI"/>
              </a:rPr>
              <a:t>Sau năm 1975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3096" y="2423160"/>
            <a:ext cx="4937760" cy="11704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150" b="0">
                <a:solidFill>
                  <a:srgbClr val="765548"/>
                </a:solidFill>
                <a:latin typeface="Segoe UI"/>
              </a:rPr>
              <a:t>Thành phố xây nhiều đền thờ liệt sĩ. Đền tưởng niệm liệt sĩ Bến Dược (Củ Chi) tưởng nhớ đồng bào, chiến sĩ hi sinh trên đất Sài Gòn – Gia Định trong hai cuộc kháng chiến.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3931920"/>
            <a:ext cx="11055096" cy="1600200"/>
          </a:xfrm>
          <a:prstGeom prst="rect">
            <a:avLst/>
          </a:prstGeom>
          <a:solidFill>
            <a:srgbClr val="F3E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06908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100" b="1">
                <a:solidFill>
                  <a:srgbClr val="8A5A12"/>
                </a:solidFill>
                <a:latin typeface="Segoe UI"/>
              </a:rPr>
              <a:t>EM CÓ BIẾT?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389120"/>
            <a:ext cx="1042416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300" b="0">
                <a:solidFill>
                  <a:srgbClr val="3B1D14"/>
                </a:solidFill>
                <a:latin typeface="Segoe UI"/>
              </a:rPr>
              <a:t>Ngày 18/12/1946, Chủ tịch Hồ Chí Minh kí Sắc lệnh số 22 quy định các ngày lễ chính thức của đất nước, trong đó có ngày giỗ Trần Hưng Đạo (20 tháng 8 âm lịch) — người ba lần lãnh đạo quân dân đánh thắng quân Mông – Nguyên.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3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8686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250" b="1">
                <a:solidFill>
                  <a:srgbClr val="D9A441"/>
                </a:solidFill>
                <a:latin typeface="Segoe UI"/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43584" y="274320"/>
            <a:ext cx="103784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2000"/>
              </a:lnSpc>
            </a:pPr>
            <a:r>
              <a:rPr sz="3000" b="1">
                <a:solidFill>
                  <a:srgbClr val="3B1D14"/>
                </a:solidFill>
                <a:latin typeface="Segoe UI"/>
              </a:rPr>
              <a:t>So sánh: Đình – Miếu – Đền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61872" y="914400"/>
            <a:ext cx="999439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350" b="0">
                <a:solidFill>
                  <a:srgbClr val="765548"/>
                </a:solidFill>
                <a:latin typeface="Segoe UI"/>
              </a:rPr>
              <a:t>Điền nhanh bảng này vào vở (Phiếu học tập, Phần II)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069848"/>
            <a:ext cx="566928" cy="36576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0" y="91440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>
                <a:solidFill>
                  <a:srgbClr val="765548"/>
                </a:solidFill>
                <a:latin typeface="Segoe UI"/>
              </a:rPr>
              <a:t>PHẦN B</a:t>
            </a:r>
          </a:p>
        </p:txBody>
      </p:sp>
      <p:sp>
        <p:nvSpPr>
          <p:cNvPr id="7" name="Rectangle 6"/>
          <p:cNvSpPr/>
          <p:nvPr/>
        </p:nvSpPr>
        <p:spPr>
          <a:xfrm>
            <a:off x="2029968" y="1554480"/>
            <a:ext cx="3163824" cy="420624"/>
          </a:xfrm>
          <a:prstGeom prst="rect">
            <a:avLst/>
          </a:prstGeom>
          <a:solidFill>
            <a:srgbClr val="A04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67128" y="1554480"/>
            <a:ext cx="288950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2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ĐÌNH</a:t>
            </a:r>
          </a:p>
        </p:txBody>
      </p:sp>
      <p:sp>
        <p:nvSpPr>
          <p:cNvPr id="9" name="Rectangle 8"/>
          <p:cNvSpPr/>
          <p:nvPr/>
        </p:nvSpPr>
        <p:spPr>
          <a:xfrm>
            <a:off x="5230368" y="1554480"/>
            <a:ext cx="3163824" cy="420624"/>
          </a:xfrm>
          <a:prstGeom prst="rect">
            <a:avLst/>
          </a:prstGeom>
          <a:solidFill>
            <a:srgbClr val="A04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67528" y="1554480"/>
            <a:ext cx="288950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2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MIẾU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30768" y="1554480"/>
            <a:ext cx="3154680" cy="420624"/>
          </a:xfrm>
          <a:prstGeom prst="rect">
            <a:avLst/>
          </a:prstGeom>
          <a:solidFill>
            <a:srgbClr val="A04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67928" y="1554480"/>
            <a:ext cx="288036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2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ĐỀN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2011680"/>
            <a:ext cx="1426464" cy="877824"/>
          </a:xfrm>
          <a:prstGeom prst="rect">
            <a:avLst/>
          </a:prstGeom>
          <a:solidFill>
            <a:srgbClr val="F3E1B8"/>
          </a:solidFill>
          <a:ln w="9525">
            <a:solidFill>
              <a:srgbClr val="E6D6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2011680"/>
            <a:ext cx="1152144" cy="8778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2000"/>
              </a:lnSpc>
            </a:pPr>
            <a:r>
              <a:rPr sz="1150" b="1">
                <a:solidFill>
                  <a:srgbClr val="3B1D14"/>
                </a:solidFill>
                <a:latin typeface="Segoe UI"/>
              </a:rPr>
              <a:t>Thờ ai?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29968" y="2011680"/>
            <a:ext cx="3163824" cy="877824"/>
          </a:xfrm>
          <a:prstGeom prst="rect">
            <a:avLst/>
          </a:prstGeom>
          <a:solidFill>
            <a:srgbClr val="FFFFFF"/>
          </a:solidFill>
          <a:ln w="9525">
            <a:solidFill>
              <a:srgbClr val="E6D6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67128" y="2011680"/>
            <a:ext cx="2889504" cy="8778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2000"/>
              </a:lnSpc>
            </a:pPr>
            <a:r>
              <a:rPr sz="1150" b="0">
                <a:solidFill>
                  <a:srgbClr val="3B1D14"/>
                </a:solidFill>
                <a:latin typeface="Segoe UI"/>
              </a:rPr>
              <a:t>Thành Hoàng làng, Tiền hiền, Hậu hiền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30368" y="2011680"/>
            <a:ext cx="3163824" cy="877824"/>
          </a:xfrm>
          <a:prstGeom prst="rect">
            <a:avLst/>
          </a:prstGeom>
          <a:solidFill>
            <a:srgbClr val="FFFFFF"/>
          </a:solidFill>
          <a:ln w="9525">
            <a:solidFill>
              <a:srgbClr val="E6D6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67528" y="2011680"/>
            <a:ext cx="2889504" cy="8778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2000"/>
              </a:lnSpc>
            </a:pPr>
            <a:r>
              <a:rPr sz="1150" b="0">
                <a:solidFill>
                  <a:srgbClr val="3B1D14"/>
                </a:solidFill>
                <a:latin typeface="Segoe UI"/>
              </a:rPr>
              <a:t>Các vị thần: Ngũ Hành Nương Nương, Chúa Xứ, Thuỷ thần…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30768" y="2011680"/>
            <a:ext cx="3154680" cy="877824"/>
          </a:xfrm>
          <a:prstGeom prst="rect">
            <a:avLst/>
          </a:prstGeom>
          <a:solidFill>
            <a:srgbClr val="FFFFFF"/>
          </a:solidFill>
          <a:ln w="9525">
            <a:solidFill>
              <a:srgbClr val="E6D6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67928" y="2011680"/>
            <a:ext cx="2880360" cy="8778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2000"/>
              </a:lnSpc>
            </a:pPr>
            <a:r>
              <a:rPr sz="1150" b="0">
                <a:solidFill>
                  <a:srgbClr val="3B1D14"/>
                </a:solidFill>
                <a:latin typeface="Segoe UI"/>
              </a:rPr>
              <a:t>Thánh, danh nhân, anh hùng dân tộc, liệt sĩ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2926080"/>
            <a:ext cx="1426464" cy="603503"/>
          </a:xfrm>
          <a:prstGeom prst="rect">
            <a:avLst/>
          </a:prstGeom>
          <a:solidFill>
            <a:srgbClr val="F3E1B8"/>
          </a:solidFill>
          <a:ln w="9525">
            <a:solidFill>
              <a:srgbClr val="E6D6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4088" y="2926080"/>
            <a:ext cx="1152144" cy="6035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2000"/>
              </a:lnSpc>
            </a:pPr>
            <a:r>
              <a:rPr sz="1150" b="1">
                <a:solidFill>
                  <a:srgbClr val="3B1D14"/>
                </a:solidFill>
                <a:latin typeface="Segoe UI"/>
              </a:rPr>
              <a:t>Quy mô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029968" y="2926080"/>
            <a:ext cx="3163824" cy="603503"/>
          </a:xfrm>
          <a:prstGeom prst="rect">
            <a:avLst/>
          </a:prstGeom>
          <a:solidFill>
            <a:srgbClr val="FFFFFF"/>
          </a:solidFill>
          <a:ln w="9525">
            <a:solidFill>
              <a:srgbClr val="E6D6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67128" y="2926080"/>
            <a:ext cx="2889504" cy="6035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2000"/>
              </a:lnSpc>
            </a:pPr>
            <a:r>
              <a:rPr sz="1150" b="0">
                <a:solidFill>
                  <a:srgbClr val="3B1D14"/>
                </a:solidFill>
                <a:latin typeface="Segoe UI"/>
              </a:rPr>
              <a:t>Lớn, mỗi làng một đình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230368" y="2926080"/>
            <a:ext cx="3163824" cy="603503"/>
          </a:xfrm>
          <a:prstGeom prst="rect">
            <a:avLst/>
          </a:prstGeom>
          <a:solidFill>
            <a:srgbClr val="FFFFFF"/>
          </a:solidFill>
          <a:ln w="9525">
            <a:solidFill>
              <a:srgbClr val="E6D6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67528" y="2926080"/>
            <a:ext cx="2889504" cy="6035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2000"/>
              </a:lnSpc>
            </a:pPr>
            <a:r>
              <a:rPr sz="1150" b="0">
                <a:solidFill>
                  <a:srgbClr val="3B1D14"/>
                </a:solidFill>
                <a:latin typeface="Segoe UI"/>
              </a:rPr>
              <a:t>Nhỏ nhất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430768" y="2926080"/>
            <a:ext cx="3154680" cy="603503"/>
          </a:xfrm>
          <a:prstGeom prst="rect">
            <a:avLst/>
          </a:prstGeom>
          <a:solidFill>
            <a:srgbClr val="FFFFFF"/>
          </a:solidFill>
          <a:ln w="9525">
            <a:solidFill>
              <a:srgbClr val="E6D6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67928" y="2926080"/>
            <a:ext cx="2880360" cy="6035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2000"/>
              </a:lnSpc>
            </a:pPr>
            <a:r>
              <a:rPr sz="1150" b="0">
                <a:solidFill>
                  <a:srgbClr val="3B1D14"/>
                </a:solidFill>
                <a:latin typeface="Segoe UI"/>
              </a:rPr>
              <a:t>Tuỳ đền, có đền rất lớn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" y="3566160"/>
            <a:ext cx="1426464" cy="603503"/>
          </a:xfrm>
          <a:prstGeom prst="rect">
            <a:avLst/>
          </a:prstGeom>
          <a:solidFill>
            <a:srgbClr val="F3E1B8"/>
          </a:solidFill>
          <a:ln w="9525">
            <a:solidFill>
              <a:srgbClr val="E6D6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4088" y="3566160"/>
            <a:ext cx="1152144" cy="6035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2000"/>
              </a:lnSpc>
            </a:pPr>
            <a:r>
              <a:rPr sz="1150" b="1">
                <a:solidFill>
                  <a:srgbClr val="3B1D14"/>
                </a:solidFill>
                <a:latin typeface="Segoe UI"/>
              </a:rPr>
              <a:t>Lễ chính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029968" y="3566160"/>
            <a:ext cx="3163824" cy="603503"/>
          </a:xfrm>
          <a:prstGeom prst="rect">
            <a:avLst/>
          </a:prstGeom>
          <a:solidFill>
            <a:srgbClr val="FFFFFF"/>
          </a:solidFill>
          <a:ln w="9525">
            <a:solidFill>
              <a:srgbClr val="E6D6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167128" y="3566160"/>
            <a:ext cx="2889504" cy="6035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2000"/>
              </a:lnSpc>
            </a:pPr>
            <a:r>
              <a:rPr sz="1150" b="0">
                <a:solidFill>
                  <a:srgbClr val="3B1D14"/>
                </a:solidFill>
                <a:latin typeface="Segoe UI"/>
              </a:rPr>
              <a:t>Lễ Kỳ yên (cầu an)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230368" y="3566160"/>
            <a:ext cx="3163824" cy="603503"/>
          </a:xfrm>
          <a:prstGeom prst="rect">
            <a:avLst/>
          </a:prstGeom>
          <a:solidFill>
            <a:srgbClr val="FFFFFF"/>
          </a:solidFill>
          <a:ln w="9525">
            <a:solidFill>
              <a:srgbClr val="E6D6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67528" y="3566160"/>
            <a:ext cx="2889504" cy="6035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2000"/>
              </a:lnSpc>
            </a:pPr>
            <a:r>
              <a:rPr sz="1150" b="0">
                <a:solidFill>
                  <a:srgbClr val="3B1D14"/>
                </a:solidFill>
                <a:latin typeface="Segoe UI"/>
              </a:rPr>
              <a:t>Lễ cúng miếu, ngày giỗ thần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430768" y="3566160"/>
            <a:ext cx="3154680" cy="603503"/>
          </a:xfrm>
          <a:prstGeom prst="rect">
            <a:avLst/>
          </a:prstGeom>
          <a:solidFill>
            <a:srgbClr val="FFFFFF"/>
          </a:solidFill>
          <a:ln w="9525">
            <a:solidFill>
              <a:srgbClr val="E6D6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67928" y="3566160"/>
            <a:ext cx="2880360" cy="6035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2000"/>
              </a:lnSpc>
            </a:pPr>
            <a:r>
              <a:rPr sz="1150" b="0">
                <a:solidFill>
                  <a:srgbClr val="3B1D14"/>
                </a:solidFill>
                <a:latin typeface="Segoe UI"/>
              </a:rPr>
              <a:t>Lễ giỗ, dâng hương tưởng niệm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66928" y="4206240"/>
            <a:ext cx="1426464" cy="786384"/>
          </a:xfrm>
          <a:prstGeom prst="rect">
            <a:avLst/>
          </a:prstGeom>
          <a:solidFill>
            <a:srgbClr val="F3E1B8"/>
          </a:solidFill>
          <a:ln w="9525">
            <a:solidFill>
              <a:srgbClr val="E6D6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04088" y="4206240"/>
            <a:ext cx="1152144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2000"/>
              </a:lnSpc>
            </a:pPr>
            <a:r>
              <a:rPr sz="1150" b="1">
                <a:solidFill>
                  <a:srgbClr val="3B1D14"/>
                </a:solidFill>
                <a:latin typeface="Segoe UI"/>
              </a:rPr>
              <a:t>Ví dụ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029968" y="4206240"/>
            <a:ext cx="3163824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E6D6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167128" y="4206240"/>
            <a:ext cx="2889504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2000"/>
              </a:lnSpc>
            </a:pPr>
            <a:r>
              <a:rPr sz="1150" b="0">
                <a:solidFill>
                  <a:srgbClr val="3B1D14"/>
                </a:solidFill>
                <a:latin typeface="Segoe UI"/>
              </a:rPr>
              <a:t>Đình Phong Phú, Trường Thọ, Bình Đông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230368" y="4206240"/>
            <a:ext cx="3163824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E6D6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367528" y="4206240"/>
            <a:ext cx="2889504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2000"/>
              </a:lnSpc>
            </a:pPr>
            <a:r>
              <a:rPr sz="1150" b="0">
                <a:solidFill>
                  <a:srgbClr val="3B1D14"/>
                </a:solidFill>
                <a:latin typeface="Segoe UI"/>
              </a:rPr>
              <a:t>Miếu Bà xã đảo Thạnh An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430768" y="4206240"/>
            <a:ext cx="315468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E6D6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567928" y="4206240"/>
            <a:ext cx="288036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2000"/>
              </a:lnSpc>
            </a:pPr>
            <a:r>
              <a:rPr sz="1150" b="0">
                <a:solidFill>
                  <a:srgbClr val="3B1D14"/>
                </a:solidFill>
                <a:latin typeface="Segoe UI"/>
              </a:rPr>
              <a:t>Đền Đức Thánh Trần (Q.1), Đền Bến Dược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66928" y="5440680"/>
            <a:ext cx="11055096" cy="566928"/>
          </a:xfrm>
          <a:prstGeom prst="rect">
            <a:avLst/>
          </a:prstGeom>
          <a:solidFill>
            <a:srgbClr val="F3E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2960" y="5440680"/>
            <a:ext cx="14630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2000"/>
              </a:lnSpc>
            </a:pPr>
            <a:r>
              <a:rPr sz="1050" b="1">
                <a:solidFill>
                  <a:srgbClr val="8A5A12"/>
                </a:solidFill>
                <a:latin typeface="Segoe UI"/>
              </a:rPr>
              <a:t>MẸO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194560" y="5440680"/>
            <a:ext cx="92354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2000"/>
              </a:lnSpc>
            </a:pPr>
            <a:r>
              <a:rPr sz="1150" b="0">
                <a:solidFill>
                  <a:srgbClr val="3B1D14"/>
                </a:solidFill>
                <a:latin typeface="Segoe UI"/>
              </a:rPr>
              <a:t>Mẹo nhớ: ĐÌNH = làng · MIẾU = thần · ĐỀN = người có công với nước.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3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8686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250" b="1">
                <a:solidFill>
                  <a:srgbClr val="D9A441"/>
                </a:solidFill>
                <a:latin typeface="Segoe UI"/>
              </a:rP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43584" y="274320"/>
            <a:ext cx="103784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2000"/>
              </a:lnSpc>
            </a:pPr>
            <a:r>
              <a:rPr sz="3000" b="1">
                <a:solidFill>
                  <a:srgbClr val="3B1D14"/>
                </a:solidFill>
                <a:latin typeface="Segoe UI"/>
              </a:rPr>
              <a:t>C1 · Thờ cúng tổ tiên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61872" y="914400"/>
            <a:ext cx="999439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350" b="0">
                <a:solidFill>
                  <a:srgbClr val="765548"/>
                </a:solidFill>
                <a:latin typeface="Segoe UI"/>
              </a:rPr>
              <a:t>Nghi lễ thờ cúng tại gia đình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069848"/>
            <a:ext cx="566928" cy="36576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0" y="91440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>
                <a:solidFill>
                  <a:srgbClr val="765548"/>
                </a:solidFill>
                <a:latin typeface="Segoe UI"/>
              </a:rPr>
              <a:t>PHẦN C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600200"/>
            <a:ext cx="11055096" cy="1188720"/>
          </a:xfrm>
          <a:prstGeom prst="rect">
            <a:avLst/>
          </a:prstGeom>
          <a:solidFill>
            <a:srgbClr val="4A1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00200"/>
            <a:ext cx="1033272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2000"/>
              </a:lnSpc>
            </a:pPr>
            <a:r>
              <a:rPr sz="2400" b="1">
                <a:solidFill>
                  <a:srgbClr val="FFFFFF"/>
                </a:solidFill>
                <a:latin typeface="Segoe UI"/>
              </a:rPr>
              <a:t>“Cây có cội, nước có nguồn, con người có tổ tiên dòng tộc”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3017520"/>
            <a:ext cx="356616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E6D6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3017520"/>
            <a:ext cx="45720" cy="2468880"/>
          </a:xfrm>
          <a:prstGeom prst="rect">
            <a:avLst/>
          </a:prstGeom>
          <a:solidFill>
            <a:srgbClr val="A04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200400"/>
            <a:ext cx="31089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950" b="1">
                <a:solidFill>
                  <a:srgbClr val="A0432F"/>
                </a:solidFill>
                <a:latin typeface="Segoe UI"/>
              </a:rPr>
              <a:t>ĐẠO ĐỨC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456432"/>
            <a:ext cx="31089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400" b="1">
                <a:solidFill>
                  <a:srgbClr val="3B1D14"/>
                </a:solidFill>
                <a:latin typeface="Segoe UI"/>
              </a:rPr>
              <a:t>Biết ơn sinh thành, dưỡng dục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840480"/>
            <a:ext cx="3108960" cy="15361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200" b="0">
                <a:solidFill>
                  <a:srgbClr val="765548"/>
                </a:solidFill>
                <a:latin typeface="Segoe UI"/>
              </a:rPr>
              <a:t>Không chỉ là tín ngưỡng mà còn là đạo đức: ơn cha mẹ, ông bà, tổ tiên.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15968" y="3017520"/>
            <a:ext cx="356616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E6D6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5968" y="3017520"/>
            <a:ext cx="45720" cy="2468880"/>
          </a:xfrm>
          <a:prstGeom prst="rect">
            <a:avLst/>
          </a:prstGeom>
          <a:solidFill>
            <a:srgbClr val="2F6F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3200400"/>
            <a:ext cx="31089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950" b="1">
                <a:solidFill>
                  <a:srgbClr val="2F6F6A"/>
                </a:solidFill>
                <a:latin typeface="Segoe UI"/>
              </a:rPr>
              <a:t>NƠI THỜ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3456432"/>
            <a:ext cx="31089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400" b="1">
                <a:solidFill>
                  <a:srgbClr val="3B1D14"/>
                </a:solidFill>
                <a:latin typeface="Segoe UI"/>
              </a:rPr>
              <a:t>Gia đình &amp; nhà thờ họ tộc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3840480"/>
            <a:ext cx="3108960" cy="15361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200" b="0">
                <a:solidFill>
                  <a:srgbClr val="765548"/>
                </a:solidFill>
                <a:latin typeface="Segoe UI"/>
              </a:rPr>
              <a:t>Bàn thờ trong nhà, nhà thờ họ của dòng tộc.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55864" y="3017520"/>
            <a:ext cx="356616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E6D6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55864" y="3017520"/>
            <a:ext cx="45720" cy="246888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11896" y="3200400"/>
            <a:ext cx="31089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950" b="1">
                <a:solidFill>
                  <a:srgbClr val="D9A441"/>
                </a:solidFill>
                <a:latin typeface="Segoe UI"/>
              </a:rPr>
              <a:t>THỜI ĐIỂM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11896" y="3456432"/>
            <a:ext cx="31089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400" b="1">
                <a:solidFill>
                  <a:srgbClr val="3B1D14"/>
                </a:solidFill>
                <a:latin typeface="Segoe UI"/>
              </a:rPr>
              <a:t>Mồng một, rằm, lễ tết, giỗ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11896" y="3840480"/>
            <a:ext cx="3108960" cy="15361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150" b="0">
                <a:solidFill>
                  <a:srgbClr val="765548"/>
                </a:solidFill>
                <a:latin typeface="Segoe UI"/>
              </a:rPr>
              <a:t>Cả khi có việc lớn (sinh con, cưới hỏi, làm nhà, lập nghiệp) và ngày giỗ — ngày mất (kị nhật), tính theo âm lịch.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5715000"/>
            <a:ext cx="11055096" cy="566928"/>
          </a:xfrm>
          <a:prstGeom prst="rect">
            <a:avLst/>
          </a:prstGeom>
          <a:solidFill>
            <a:srgbClr val="F3E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5715000"/>
            <a:ext cx="14630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2000"/>
              </a:lnSpc>
            </a:pPr>
            <a:r>
              <a:rPr sz="1050" b="1">
                <a:solidFill>
                  <a:srgbClr val="8A5A12"/>
                </a:solidFill>
                <a:latin typeface="Segoe UI"/>
              </a:rPr>
              <a:t>THƠ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94560" y="5715000"/>
            <a:ext cx="92354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2000"/>
              </a:lnSpc>
            </a:pPr>
            <a:r>
              <a:rPr sz="1150" b="0">
                <a:solidFill>
                  <a:srgbClr val="3B1D14"/>
                </a:solidFill>
                <a:latin typeface="Segoe UI"/>
              </a:rPr>
              <a:t>Thà đui mà giữ đạo nhà / Còn hơn sáng mắt cha ông không thờ.   — Lục Vân Tiên, Nguyễn Đình Chiểu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3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8686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250" b="1">
                <a:solidFill>
                  <a:srgbClr val="D9A441"/>
                </a:solidFill>
                <a:latin typeface="Segoe UI"/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43584" y="274320"/>
            <a:ext cx="103784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2000"/>
              </a:lnSpc>
            </a:pPr>
            <a:r>
              <a:rPr sz="3000" b="1">
                <a:solidFill>
                  <a:srgbClr val="3B1D14"/>
                </a:solidFill>
                <a:latin typeface="Segoe UI"/>
              </a:rPr>
              <a:t>C2 · Thờ cúng Tổ nghề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61872" y="914400"/>
            <a:ext cx="999439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350" b="0">
                <a:solidFill>
                  <a:srgbClr val="765548"/>
                </a:solidFill>
                <a:latin typeface="Segoe UI"/>
              </a:rPr>
              <a:t>Nhớ ơn người khai sáng, cải tiến nghề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069848"/>
            <a:ext cx="566928" cy="36576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0" y="91440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>
                <a:solidFill>
                  <a:srgbClr val="765548"/>
                </a:solidFill>
                <a:latin typeface="Segoe UI"/>
              </a:rPr>
              <a:t>PHẦN C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600200"/>
            <a:ext cx="539496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6D6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600200"/>
            <a:ext cx="45720" cy="2011680"/>
          </a:xfrm>
          <a:prstGeom prst="rect">
            <a:avLst/>
          </a:prstGeom>
          <a:solidFill>
            <a:srgbClr val="A04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783080"/>
            <a:ext cx="4937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950" b="1">
                <a:solidFill>
                  <a:srgbClr val="A0432F"/>
                </a:solidFill>
                <a:latin typeface="Segoe UI"/>
              </a:rPr>
              <a:t>Ý NGHĨA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039112"/>
            <a:ext cx="49377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500" b="1">
                <a:solidFill>
                  <a:srgbClr val="3B1D14"/>
                </a:solidFill>
                <a:latin typeface="Segoe UI"/>
              </a:rPr>
              <a:t>Nhớ ơn và cầu che chở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423160"/>
            <a:ext cx="4937760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200" b="0">
                <a:solidFill>
                  <a:srgbClr val="765548"/>
                </a:solidFill>
                <a:latin typeface="Segoe UI"/>
              </a:rPr>
              <a:t>Người lao động tin vào sự phù hộ của Tổ sư; thờ Tổ nghề để nhớ ơn người truyền lại cách mưu sinh, cầu công việc thuận lợi, tránh rủi ro.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27064" y="1600200"/>
            <a:ext cx="539496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6D6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27064" y="1600200"/>
            <a:ext cx="45720" cy="2011680"/>
          </a:xfrm>
          <a:prstGeom prst="rect">
            <a:avLst/>
          </a:prstGeom>
          <a:solidFill>
            <a:srgbClr val="2F6F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3096" y="1783080"/>
            <a:ext cx="4937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950" b="1">
                <a:solidFill>
                  <a:srgbClr val="2F6F6A"/>
                </a:solidFill>
                <a:latin typeface="Segoe UI"/>
              </a:rPr>
              <a:t>VÍ DỤ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83096" y="2039112"/>
            <a:ext cx="49377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500" b="1">
                <a:solidFill>
                  <a:srgbClr val="3B1D14"/>
                </a:solidFill>
                <a:latin typeface="Segoe UI"/>
              </a:rPr>
              <a:t>Nhiều nghề có đền thờ Tổ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3096" y="2423160"/>
            <a:ext cx="4937760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250" b="0">
                <a:solidFill>
                  <a:srgbClr val="765548"/>
                </a:solidFill>
                <a:latin typeface="Segoe UI"/>
              </a:rPr>
              <a:t>Kim hoàn, thợ bạc, thợ may, thợ mộc, sân khấu…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3840480"/>
            <a:ext cx="11055096" cy="1737360"/>
          </a:xfrm>
          <a:prstGeom prst="rect">
            <a:avLst/>
          </a:prstGeom>
          <a:solidFill>
            <a:srgbClr val="F3E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977639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100" b="1">
                <a:solidFill>
                  <a:srgbClr val="8A5A12"/>
                </a:solidFill>
                <a:latin typeface="Segoe UI"/>
              </a:rPr>
              <a:t>EM CÓ BIẾT?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297680"/>
            <a:ext cx="1042416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300" b="0">
                <a:solidFill>
                  <a:srgbClr val="3B1D14"/>
                </a:solidFill>
                <a:latin typeface="Segoe UI"/>
              </a:rPr>
              <a:t>Lễ giỗ Tổ nghề kim hoàn diễn ra từ ngày 6 đến 8 tháng 2 âm lịch tại Hội quán Lệ Châu (Quận 5), thu hút hàng nghìn nghệ nhân kim hoàn khắp Nam Bộ; tối 7 tháng 2 có chương trình cải lương do nghệ sĩ và chính những người thợ biểu diễn.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3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8686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250" b="1">
                <a:solidFill>
                  <a:srgbClr val="D9A441"/>
                </a:solidFill>
                <a:latin typeface="Segoe UI"/>
              </a:rPr>
              <a:t>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43584" y="274320"/>
            <a:ext cx="103784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2000"/>
              </a:lnSpc>
            </a:pPr>
            <a:r>
              <a:rPr sz="3000" b="1">
                <a:solidFill>
                  <a:srgbClr val="3B1D14"/>
                </a:solidFill>
                <a:latin typeface="Segoe UI"/>
              </a:rPr>
              <a:t>Vận dụng: hướng dẫn viên nhí của thành phố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61872" y="914400"/>
            <a:ext cx="999439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350" b="0">
                <a:solidFill>
                  <a:srgbClr val="765548"/>
                </a:solidFill>
                <a:latin typeface="Segoe UI"/>
              </a:rPr>
              <a:t>4 nhóm · 15 phút chuẩn bị · 2 phút giới thiệu: nguồn gốc – hoạt động chính – ý nghĩa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069848"/>
            <a:ext cx="566928" cy="36576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0" y="91440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>
                <a:solidFill>
                  <a:srgbClr val="765548"/>
                </a:solidFill>
                <a:latin typeface="Segoe UI"/>
              </a:rPr>
              <a:t>NHÓM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691640"/>
            <a:ext cx="2596896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6D6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691640"/>
            <a:ext cx="2596896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1920240"/>
            <a:ext cx="1051560" cy="292608"/>
          </a:xfrm>
          <a:prstGeom prst="rect">
            <a:avLst/>
          </a:prstGeom>
          <a:solidFill>
            <a:srgbClr val="F3E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920240"/>
            <a:ext cx="10515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950" b="1">
                <a:solidFill>
                  <a:srgbClr val="8A5A12"/>
                </a:solidFill>
                <a:latin typeface="Segoe UI"/>
              </a:rPr>
              <a:t>NHÓM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377440"/>
            <a:ext cx="2103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500" b="1">
                <a:solidFill>
                  <a:srgbClr val="3B1D14"/>
                </a:solidFill>
                <a:latin typeface="Segoe UI"/>
              </a:rPr>
              <a:t>Lễ Kỳ yên ở đình làng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08960"/>
            <a:ext cx="210312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150" b="0">
                <a:solidFill>
                  <a:srgbClr val="765548"/>
                </a:solidFill>
                <a:latin typeface="Segoe UI"/>
              </a:rPr>
              <a:t>Thành Hoàng là ai? Lễ có những phần nào? Vì sao là “ngày hội đông vui nhất của làng”?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92424" y="1691640"/>
            <a:ext cx="2596896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6D6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92424" y="1691640"/>
            <a:ext cx="2596896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48456" y="1920240"/>
            <a:ext cx="1051560" cy="292608"/>
          </a:xfrm>
          <a:prstGeom prst="rect">
            <a:avLst/>
          </a:prstGeom>
          <a:solidFill>
            <a:srgbClr val="F3E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48456" y="1920240"/>
            <a:ext cx="10515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950" b="1">
                <a:solidFill>
                  <a:srgbClr val="8A5A12"/>
                </a:solidFill>
                <a:latin typeface="Segoe UI"/>
              </a:rPr>
              <a:t>NHÓM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48456" y="2377440"/>
            <a:ext cx="2103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500" b="1">
                <a:solidFill>
                  <a:srgbClr val="3B1D14"/>
                </a:solidFill>
                <a:latin typeface="Segoe UI"/>
              </a:rPr>
              <a:t>Lễ giỗ Tổ Hùng Vương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48456" y="3108960"/>
            <a:ext cx="210312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150" b="0">
                <a:solidFill>
                  <a:srgbClr val="765548"/>
                </a:solidFill>
                <a:latin typeface="Segoe UI"/>
              </a:rPr>
              <a:t>Tổ chức ở đâu tại TP.HCM? Phần hội có gì? Lễ giỗ nhắc ta nhớ “nguồn” nào?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1691640"/>
            <a:ext cx="2596896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6D6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1691640"/>
            <a:ext cx="2596896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73952" y="1920240"/>
            <a:ext cx="1051560" cy="292608"/>
          </a:xfrm>
          <a:prstGeom prst="rect">
            <a:avLst/>
          </a:prstGeom>
          <a:solidFill>
            <a:srgbClr val="F3E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73952" y="1920240"/>
            <a:ext cx="10515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950" b="1">
                <a:solidFill>
                  <a:srgbClr val="8A5A12"/>
                </a:solidFill>
                <a:latin typeface="Segoe UI"/>
              </a:rPr>
              <a:t>NHÓM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73952" y="2377440"/>
            <a:ext cx="2103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500" b="1">
                <a:solidFill>
                  <a:srgbClr val="3B1D14"/>
                </a:solidFill>
                <a:latin typeface="Segoe UI"/>
              </a:rPr>
              <a:t>Lễ giỗ Đức Thánh Trần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73952" y="3108960"/>
            <a:ext cx="210312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150" b="0">
                <a:solidFill>
                  <a:srgbClr val="765548"/>
                </a:solidFill>
                <a:latin typeface="Segoe UI"/>
              </a:rPr>
              <a:t>Đền ở đâu, nghi thức đặc biệt (nam tế, nữ tế, hát chầu văn)? Công lao của Trần Hưng Đạo?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43415" y="1691640"/>
            <a:ext cx="2596896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6D6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43415" y="1691640"/>
            <a:ext cx="2596896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299447" y="1920240"/>
            <a:ext cx="1051560" cy="292608"/>
          </a:xfrm>
          <a:prstGeom prst="rect">
            <a:avLst/>
          </a:prstGeom>
          <a:solidFill>
            <a:srgbClr val="F3E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99447" y="1920240"/>
            <a:ext cx="10515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950" b="1">
                <a:solidFill>
                  <a:srgbClr val="8A5A12"/>
                </a:solidFill>
                <a:latin typeface="Segoe UI"/>
              </a:rPr>
              <a:t>NHÓM 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99447" y="2377440"/>
            <a:ext cx="2103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500" b="1">
                <a:solidFill>
                  <a:srgbClr val="3B1D14"/>
                </a:solidFill>
                <a:latin typeface="Segoe UI"/>
              </a:rPr>
              <a:t>Thờ cúng tổ tiên &amp; Tổ nghề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99447" y="3108960"/>
            <a:ext cx="210312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150" b="0">
                <a:solidFill>
                  <a:srgbClr val="765548"/>
                </a:solidFill>
                <a:latin typeface="Segoe UI"/>
              </a:rPr>
              <a:t>Gia đình em cúng ông bà dịp nào? Giới thiệu giỗ Tổ nghề kim hoàn ở Hội quán Lệ Châu.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6928" y="5166360"/>
            <a:ext cx="11055096" cy="566928"/>
          </a:xfrm>
          <a:prstGeom prst="rect">
            <a:avLst/>
          </a:prstGeom>
          <a:solidFill>
            <a:srgbClr val="F3E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5166360"/>
            <a:ext cx="14630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2000"/>
              </a:lnSpc>
            </a:pPr>
            <a:r>
              <a:rPr sz="1050" b="1">
                <a:solidFill>
                  <a:srgbClr val="8A5A12"/>
                </a:solidFill>
                <a:latin typeface="Segoe UI"/>
              </a:rPr>
              <a:t>TƯ LIỆU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94560" y="5166360"/>
            <a:ext cx="92354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2000"/>
              </a:lnSpc>
            </a:pPr>
            <a:r>
              <a:rPr sz="1150" b="0">
                <a:solidFill>
                  <a:srgbClr val="3B1D14"/>
                </a:solidFill>
                <a:latin typeface="Segoe UI"/>
              </a:rPr>
              <a:t>Tư liệu: mục Lịch nghi lễ và các video gợi ý trên trang bài giảng. Tiêu chí: đủ 3 ý (nguồn gốc – hoạt động – ý nghĩa), nói rõ, đúng thời gian.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3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8686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250" b="1">
                <a:solidFill>
                  <a:srgbClr val="D9A441"/>
                </a:solidFill>
                <a:latin typeface="Segoe UI"/>
              </a:rPr>
              <a:t>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43584" y="274320"/>
            <a:ext cx="103784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2000"/>
              </a:lnSpc>
            </a:pPr>
            <a:r>
              <a:rPr sz="3000" b="1">
                <a:solidFill>
                  <a:srgbClr val="3B1D14"/>
                </a:solidFill>
                <a:latin typeface="Segoe UI"/>
              </a:rPr>
              <a:t>Luyện tập — trả lời vào vở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61872" y="914400"/>
            <a:ext cx="999439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350" b="0">
                <a:solidFill>
                  <a:srgbClr val="765548"/>
                </a:solidFill>
                <a:latin typeface="Segoe UI"/>
              </a:rPr>
              <a:t>Bốn câu hỏi trong tài liệu GDĐP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069848"/>
            <a:ext cx="566928" cy="36576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54480"/>
            <a:ext cx="11055096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6D6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554480"/>
            <a:ext cx="640080" cy="91440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554480"/>
            <a:ext cx="64008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22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554480"/>
            <a:ext cx="996696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2000"/>
              </a:lnSpc>
            </a:pPr>
            <a:r>
              <a:rPr sz="1500" b="1">
                <a:solidFill>
                  <a:srgbClr val="3B1D14"/>
                </a:solidFill>
                <a:latin typeface="Segoe UI"/>
              </a:rPr>
              <a:t>Em hiểu như thế nào về câu nói “Uống nước nhớ nguồn”?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578608"/>
            <a:ext cx="11055096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6D6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2578608"/>
            <a:ext cx="640080" cy="91440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2578608"/>
            <a:ext cx="64008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22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578608"/>
            <a:ext cx="996696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2000"/>
              </a:lnSpc>
            </a:pPr>
            <a:r>
              <a:rPr sz="1500" b="1">
                <a:solidFill>
                  <a:srgbClr val="3B1D14"/>
                </a:solidFill>
                <a:latin typeface="Segoe UI"/>
              </a:rPr>
              <a:t>Đình là gì? Nêu chức năng của một ngôi đình và ý nghĩa của việc thờ Thành Hoàng.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3602736"/>
            <a:ext cx="11055096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6D6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3602736"/>
            <a:ext cx="640080" cy="91440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3602736"/>
            <a:ext cx="64008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22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3602736"/>
            <a:ext cx="996696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2000"/>
              </a:lnSpc>
            </a:pPr>
            <a:r>
              <a:rPr sz="1500" b="1">
                <a:solidFill>
                  <a:srgbClr val="3B1D14"/>
                </a:solidFill>
                <a:latin typeface="Segoe UI"/>
              </a:rPr>
              <a:t>Trình bày hiểu biết của em về việc thờ cúng tổ tiên của cư dân Thành phố Hồ Chí Minh.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4626864"/>
            <a:ext cx="11055096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6D6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66928" y="4626864"/>
            <a:ext cx="640080" cy="91440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4626864"/>
            <a:ext cx="64008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22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4626864"/>
            <a:ext cx="996696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2000"/>
              </a:lnSpc>
            </a:pPr>
            <a:r>
              <a:rPr sz="1500" b="1">
                <a:solidFill>
                  <a:srgbClr val="3B1D14"/>
                </a:solidFill>
                <a:latin typeface="Segoe UI"/>
              </a:rPr>
              <a:t>Nêu sự phong phú, đa dạng của các nghi lễ dân gian ở TP.HCM thể hiện đạo lí “Uống nước nhớ nguồn”.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3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8686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250" b="1">
                <a:solidFill>
                  <a:srgbClr val="D9A441"/>
                </a:solidFill>
                <a:latin typeface="Segoe UI"/>
              </a:rPr>
              <a:t>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43584" y="274320"/>
            <a:ext cx="103784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2000"/>
              </a:lnSpc>
            </a:pPr>
            <a:r>
              <a:rPr sz="3000" b="1">
                <a:solidFill>
                  <a:srgbClr val="3B1D14"/>
                </a:solidFill>
                <a:latin typeface="Segoe UI"/>
              </a:rPr>
              <a:t>Trò chơi ôn tập: Hành trình về nguồn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61872" y="914400"/>
            <a:ext cx="999439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350" b="0">
                <a:solidFill>
                  <a:srgbClr val="765548"/>
                </a:solidFill>
                <a:latin typeface="Segoe UI"/>
              </a:rPr>
              <a:t>Ba màn chơi không trắc nghiệm — mở trò chơi trên trang bài giảng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069848"/>
            <a:ext cx="566928" cy="36576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0" y="91440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>
                <a:solidFill>
                  <a:srgbClr val="765548"/>
                </a:solidFill>
                <a:latin typeface="Segoe UI"/>
              </a:rPr>
              <a:t>TRÒ CHƠI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691640"/>
            <a:ext cx="3557016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6D6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691640"/>
            <a:ext cx="3557016" cy="45720"/>
          </a:xfrm>
          <a:prstGeom prst="rect">
            <a:avLst/>
          </a:prstGeom>
          <a:solidFill>
            <a:srgbClr val="A04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874520"/>
            <a:ext cx="309981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950" b="1">
                <a:solidFill>
                  <a:srgbClr val="A0432F"/>
                </a:solidFill>
                <a:latin typeface="Segoe UI"/>
              </a:rPr>
              <a:t>MÀN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130552"/>
            <a:ext cx="309981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700" b="1">
                <a:solidFill>
                  <a:srgbClr val="3B1D14"/>
                </a:solidFill>
                <a:latin typeface="Segoe UI"/>
              </a:rPr>
              <a:t>Lật thẻ ghép đôi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514600"/>
            <a:ext cx="3099816" cy="181051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300" b="0">
                <a:solidFill>
                  <a:srgbClr val="765548"/>
                </a:solidFill>
                <a:latin typeface="Segoe UI"/>
              </a:rPr>
              <a:t>Ghép nghi lễ / công trình với ý nghĩa tương ứng.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15968" y="1691640"/>
            <a:ext cx="3557016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6D6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15968" y="1691640"/>
            <a:ext cx="3557016" cy="45720"/>
          </a:xfrm>
          <a:prstGeom prst="rect">
            <a:avLst/>
          </a:prstGeom>
          <a:solidFill>
            <a:srgbClr val="2F6F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1874520"/>
            <a:ext cx="309981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950" b="1">
                <a:solidFill>
                  <a:srgbClr val="2F6F6A"/>
                </a:solidFill>
                <a:latin typeface="Segoe UI"/>
              </a:rPr>
              <a:t>MÀN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130552"/>
            <a:ext cx="309981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700" b="1">
                <a:solidFill>
                  <a:srgbClr val="3B1D14"/>
                </a:solidFill>
                <a:latin typeface="Segoe UI"/>
              </a:rPr>
              <a:t>Ai được thờ ở đâu?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514600"/>
            <a:ext cx="3099816" cy="181051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300" b="0">
                <a:solidFill>
                  <a:srgbClr val="765548"/>
                </a:solidFill>
                <a:latin typeface="Segoe UI"/>
              </a:rPr>
              <a:t>Xếp nhân vật vào đình – miếu – đền – nhà thờ tổ.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65007" y="1691640"/>
            <a:ext cx="3557016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6D6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65007" y="1691640"/>
            <a:ext cx="3557016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39" y="1874520"/>
            <a:ext cx="309981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950" b="1">
                <a:solidFill>
                  <a:srgbClr val="D9A441"/>
                </a:solidFill>
                <a:latin typeface="Segoe UI"/>
              </a:rPr>
              <a:t>MÀN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39" y="2130552"/>
            <a:ext cx="309981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700" b="1">
                <a:solidFill>
                  <a:srgbClr val="3B1D14"/>
                </a:solidFill>
                <a:latin typeface="Segoe UI"/>
              </a:rPr>
              <a:t>Ô chữ từ khoá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39" y="2514600"/>
            <a:ext cx="3099816" cy="181051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300" b="0">
                <a:solidFill>
                  <a:srgbClr val="765548"/>
                </a:solidFill>
                <a:latin typeface="Segoe UI"/>
              </a:rPr>
              <a:t>Giải ô chữ để tìm từ khoá bí mật CỘI NGUỒN.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4846320"/>
            <a:ext cx="11055096" cy="566928"/>
          </a:xfrm>
          <a:prstGeom prst="rect">
            <a:avLst/>
          </a:prstGeom>
          <a:solidFill>
            <a:srgbClr val="F3E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4846320"/>
            <a:ext cx="14630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2000"/>
              </a:lnSpc>
            </a:pPr>
            <a:r>
              <a:rPr sz="1050" b="1">
                <a:solidFill>
                  <a:srgbClr val="8A5A12"/>
                </a:solidFill>
                <a:latin typeface="Segoe UI"/>
              </a:rPr>
              <a:t>LUẬT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94560" y="4846320"/>
            <a:ext cx="92354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2000"/>
              </a:lnSpc>
            </a:pPr>
            <a:r>
              <a:rPr sz="1150" b="0">
                <a:solidFill>
                  <a:srgbClr val="3B1D14"/>
                </a:solidFill>
                <a:latin typeface="Segoe UI"/>
              </a:rPr>
              <a:t>Cách chơi: chia lớp 4 đội, mỗi màn mỗi đội cử một đại diện; cộng điểm đội trên bảng.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3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8686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250" b="1">
                <a:solidFill>
                  <a:srgbClr val="D9A441"/>
                </a:solidFill>
                <a:latin typeface="Segoe UI"/>
              </a:rPr>
              <a:t>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43584" y="274320"/>
            <a:ext cx="103784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2000"/>
              </a:lnSpc>
            </a:pPr>
            <a:r>
              <a:rPr sz="3000" b="1">
                <a:solidFill>
                  <a:srgbClr val="3B1D14"/>
                </a:solidFill>
                <a:latin typeface="Segoe UI"/>
              </a:rPr>
              <a:t>Ghi nhớ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61872" y="914400"/>
            <a:ext cx="999439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350" b="0">
                <a:solidFill>
                  <a:srgbClr val="765548"/>
                </a:solidFill>
                <a:latin typeface="Segoe UI"/>
              </a:rPr>
              <a:t>Năm ý chính cần chép vào vở trước khi rời lớp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069848"/>
            <a:ext cx="566928" cy="36576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54480"/>
            <a:ext cx="11055096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6D6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554480"/>
            <a:ext cx="45720" cy="777240"/>
          </a:xfrm>
          <a:prstGeom prst="rect">
            <a:avLst/>
          </a:prstGeom>
          <a:solidFill>
            <a:srgbClr val="A04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554480"/>
            <a:ext cx="27432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2000"/>
              </a:lnSpc>
            </a:pPr>
            <a:r>
              <a:rPr sz="1400" b="1">
                <a:solidFill>
                  <a:srgbClr val="3B1D14"/>
                </a:solidFill>
                <a:latin typeface="Segoe UI"/>
              </a:rPr>
              <a:t>Uống nước nhớ nguồn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1554480"/>
            <a:ext cx="77724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2000"/>
              </a:lnSpc>
            </a:pPr>
            <a:r>
              <a:rPr sz="1200" b="0">
                <a:solidFill>
                  <a:srgbClr val="765548"/>
                </a:solidFill>
                <a:latin typeface="Segoe UI"/>
              </a:rPr>
              <a:t>Thừa hưởng thành quả của thế hệ trước thì phải biết ơn, tri ân, giữ gìn và phát huy thành quả ấy.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423160"/>
            <a:ext cx="11055096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6D6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2423160"/>
            <a:ext cx="45720" cy="777240"/>
          </a:xfrm>
          <a:prstGeom prst="rect">
            <a:avLst/>
          </a:prstGeom>
          <a:solidFill>
            <a:srgbClr val="2F6F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423160"/>
            <a:ext cx="27432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2000"/>
              </a:lnSpc>
            </a:pPr>
            <a:r>
              <a:rPr sz="1400" b="1">
                <a:solidFill>
                  <a:srgbClr val="3B1D14"/>
                </a:solidFill>
                <a:latin typeface="Segoe UI"/>
              </a:rPr>
              <a:t>Đình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423160"/>
            <a:ext cx="77724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2000"/>
              </a:lnSpc>
            </a:pPr>
            <a:r>
              <a:rPr sz="1200" b="0">
                <a:solidFill>
                  <a:srgbClr val="765548"/>
                </a:solidFill>
                <a:latin typeface="Segoe UI"/>
              </a:rPr>
              <a:t>Thờ Thành Hoàng làng, Tiền hiền, Hậu hiền; 3 chức năng tín ngưỡng – hành chính – văn hoá; lễ lớn nhất là lễ Kỳ yên (phần lễ, phần hội).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3291839"/>
            <a:ext cx="11055096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6D6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3291839"/>
            <a:ext cx="45720" cy="77724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291839"/>
            <a:ext cx="27432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2000"/>
              </a:lnSpc>
            </a:pPr>
            <a:r>
              <a:rPr sz="1400" b="1">
                <a:solidFill>
                  <a:srgbClr val="3B1D14"/>
                </a:solidFill>
                <a:latin typeface="Segoe UI"/>
              </a:rPr>
              <a:t>Miếu và đền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3291839"/>
            <a:ext cx="77724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2000"/>
              </a:lnSpc>
            </a:pPr>
            <a:r>
              <a:rPr sz="1200" b="0">
                <a:solidFill>
                  <a:srgbClr val="765548"/>
                </a:solidFill>
                <a:latin typeface="Segoe UI"/>
              </a:rPr>
              <a:t>Miếu thờ các vị thần (nhiều nhất Ngũ Hành Nương Nương); đền thờ danh nhân, anh hùng dân tộc, liệt sĩ.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4160520"/>
            <a:ext cx="11055096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6D6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66928" y="4160520"/>
            <a:ext cx="45720" cy="777240"/>
          </a:xfrm>
          <a:prstGeom prst="rect">
            <a:avLst/>
          </a:prstGeom>
          <a:solidFill>
            <a:srgbClr val="7A3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160520"/>
            <a:ext cx="27432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2000"/>
              </a:lnSpc>
            </a:pPr>
            <a:r>
              <a:rPr sz="1400" b="1">
                <a:solidFill>
                  <a:srgbClr val="3B1D14"/>
                </a:solidFill>
                <a:latin typeface="Segoe UI"/>
              </a:rPr>
              <a:t>Tại gia đình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4160520"/>
            <a:ext cx="77724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2000"/>
              </a:lnSpc>
            </a:pPr>
            <a:r>
              <a:rPr sz="1200" b="0">
                <a:solidFill>
                  <a:srgbClr val="765548"/>
                </a:solidFill>
                <a:latin typeface="Segoe UI"/>
              </a:rPr>
              <a:t>Thờ cúng tổ tiên (biết ơn sinh thành, dưỡng dục) và thờ cúng Tổ nghề (nhớ ơn người khai sáng nghề).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5029200"/>
            <a:ext cx="11055096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6D6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6928" y="5029200"/>
            <a:ext cx="45720" cy="777240"/>
          </a:xfrm>
          <a:prstGeom prst="rect">
            <a:avLst/>
          </a:prstGeom>
          <a:solidFill>
            <a:srgbClr val="7655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5029200"/>
            <a:ext cx="27432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2000"/>
              </a:lnSpc>
            </a:pPr>
            <a:r>
              <a:rPr sz="1400" b="1">
                <a:solidFill>
                  <a:srgbClr val="3B1D14"/>
                </a:solidFill>
                <a:latin typeface="Segoe UI"/>
              </a:rPr>
              <a:t>Chung một ý nghĩa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5029200"/>
            <a:ext cx="77724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2000"/>
              </a:lnSpc>
            </a:pPr>
            <a:r>
              <a:rPr sz="1200" b="0">
                <a:solidFill>
                  <a:srgbClr val="765548"/>
                </a:solidFill>
                <a:latin typeface="Segoe UI"/>
              </a:rPr>
              <a:t>Nghi lễ phong phú, đa dạng nhưng cùng giáo dục lòng biết ơn, gắn kết cộng đồng, hướng về cội nguồn.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3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8686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250" b="1">
                <a:solidFill>
                  <a:srgbClr val="D9A441"/>
                </a:solidFill>
                <a:latin typeface="Segoe UI"/>
              </a:rPr>
              <a:t>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43584" y="274320"/>
            <a:ext cx="103784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2000"/>
              </a:lnSpc>
            </a:pPr>
            <a:r>
              <a:rPr sz="3000" b="1">
                <a:solidFill>
                  <a:srgbClr val="3B1D14"/>
                </a:solidFill>
                <a:latin typeface="Segoe UI"/>
              </a:rPr>
              <a:t>Kiểm tra nhanh &amp; nhiệm vụ về nhà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61872" y="914400"/>
            <a:ext cx="999439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350" b="0">
                <a:solidFill>
                  <a:srgbClr val="765548"/>
                </a:solidFill>
                <a:latin typeface="Segoe UI"/>
              </a:rPr>
              <a:t>Ba câu hỏi — giơ bảng A, B, C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069848"/>
            <a:ext cx="566928" cy="36576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54480"/>
            <a:ext cx="6858000" cy="987552"/>
          </a:xfrm>
          <a:prstGeom prst="rect">
            <a:avLst/>
          </a:prstGeom>
          <a:solidFill>
            <a:srgbClr val="FFFFFF"/>
          </a:solidFill>
          <a:ln w="9525">
            <a:solidFill>
              <a:srgbClr val="E6D6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554480"/>
            <a:ext cx="45720" cy="987552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459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250" b="1">
                <a:solidFill>
                  <a:srgbClr val="3B1D14"/>
                </a:solidFill>
                <a:latin typeface="Segoe UI"/>
              </a:rPr>
              <a:t>Câu 1. Theo truyền thống, mỗi làng có mấy ngôi đình?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05740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150" b="0">
                <a:solidFill>
                  <a:srgbClr val="765548"/>
                </a:solidFill>
                <a:latin typeface="Segoe UI"/>
              </a:rPr>
              <a:t>A. Một     B. Hai     C. Nhiều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651760"/>
            <a:ext cx="6858000" cy="987552"/>
          </a:xfrm>
          <a:prstGeom prst="rect">
            <a:avLst/>
          </a:prstGeom>
          <a:solidFill>
            <a:srgbClr val="FFFFFF"/>
          </a:solidFill>
          <a:ln w="9525">
            <a:solidFill>
              <a:srgbClr val="E6D6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2651760"/>
            <a:ext cx="45720" cy="987552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74320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250" b="1">
                <a:solidFill>
                  <a:srgbClr val="3B1D14"/>
                </a:solidFill>
                <a:latin typeface="Segoe UI"/>
              </a:rPr>
              <a:t>Câu 2. Lễ cầu an lớn nhất trong năm của đình gọi là gì?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15468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150" b="0">
                <a:solidFill>
                  <a:srgbClr val="765548"/>
                </a:solidFill>
                <a:latin typeface="Segoe UI"/>
              </a:rPr>
              <a:t>A. Lễ Vu lan     B. Lễ Kỳ yên     C. Lễ Thanh minh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3749039"/>
            <a:ext cx="6858000" cy="987552"/>
          </a:xfrm>
          <a:prstGeom prst="rect">
            <a:avLst/>
          </a:prstGeom>
          <a:solidFill>
            <a:srgbClr val="FFFFFF"/>
          </a:solidFill>
          <a:ln w="9525">
            <a:solidFill>
              <a:srgbClr val="E6D6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3749039"/>
            <a:ext cx="45720" cy="987552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840479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250" b="1">
                <a:solidFill>
                  <a:srgbClr val="3B1D14"/>
                </a:solidFill>
                <a:latin typeface="Segoe UI"/>
              </a:rPr>
              <a:t>Câu 3. Ở TP.HCM, miếu nào có số lượng nhiều nhất?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251959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150" b="0">
                <a:solidFill>
                  <a:srgbClr val="765548"/>
                </a:solidFill>
                <a:latin typeface="Segoe UI"/>
              </a:rPr>
              <a:t>A. Miếu Ngũ Hành Nương Nương     B. Miếu Sơn thần     C. Miếu Hà Bá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80960" y="1554480"/>
            <a:ext cx="3941063" cy="3182112"/>
          </a:xfrm>
          <a:prstGeom prst="rect">
            <a:avLst/>
          </a:prstGeom>
          <a:solidFill>
            <a:srgbClr val="FFFFFF"/>
          </a:solidFill>
          <a:ln w="9525">
            <a:solidFill>
              <a:srgbClr val="E6D6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680960" y="1554480"/>
            <a:ext cx="45720" cy="3182112"/>
          </a:xfrm>
          <a:prstGeom prst="rect">
            <a:avLst/>
          </a:prstGeom>
          <a:solidFill>
            <a:srgbClr val="A04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36992" y="1737360"/>
            <a:ext cx="3483863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950" b="1">
                <a:solidFill>
                  <a:srgbClr val="A0432F"/>
                </a:solidFill>
                <a:latin typeface="Segoe UI"/>
              </a:rPr>
              <a:t>VỀ NHÀ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36992" y="1993391"/>
            <a:ext cx="3483863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500" b="1">
                <a:solidFill>
                  <a:srgbClr val="3B1D14"/>
                </a:solidFill>
                <a:latin typeface="Segoe UI"/>
              </a:rPr>
              <a:t>Một việc làm biết ơn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36992" y="2377439"/>
            <a:ext cx="3483863" cy="22494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200" b="0">
                <a:solidFill>
                  <a:srgbClr val="765548"/>
                </a:solidFill>
                <a:latin typeface="Segoe UI"/>
              </a:rPr>
              <a:t>Hỏi cha mẹ, ông bà về ngày giỗ và cách cúng trong gia đình; viết 5–7 câu về một người đi trước mà em biết ơn và một việc em sẽ làm để tri ân.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5212080"/>
            <a:ext cx="11055096" cy="566928"/>
          </a:xfrm>
          <a:prstGeom prst="rect">
            <a:avLst/>
          </a:prstGeom>
          <a:solidFill>
            <a:srgbClr val="F3E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5212080"/>
            <a:ext cx="14630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2000"/>
              </a:lnSpc>
            </a:pPr>
            <a:r>
              <a:rPr sz="1050" b="1">
                <a:solidFill>
                  <a:srgbClr val="8A5A12"/>
                </a:solidFill>
                <a:latin typeface="Segoe UI"/>
              </a:rPr>
              <a:t>NHẮC LẠI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94560" y="5212080"/>
            <a:ext cx="92354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2000"/>
              </a:lnSpc>
            </a:pPr>
            <a:r>
              <a:rPr sz="1150" b="0">
                <a:solidFill>
                  <a:srgbClr val="3B1D14"/>
                </a:solidFill>
                <a:latin typeface="Segoe UI"/>
              </a:rPr>
              <a:t>Nhắc lại: “Uống nước nhớ nguồn” — biết ơn không chỉ nói mà còn phải làm.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